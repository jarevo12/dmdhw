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4.xml" ContentType="application/vnd.openxmlformats-officedocument.theme+xml"/>
  <Override PartName="/ppt/tags/tag38.xml" ContentType="application/vnd.openxmlformats-officedocument.presentationml.tags+xml"/>
  <Override PartName="/ppt/tags/tag39.xml" ContentType="application/vnd.openxmlformats-officedocument.presentationml.tags+xml"/>
  <Override PartName="/ppt/notesSlides/notesSlide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2.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4.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5.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6.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7.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8.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9.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10.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11.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12.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13.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14.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Lst>
  <p:notesMasterIdLst>
    <p:notesMasterId r:id="rId19"/>
  </p:notesMasterIdLst>
  <p:sldIdLst>
    <p:sldId id="256" r:id="rId4"/>
    <p:sldId id="257" r:id="rId5"/>
    <p:sldId id="258" r:id="rId6"/>
    <p:sldId id="259" r:id="rId7"/>
    <p:sldId id="260" r:id="rId8"/>
    <p:sldId id="278" r:id="rId9"/>
    <p:sldId id="262" r:id="rId10"/>
    <p:sldId id="263" r:id="rId11"/>
    <p:sldId id="272" r:id="rId12"/>
    <p:sldId id="279" r:id="rId13"/>
    <p:sldId id="265" r:id="rId14"/>
    <p:sldId id="264" r:id="rId15"/>
    <p:sldId id="266" r:id="rId16"/>
    <p:sldId id="277" r:id="rId17"/>
    <p:sldId id="280" r:id="rId18"/>
  </p:sldIdLst>
  <p:sldSz cx="12192000" cy="6858000"/>
  <p:notesSz cx="6858000" cy="91440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8BFA"/>
    <a:srgbClr val="CC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42" autoAdjust="0"/>
    <p:restoredTop sz="94026" autoAdjust="0"/>
  </p:normalViewPr>
  <p:slideViewPr>
    <p:cSldViewPr snapToGrid="0" snapToObjects="1">
      <p:cViewPr varScale="1">
        <p:scale>
          <a:sx n="67" d="100"/>
          <a:sy n="67" d="100"/>
        </p:scale>
        <p:origin x="732" y="39"/>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82C3FF04-8252-4070-A625-E0170E52650D}" type="datetimeFigureOut">
              <a:rPr lang="en-US" smtClean="0"/>
              <a:pPr/>
              <a:t>15-Jan-26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AF6FB3E2-707E-46F0-8A0F-B310BBE09766}" type="slidenum">
              <a:rPr lang="en-US" smtClean="0"/>
              <a:pPr/>
              <a:t>‹#›</a:t>
            </a:fld>
            <a:endParaRPr lang="en-US" dirty="0"/>
          </a:p>
        </p:txBody>
      </p:sp>
    </p:spTree>
    <p:extLst>
      <p:ext uri="{BB962C8B-B14F-4D97-AF65-F5344CB8AC3E}">
        <p14:creationId xmlns:p14="http://schemas.microsoft.com/office/powerpoint/2010/main" val="1984733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1</a:t>
            </a:fld>
            <a:endParaRPr lang="en-US" dirty="0"/>
          </a:p>
        </p:txBody>
      </p:sp>
    </p:spTree>
    <p:extLst>
      <p:ext uri="{BB962C8B-B14F-4D97-AF65-F5344CB8AC3E}">
        <p14:creationId xmlns:p14="http://schemas.microsoft.com/office/powerpoint/2010/main" val="653193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2</a:t>
            </a:fld>
            <a:endParaRPr lang="en-US" dirty="0"/>
          </a:p>
        </p:txBody>
      </p:sp>
    </p:spTree>
    <p:extLst>
      <p:ext uri="{BB962C8B-B14F-4D97-AF65-F5344CB8AC3E}">
        <p14:creationId xmlns:p14="http://schemas.microsoft.com/office/powerpoint/2010/main" val="2449317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3</a:t>
            </a:fld>
            <a:endParaRPr lang="en-US" dirty="0"/>
          </a:p>
        </p:txBody>
      </p:sp>
    </p:spTree>
    <p:extLst>
      <p:ext uri="{BB962C8B-B14F-4D97-AF65-F5344CB8AC3E}">
        <p14:creationId xmlns:p14="http://schemas.microsoft.com/office/powerpoint/2010/main" val="2299682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4</a:t>
            </a:fld>
            <a:endParaRPr lang="en-US" dirty="0"/>
          </a:p>
        </p:txBody>
      </p:sp>
    </p:spTree>
    <p:extLst>
      <p:ext uri="{BB962C8B-B14F-4D97-AF65-F5344CB8AC3E}">
        <p14:creationId xmlns:p14="http://schemas.microsoft.com/office/powerpoint/2010/main" val="4242588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5</a:t>
            </a:fld>
            <a:endParaRPr lang="en-US" dirty="0"/>
          </a:p>
        </p:txBody>
      </p:sp>
    </p:spTree>
    <p:extLst>
      <p:ext uri="{BB962C8B-B14F-4D97-AF65-F5344CB8AC3E}">
        <p14:creationId xmlns:p14="http://schemas.microsoft.com/office/powerpoint/2010/main" val="1509098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4AA06-7926-8FF3-62D1-3C0310318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835B7-E853-67FE-BE55-9077D1E6326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378825D-F294-2505-5E02-290B5CAD3F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DC84C6-8D57-9267-5B6B-AE4BCEE71C06}"/>
              </a:ext>
            </a:extLst>
          </p:cNvPr>
          <p:cNvSpPr>
            <a:spLocks noGrp="1"/>
          </p:cNvSpPr>
          <p:nvPr>
            <p:ph type="sldNum" sz="quarter" idx="5"/>
          </p:nvPr>
        </p:nvSpPr>
        <p:spPr/>
        <p:txBody>
          <a:bodyPr/>
          <a:lstStyle/>
          <a:p>
            <a:fld id="{AF6FB3E2-707E-46F0-8A0F-B310BBE09766}" type="slidenum">
              <a:rPr lang="en-US" smtClean="0"/>
              <a:pPr/>
              <a:t>6</a:t>
            </a:fld>
            <a:endParaRPr lang="en-US" dirty="0"/>
          </a:p>
        </p:txBody>
      </p:sp>
    </p:spTree>
    <p:extLst>
      <p:ext uri="{BB962C8B-B14F-4D97-AF65-F5344CB8AC3E}">
        <p14:creationId xmlns:p14="http://schemas.microsoft.com/office/powerpoint/2010/main" val="973182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7</a:t>
            </a:fld>
            <a:endParaRPr lang="en-US" dirty="0"/>
          </a:p>
        </p:txBody>
      </p:sp>
    </p:spTree>
    <p:extLst>
      <p:ext uri="{BB962C8B-B14F-4D97-AF65-F5344CB8AC3E}">
        <p14:creationId xmlns:p14="http://schemas.microsoft.com/office/powerpoint/2010/main" val="210436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8</a:t>
            </a:fld>
            <a:endParaRPr lang="en-US" dirty="0"/>
          </a:p>
        </p:txBody>
      </p:sp>
    </p:spTree>
    <p:extLst>
      <p:ext uri="{BB962C8B-B14F-4D97-AF65-F5344CB8AC3E}">
        <p14:creationId xmlns:p14="http://schemas.microsoft.com/office/powerpoint/2010/main" val="1918048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9</a:t>
            </a:fld>
            <a:endParaRPr lang="en-US" dirty="0"/>
          </a:p>
        </p:txBody>
      </p:sp>
    </p:spTree>
    <p:extLst>
      <p:ext uri="{BB962C8B-B14F-4D97-AF65-F5344CB8AC3E}">
        <p14:creationId xmlns:p14="http://schemas.microsoft.com/office/powerpoint/2010/main" val="3950407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E498-4CBB-5443-8CA7-174290209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6AA51-1F2F-1B6B-ED18-5BDEB5028C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AF01E7-DB64-1EEA-495E-F78E66D68E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830F7B-012C-8E19-A33D-0AC133274A58}"/>
              </a:ext>
            </a:extLst>
          </p:cNvPr>
          <p:cNvSpPr>
            <a:spLocks noGrp="1"/>
          </p:cNvSpPr>
          <p:nvPr>
            <p:ph type="sldNum" sz="quarter" idx="5"/>
          </p:nvPr>
        </p:nvSpPr>
        <p:spPr/>
        <p:txBody>
          <a:bodyPr/>
          <a:lstStyle/>
          <a:p>
            <a:fld id="{AF6FB3E2-707E-46F0-8A0F-B310BBE09766}" type="slidenum">
              <a:rPr lang="en-US" smtClean="0"/>
              <a:pPr/>
              <a:t>10</a:t>
            </a:fld>
            <a:endParaRPr lang="en-US" dirty="0"/>
          </a:p>
        </p:txBody>
      </p:sp>
    </p:spTree>
    <p:extLst>
      <p:ext uri="{BB962C8B-B14F-4D97-AF65-F5344CB8AC3E}">
        <p14:creationId xmlns:p14="http://schemas.microsoft.com/office/powerpoint/2010/main" val="2650290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11</a:t>
            </a:fld>
            <a:endParaRPr lang="en-US" dirty="0"/>
          </a:p>
        </p:txBody>
      </p:sp>
    </p:spTree>
    <p:extLst>
      <p:ext uri="{BB962C8B-B14F-4D97-AF65-F5344CB8AC3E}">
        <p14:creationId xmlns:p14="http://schemas.microsoft.com/office/powerpoint/2010/main" val="1801210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12</a:t>
            </a:fld>
            <a:endParaRPr lang="en-US" dirty="0"/>
          </a:p>
        </p:txBody>
      </p:sp>
    </p:spTree>
    <p:extLst>
      <p:ext uri="{BB962C8B-B14F-4D97-AF65-F5344CB8AC3E}">
        <p14:creationId xmlns:p14="http://schemas.microsoft.com/office/powerpoint/2010/main" val="582873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13</a:t>
            </a:fld>
            <a:endParaRPr lang="en-US" dirty="0"/>
          </a:p>
        </p:txBody>
      </p:sp>
    </p:spTree>
    <p:extLst>
      <p:ext uri="{BB962C8B-B14F-4D97-AF65-F5344CB8AC3E}">
        <p14:creationId xmlns:p14="http://schemas.microsoft.com/office/powerpoint/2010/main" val="2453899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6FB3E2-707E-46F0-8A0F-B310BBE09766}" type="slidenum">
              <a:rPr lang="en-US" smtClean="0"/>
              <a:pPr/>
              <a:t>14</a:t>
            </a:fld>
            <a:endParaRPr lang="en-US" dirty="0"/>
          </a:p>
        </p:txBody>
      </p:sp>
    </p:spTree>
    <p:extLst>
      <p:ext uri="{BB962C8B-B14F-4D97-AF65-F5344CB8AC3E}">
        <p14:creationId xmlns:p14="http://schemas.microsoft.com/office/powerpoint/2010/main" val="2355025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3C5E5-2F61-1298-806D-4495BAABF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6678F-E0D0-2C03-1075-B7A25A8E80C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F1B3F7-8787-F4E5-2772-29B9057506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2FA3E0-32EB-AFB9-F648-F66C1BB57416}"/>
              </a:ext>
            </a:extLst>
          </p:cNvPr>
          <p:cNvSpPr>
            <a:spLocks noGrp="1"/>
          </p:cNvSpPr>
          <p:nvPr>
            <p:ph type="sldNum" sz="quarter" idx="5"/>
          </p:nvPr>
        </p:nvSpPr>
        <p:spPr/>
        <p:txBody>
          <a:bodyPr/>
          <a:lstStyle/>
          <a:p>
            <a:fld id="{AF6FB3E2-707E-46F0-8A0F-B310BBE09766}" type="slidenum">
              <a:rPr lang="en-US" smtClean="0"/>
              <a:pPr/>
              <a:t>15</a:t>
            </a:fld>
            <a:endParaRPr lang="en-US" dirty="0"/>
          </a:p>
        </p:txBody>
      </p:sp>
    </p:spTree>
    <p:extLst>
      <p:ext uri="{BB962C8B-B14F-4D97-AF65-F5344CB8AC3E}">
        <p14:creationId xmlns:p14="http://schemas.microsoft.com/office/powerpoint/2010/main" val="34523130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27.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28.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29.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30.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31.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764A92A-D185-8EA7-72BC-A8ED5CBCC9CF}"/>
              </a:ext>
            </a:extLst>
          </p:cNvPr>
          <p:cNvGraphicFramePr>
            <a:graphicFrameLocks noChangeAspect="1"/>
          </p:cNvGraphicFramePr>
          <p:nvPr userDrawn="1">
            <p:custDataLst>
              <p:tags r:id="rId1"/>
            </p:custDataLst>
            <p:extLst>
              <p:ext uri="{D42A27DB-BD31-4B8C-83A1-F6EECF244321}">
                <p14:modId xmlns:p14="http://schemas.microsoft.com/office/powerpoint/2010/main" val="5030197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685800" y="2130425"/>
            <a:ext cx="7772400" cy="1470025"/>
          </a:xfrm>
        </p:spPr>
        <p:txBody>
          <a:bodyPr vert="horz"/>
          <a:lstStyle>
            <a:lvl1pPr rtl="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rtl="0">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062B9C5-2DEB-05C6-2080-4ADE4ED9EB23}"/>
              </a:ext>
            </a:extLst>
          </p:cNvPr>
          <p:cNvGraphicFramePr>
            <a:graphicFrameLocks noChangeAspect="1"/>
          </p:cNvGraphicFramePr>
          <p:nvPr userDrawn="1">
            <p:custDataLst>
              <p:tags r:id="rId1"/>
            </p:custDataLst>
            <p:extLst>
              <p:ext uri="{D42A27DB-BD31-4B8C-83A1-F6EECF244321}">
                <p14:modId xmlns:p14="http://schemas.microsoft.com/office/powerpoint/2010/main" val="723840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Content Placeholder 2"/>
          <p:cNvSpPr>
            <a:spLocks noGrp="1"/>
          </p:cNvSpPr>
          <p:nvPr>
            <p:ph idx="1"/>
          </p:nvPr>
        </p:nvSpPr>
        <p:spPr/>
        <p:txBody>
          <a:bodyPr/>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D0C77C3-F17D-C92A-70E7-227AF6227DF1}"/>
              </a:ext>
            </a:extLst>
          </p:cNvPr>
          <p:cNvGraphicFramePr>
            <a:graphicFrameLocks noChangeAspect="1"/>
          </p:cNvGraphicFramePr>
          <p:nvPr userDrawn="1">
            <p:custDataLst>
              <p:tags r:id="rId1"/>
            </p:custDataLst>
            <p:extLst>
              <p:ext uri="{D42A27DB-BD31-4B8C-83A1-F6EECF244321}">
                <p14:modId xmlns:p14="http://schemas.microsoft.com/office/powerpoint/2010/main" val="203335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722313" y="4406900"/>
            <a:ext cx="7772400" cy="1362075"/>
          </a:xfrm>
        </p:spPr>
        <p:txBody>
          <a:bodyPr vert="horz" anchor="t"/>
          <a:lstStyle>
            <a:lvl1pPr algn="l" rtl="0">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rtl="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01D1A2E-7472-6019-BEBD-7CDD92ACFBB0}"/>
              </a:ext>
            </a:extLst>
          </p:cNvPr>
          <p:cNvGraphicFramePr>
            <a:graphicFrameLocks noChangeAspect="1"/>
          </p:cNvGraphicFramePr>
          <p:nvPr userDrawn="1">
            <p:custDataLst>
              <p:tags r:id="rId1"/>
            </p:custDataLst>
            <p:extLst>
              <p:ext uri="{D42A27DB-BD31-4B8C-83A1-F6EECF244321}">
                <p14:modId xmlns:p14="http://schemas.microsoft.com/office/powerpoint/2010/main" val="2218795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rtl="0">
              <a:defRPr sz="2800"/>
            </a:lvl1pPr>
            <a:lvl2pPr rtl="0">
              <a:defRPr sz="2400"/>
            </a:lvl2pPr>
            <a:lvl3pPr rtl="0">
              <a:defRPr sz="2000"/>
            </a:lvl3pPr>
            <a:lvl4pPr rtl="0">
              <a:defRPr sz="1800"/>
            </a:lvl4pPr>
            <a:lvl5pPr rtl="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rtl="0">
              <a:defRPr sz="2800"/>
            </a:lvl1pPr>
            <a:lvl2pPr rtl="0">
              <a:defRPr sz="2400"/>
            </a:lvl2pPr>
            <a:lvl3pPr rtl="0">
              <a:defRPr sz="2000"/>
            </a:lvl3pPr>
            <a:lvl4pPr rtl="0">
              <a:defRPr sz="1800"/>
            </a:lvl4pPr>
            <a:lvl5pPr rtl="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6" name="Footer Placeholder 5"/>
          <p:cNvSpPr>
            <a:spLocks noGrp="1"/>
          </p:cNvSpPr>
          <p:nvPr>
            <p:ph type="ftr" sz="quarter" idx="11"/>
          </p:nvPr>
        </p:nvSpPr>
        <p:spPr/>
        <p:txBody>
          <a:bodyPr/>
          <a:lstStyle>
            <a:lvl1pPr rtl="0">
              <a:defRPr/>
            </a:lvl1pPr>
          </a:lstStyle>
          <a:p>
            <a:endParaRPr lang="en-US" dirty="0"/>
          </a:p>
        </p:txBody>
      </p:sp>
      <p:sp>
        <p:nvSpPr>
          <p:cNvPr id="7" name="Slide Number Placeholder 6"/>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37B9BD2F-3768-F0C8-191A-D2180C1E61DE}"/>
              </a:ext>
            </a:extLst>
          </p:cNvPr>
          <p:cNvGraphicFramePr>
            <a:graphicFrameLocks noChangeAspect="1"/>
          </p:cNvGraphicFramePr>
          <p:nvPr userDrawn="1">
            <p:custDataLst>
              <p:tags r:id="rId1"/>
            </p:custDataLst>
            <p:extLst>
              <p:ext uri="{D42A27DB-BD31-4B8C-83A1-F6EECF244321}">
                <p14:modId xmlns:p14="http://schemas.microsoft.com/office/powerpoint/2010/main" val="19560119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rtl="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rtl="0">
              <a:defRPr sz="2400"/>
            </a:lvl1pPr>
            <a:lvl2pPr rtl="0">
              <a:defRPr sz="2000"/>
            </a:lvl2pPr>
            <a:lvl3pPr rtl="0">
              <a:defRPr sz="1800"/>
            </a:lvl3pPr>
            <a:lvl4pPr rtl="0">
              <a:defRPr sz="1600"/>
            </a:lvl4pPr>
            <a:lvl5pPr rtl="0">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rtl="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rtl="0">
              <a:defRPr sz="2400"/>
            </a:lvl1pPr>
            <a:lvl2pPr rtl="0">
              <a:defRPr sz="2000"/>
            </a:lvl2pPr>
            <a:lvl3pPr rtl="0">
              <a:defRPr sz="1800"/>
            </a:lvl3pPr>
            <a:lvl4pPr rtl="0">
              <a:defRPr sz="1600"/>
            </a:lvl4pPr>
            <a:lvl5pPr rtl="0">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8" name="Footer Placeholder 7"/>
          <p:cNvSpPr>
            <a:spLocks noGrp="1"/>
          </p:cNvSpPr>
          <p:nvPr>
            <p:ph type="ftr" sz="quarter" idx="11"/>
          </p:nvPr>
        </p:nvSpPr>
        <p:spPr/>
        <p:txBody>
          <a:bodyPr/>
          <a:lstStyle>
            <a:lvl1pPr rtl="0">
              <a:defRPr/>
            </a:lvl1pPr>
          </a:lstStyle>
          <a:p>
            <a:endParaRPr lang="en-US" dirty="0"/>
          </a:p>
        </p:txBody>
      </p:sp>
      <p:sp>
        <p:nvSpPr>
          <p:cNvPr id="9" name="Slide Number Placeholder 8"/>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4BBC0C3-095F-70D8-BBB8-41EE5BB1DEA8}"/>
              </a:ext>
            </a:extLst>
          </p:cNvPr>
          <p:cNvGraphicFramePr>
            <a:graphicFrameLocks noChangeAspect="1"/>
          </p:cNvGraphicFramePr>
          <p:nvPr userDrawn="1">
            <p:custDataLst>
              <p:tags r:id="rId1"/>
            </p:custDataLst>
            <p:extLst>
              <p:ext uri="{D42A27DB-BD31-4B8C-83A1-F6EECF244321}">
                <p14:modId xmlns:p14="http://schemas.microsoft.com/office/powerpoint/2010/main" val="413776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Date Placeholder 2"/>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4" name="Footer Placeholder 3"/>
          <p:cNvSpPr>
            <a:spLocks noGrp="1"/>
          </p:cNvSpPr>
          <p:nvPr>
            <p:ph type="ftr" sz="quarter" idx="11"/>
          </p:nvPr>
        </p:nvSpPr>
        <p:spPr/>
        <p:txBody>
          <a:bodyPr/>
          <a:lstStyle>
            <a:lvl1pPr rtl="0">
              <a:defRPr/>
            </a:lvl1pPr>
          </a:lstStyle>
          <a:p>
            <a:endParaRPr lang="en-US" dirty="0"/>
          </a:p>
        </p:txBody>
      </p:sp>
      <p:sp>
        <p:nvSpPr>
          <p:cNvPr id="5" name="Slide Number Placeholder 4"/>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50ADA44-C79F-7881-8657-8BB0A8447ECF}"/>
              </a:ext>
            </a:extLst>
          </p:cNvPr>
          <p:cNvGraphicFramePr>
            <a:graphicFrameLocks noChangeAspect="1"/>
          </p:cNvGraphicFramePr>
          <p:nvPr userDrawn="1">
            <p:custDataLst>
              <p:tags r:id="rId1"/>
            </p:custDataLst>
            <p:extLst>
              <p:ext uri="{D42A27DB-BD31-4B8C-83A1-F6EECF244321}">
                <p14:modId xmlns:p14="http://schemas.microsoft.com/office/powerpoint/2010/main" val="9136952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3" name="Footer Placeholder 2"/>
          <p:cNvSpPr>
            <a:spLocks noGrp="1"/>
          </p:cNvSpPr>
          <p:nvPr>
            <p:ph type="ftr" sz="quarter" idx="11"/>
          </p:nvPr>
        </p:nvSpPr>
        <p:spPr/>
        <p:txBody>
          <a:bodyPr/>
          <a:lstStyle>
            <a:lvl1pPr rtl="0">
              <a:defRPr/>
            </a:lvl1pPr>
          </a:lstStyle>
          <a:p>
            <a:endParaRPr lang="en-US" dirty="0"/>
          </a:p>
        </p:txBody>
      </p:sp>
      <p:sp>
        <p:nvSpPr>
          <p:cNvPr id="4" name="Slide Number Placeholder 3"/>
          <p:cNvSpPr>
            <a:spLocks noGrp="1"/>
          </p:cNvSpPr>
          <p:nvPr>
            <p:ph type="sldNum" sz="quarter" idx="12"/>
          </p:nvPr>
        </p:nvSpPr>
        <p:spPr>
          <a:xfrm>
            <a:off x="9747662" y="6356350"/>
            <a:ext cx="2133600" cy="365125"/>
          </a:xfrm>
        </p:spPr>
        <p:txBody>
          <a:bodyPr/>
          <a:lstStyle>
            <a:lvl1pPr rtl="0">
              <a:defRPr>
                <a:solidFill>
                  <a:schemeClr val="bg1"/>
                </a:solidFill>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65690EA9-9E98-477F-7819-B26EC39663F3}"/>
              </a:ext>
            </a:extLst>
          </p:cNvPr>
          <p:cNvGraphicFramePr>
            <a:graphicFrameLocks noChangeAspect="1"/>
          </p:cNvGraphicFramePr>
          <p:nvPr userDrawn="1">
            <p:custDataLst>
              <p:tags r:id="rId1"/>
            </p:custDataLst>
            <p:extLst>
              <p:ext uri="{D42A27DB-BD31-4B8C-83A1-F6EECF244321}">
                <p14:modId xmlns:p14="http://schemas.microsoft.com/office/powerpoint/2010/main" val="4278963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457200" y="273050"/>
            <a:ext cx="3008313" cy="1162050"/>
          </a:xfrm>
        </p:spPr>
        <p:txBody>
          <a:bodyPr vert="horz" anchor="b"/>
          <a:lstStyle>
            <a:lvl1pPr algn="l" rtl="0">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rtl="0">
              <a:defRPr sz="3200"/>
            </a:lvl1pPr>
            <a:lvl2pPr rtl="0">
              <a:defRPr sz="2800"/>
            </a:lvl2pPr>
            <a:lvl3pPr rtl="0">
              <a:defRPr sz="2400"/>
            </a:lvl3pPr>
            <a:lvl4pPr rtl="0">
              <a:defRPr sz="2000"/>
            </a:lvl4pPr>
            <a:lvl5pPr rtl="0">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rtl="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6" name="Footer Placeholder 5"/>
          <p:cNvSpPr>
            <a:spLocks noGrp="1"/>
          </p:cNvSpPr>
          <p:nvPr>
            <p:ph type="ftr" sz="quarter" idx="11"/>
          </p:nvPr>
        </p:nvSpPr>
        <p:spPr/>
        <p:txBody>
          <a:bodyPr/>
          <a:lstStyle>
            <a:lvl1pPr rtl="0">
              <a:defRPr/>
            </a:lvl1pPr>
          </a:lstStyle>
          <a:p>
            <a:endParaRPr lang="en-US" dirty="0"/>
          </a:p>
        </p:txBody>
      </p:sp>
      <p:sp>
        <p:nvSpPr>
          <p:cNvPr id="7" name="Slide Number Placeholder 6"/>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BBEFA49-C0F6-4AA7-056A-A634BAD8CE63}"/>
              </a:ext>
            </a:extLst>
          </p:cNvPr>
          <p:cNvGraphicFramePr>
            <a:graphicFrameLocks noChangeAspect="1"/>
          </p:cNvGraphicFramePr>
          <p:nvPr userDrawn="1">
            <p:custDataLst>
              <p:tags r:id="rId1"/>
            </p:custDataLst>
            <p:extLst>
              <p:ext uri="{D42A27DB-BD31-4B8C-83A1-F6EECF244321}">
                <p14:modId xmlns:p14="http://schemas.microsoft.com/office/powerpoint/2010/main" val="3479886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1792288" y="4800600"/>
            <a:ext cx="5486400" cy="566738"/>
          </a:xfrm>
        </p:spPr>
        <p:txBody>
          <a:bodyPr vert="horz" anchor="b"/>
          <a:lstStyle>
            <a:lvl1pPr algn="l" rtl="0">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rtl="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6" name="Footer Placeholder 5"/>
          <p:cNvSpPr>
            <a:spLocks noGrp="1"/>
          </p:cNvSpPr>
          <p:nvPr>
            <p:ph type="ftr" sz="quarter" idx="11"/>
          </p:nvPr>
        </p:nvSpPr>
        <p:spPr/>
        <p:txBody>
          <a:bodyPr/>
          <a:lstStyle>
            <a:lvl1pPr rtl="0">
              <a:defRPr/>
            </a:lvl1pPr>
          </a:lstStyle>
          <a:p>
            <a:endParaRPr lang="en-US" dirty="0"/>
          </a:p>
        </p:txBody>
      </p:sp>
      <p:sp>
        <p:nvSpPr>
          <p:cNvPr id="7" name="Slide Number Placeholder 6"/>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A425D11-2FAF-8362-3D8A-8838FD815AD9}"/>
              </a:ext>
            </a:extLst>
          </p:cNvPr>
          <p:cNvGraphicFramePr>
            <a:graphicFrameLocks noChangeAspect="1"/>
          </p:cNvGraphicFramePr>
          <p:nvPr userDrawn="1">
            <p:custDataLst>
              <p:tags r:id="rId1"/>
            </p:custDataLst>
            <p:extLst>
              <p:ext uri="{D42A27DB-BD31-4B8C-83A1-F6EECF244321}">
                <p14:modId xmlns:p14="http://schemas.microsoft.com/office/powerpoint/2010/main" val="257503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E92CA36-E178-988B-790E-BB4C95DB83F7}"/>
              </a:ext>
            </a:extLst>
          </p:cNvPr>
          <p:cNvGraphicFramePr>
            <a:graphicFrameLocks noChangeAspect="1"/>
          </p:cNvGraphicFramePr>
          <p:nvPr userDrawn="1">
            <p:custDataLst>
              <p:tags r:id="rId1"/>
            </p:custDataLst>
            <p:extLst>
              <p:ext uri="{D42A27DB-BD31-4B8C-83A1-F6EECF244321}">
                <p14:modId xmlns:p14="http://schemas.microsoft.com/office/powerpoint/2010/main" val="35516765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Vertical Title 1"/>
          <p:cNvSpPr>
            <a:spLocks noGrp="1"/>
          </p:cNvSpPr>
          <p:nvPr>
            <p:ph type="title" orient="vert"/>
          </p:nvPr>
        </p:nvSpPr>
        <p:spPr>
          <a:xfrm>
            <a:off x="6629400" y="274638"/>
            <a:ext cx="2057400" cy="5851525"/>
          </a:xfrm>
        </p:spPr>
        <p:txBody>
          <a:bodyPr vert="eaVert"/>
          <a:lstStyle>
            <a:lvl1pPr rtl="0">
              <a:defRPr/>
            </a:lvl1pPr>
          </a:lstStyle>
          <a:p>
            <a:r>
              <a:rPr lang="en-US" dirty="0"/>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E437632-5F9F-1CE0-60CD-EA6E855FEAC7}"/>
              </a:ext>
            </a:extLst>
          </p:cNvPr>
          <p:cNvGraphicFramePr>
            <a:graphicFrameLocks noChangeAspect="1"/>
          </p:cNvGraphicFramePr>
          <p:nvPr userDrawn="1">
            <p:custDataLst>
              <p:tags r:id="rId1"/>
            </p:custDataLst>
            <p:extLst>
              <p:ext uri="{D42A27DB-BD31-4B8C-83A1-F6EECF244321}">
                <p14:modId xmlns:p14="http://schemas.microsoft.com/office/powerpoint/2010/main" val="38602509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685800" y="2130425"/>
            <a:ext cx="7772400" cy="1470025"/>
          </a:xfrm>
        </p:spPr>
        <p:txBody>
          <a:bodyPr vert="horz"/>
          <a:lstStyle>
            <a:lvl1pPr rtl="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rtl="0">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224344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0412F4D-49DD-742E-22AE-ABFEE4041B79}"/>
              </a:ext>
            </a:extLst>
          </p:cNvPr>
          <p:cNvGraphicFramePr>
            <a:graphicFrameLocks noChangeAspect="1"/>
          </p:cNvGraphicFramePr>
          <p:nvPr userDrawn="1">
            <p:custDataLst>
              <p:tags r:id="rId1"/>
            </p:custDataLst>
            <p:extLst>
              <p:ext uri="{D42A27DB-BD31-4B8C-83A1-F6EECF244321}">
                <p14:modId xmlns:p14="http://schemas.microsoft.com/office/powerpoint/2010/main" val="1247856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Content Placeholder 2"/>
          <p:cNvSpPr>
            <a:spLocks noGrp="1"/>
          </p:cNvSpPr>
          <p:nvPr>
            <p:ph idx="1"/>
          </p:nvPr>
        </p:nvSpPr>
        <p:spPr/>
        <p:txBody>
          <a:bodyPr/>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497330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CB55268-0371-50EE-A9E5-F469005F22C2}"/>
              </a:ext>
            </a:extLst>
          </p:cNvPr>
          <p:cNvGraphicFramePr>
            <a:graphicFrameLocks noChangeAspect="1"/>
          </p:cNvGraphicFramePr>
          <p:nvPr userDrawn="1">
            <p:custDataLst>
              <p:tags r:id="rId1"/>
            </p:custDataLst>
            <p:extLst>
              <p:ext uri="{D42A27DB-BD31-4B8C-83A1-F6EECF244321}">
                <p14:modId xmlns:p14="http://schemas.microsoft.com/office/powerpoint/2010/main" val="28371214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722313" y="4406900"/>
            <a:ext cx="7772400" cy="1362075"/>
          </a:xfrm>
        </p:spPr>
        <p:txBody>
          <a:bodyPr vert="horz" anchor="t"/>
          <a:lstStyle>
            <a:lvl1pPr algn="l" rtl="0">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rtl="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3632436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64FB6E55-6992-6825-74D8-954D18A26F4A}"/>
              </a:ext>
            </a:extLst>
          </p:cNvPr>
          <p:cNvGraphicFramePr>
            <a:graphicFrameLocks noChangeAspect="1"/>
          </p:cNvGraphicFramePr>
          <p:nvPr userDrawn="1">
            <p:custDataLst>
              <p:tags r:id="rId1"/>
            </p:custDataLst>
            <p:extLst>
              <p:ext uri="{D42A27DB-BD31-4B8C-83A1-F6EECF244321}">
                <p14:modId xmlns:p14="http://schemas.microsoft.com/office/powerpoint/2010/main" val="526499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rtl="0">
              <a:defRPr sz="2800"/>
            </a:lvl1pPr>
            <a:lvl2pPr rtl="0">
              <a:defRPr sz="2400"/>
            </a:lvl2pPr>
            <a:lvl3pPr rtl="0">
              <a:defRPr sz="2000"/>
            </a:lvl3pPr>
            <a:lvl4pPr rtl="0">
              <a:defRPr sz="1800"/>
            </a:lvl4pPr>
            <a:lvl5pPr rtl="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rtl="0">
              <a:defRPr sz="2800"/>
            </a:lvl1pPr>
            <a:lvl2pPr rtl="0">
              <a:defRPr sz="2400"/>
            </a:lvl2pPr>
            <a:lvl3pPr rtl="0">
              <a:defRPr sz="2000"/>
            </a:lvl3pPr>
            <a:lvl4pPr rtl="0">
              <a:defRPr sz="1800"/>
            </a:lvl4pPr>
            <a:lvl5pPr rtl="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6" name="Footer Placeholder 5"/>
          <p:cNvSpPr>
            <a:spLocks noGrp="1"/>
          </p:cNvSpPr>
          <p:nvPr>
            <p:ph type="ftr" sz="quarter" idx="11"/>
          </p:nvPr>
        </p:nvSpPr>
        <p:spPr/>
        <p:txBody>
          <a:bodyPr/>
          <a:lstStyle>
            <a:lvl1pPr rtl="0">
              <a:defRPr/>
            </a:lvl1pPr>
          </a:lstStyle>
          <a:p>
            <a:endParaRPr lang="en-US" dirty="0"/>
          </a:p>
        </p:txBody>
      </p:sp>
      <p:sp>
        <p:nvSpPr>
          <p:cNvPr id="7" name="Slide Number Placeholder 6"/>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04210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0B6103AC-1D79-7F2A-B153-14D6579ECB83}"/>
              </a:ext>
            </a:extLst>
          </p:cNvPr>
          <p:cNvGraphicFramePr>
            <a:graphicFrameLocks noChangeAspect="1"/>
          </p:cNvGraphicFramePr>
          <p:nvPr userDrawn="1">
            <p:custDataLst>
              <p:tags r:id="rId1"/>
            </p:custDataLst>
            <p:extLst>
              <p:ext uri="{D42A27DB-BD31-4B8C-83A1-F6EECF244321}">
                <p14:modId xmlns:p14="http://schemas.microsoft.com/office/powerpoint/2010/main" val="12206419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rtl="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rtl="0">
              <a:defRPr sz="2400"/>
            </a:lvl1pPr>
            <a:lvl2pPr rtl="0">
              <a:defRPr sz="2000"/>
            </a:lvl2pPr>
            <a:lvl3pPr rtl="0">
              <a:defRPr sz="1800"/>
            </a:lvl3pPr>
            <a:lvl4pPr rtl="0">
              <a:defRPr sz="1600"/>
            </a:lvl4pPr>
            <a:lvl5pPr rtl="0">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rtl="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rtl="0">
              <a:defRPr sz="2400"/>
            </a:lvl1pPr>
            <a:lvl2pPr rtl="0">
              <a:defRPr sz="2000"/>
            </a:lvl2pPr>
            <a:lvl3pPr rtl="0">
              <a:defRPr sz="1800"/>
            </a:lvl3pPr>
            <a:lvl4pPr rtl="0">
              <a:defRPr sz="1600"/>
            </a:lvl4pPr>
            <a:lvl5pPr rtl="0">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8" name="Footer Placeholder 7"/>
          <p:cNvSpPr>
            <a:spLocks noGrp="1"/>
          </p:cNvSpPr>
          <p:nvPr>
            <p:ph type="ftr" sz="quarter" idx="11"/>
          </p:nvPr>
        </p:nvSpPr>
        <p:spPr/>
        <p:txBody>
          <a:bodyPr/>
          <a:lstStyle>
            <a:lvl1pPr rtl="0">
              <a:defRPr/>
            </a:lvl1pPr>
          </a:lstStyle>
          <a:p>
            <a:endParaRPr lang="en-US" dirty="0"/>
          </a:p>
        </p:txBody>
      </p:sp>
      <p:sp>
        <p:nvSpPr>
          <p:cNvPr id="9" name="Slide Number Placeholder 8"/>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593968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776EE78-4129-EF96-D33C-D34C4C2CADF1}"/>
              </a:ext>
            </a:extLst>
          </p:cNvPr>
          <p:cNvGraphicFramePr>
            <a:graphicFrameLocks noChangeAspect="1"/>
          </p:cNvGraphicFramePr>
          <p:nvPr userDrawn="1">
            <p:custDataLst>
              <p:tags r:id="rId1"/>
            </p:custDataLst>
            <p:extLst>
              <p:ext uri="{D42A27DB-BD31-4B8C-83A1-F6EECF244321}">
                <p14:modId xmlns:p14="http://schemas.microsoft.com/office/powerpoint/2010/main" val="942220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Date Placeholder 2"/>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4" name="Footer Placeholder 3"/>
          <p:cNvSpPr>
            <a:spLocks noGrp="1"/>
          </p:cNvSpPr>
          <p:nvPr>
            <p:ph type="ftr" sz="quarter" idx="11"/>
          </p:nvPr>
        </p:nvSpPr>
        <p:spPr/>
        <p:txBody>
          <a:bodyPr/>
          <a:lstStyle>
            <a:lvl1pPr rtl="0">
              <a:defRPr/>
            </a:lvl1pPr>
          </a:lstStyle>
          <a:p>
            <a:endParaRPr lang="en-US" dirty="0"/>
          </a:p>
        </p:txBody>
      </p:sp>
      <p:sp>
        <p:nvSpPr>
          <p:cNvPr id="5" name="Slide Number Placeholder 4"/>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6996294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0B83046-64C4-0319-7294-8A2CA538FBA5}"/>
              </a:ext>
            </a:extLst>
          </p:cNvPr>
          <p:cNvGraphicFramePr>
            <a:graphicFrameLocks noChangeAspect="1"/>
          </p:cNvGraphicFramePr>
          <p:nvPr userDrawn="1">
            <p:custDataLst>
              <p:tags r:id="rId1"/>
            </p:custDataLst>
            <p:extLst>
              <p:ext uri="{D42A27DB-BD31-4B8C-83A1-F6EECF244321}">
                <p14:modId xmlns:p14="http://schemas.microsoft.com/office/powerpoint/2010/main" val="8640143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3" name="Footer Placeholder 2"/>
          <p:cNvSpPr>
            <a:spLocks noGrp="1"/>
          </p:cNvSpPr>
          <p:nvPr>
            <p:ph type="ftr" sz="quarter" idx="11"/>
          </p:nvPr>
        </p:nvSpPr>
        <p:spPr/>
        <p:txBody>
          <a:bodyPr/>
          <a:lstStyle>
            <a:lvl1pPr rtl="0">
              <a:defRPr/>
            </a:lvl1pPr>
          </a:lstStyle>
          <a:p>
            <a:endParaRPr lang="en-US" dirty="0"/>
          </a:p>
        </p:txBody>
      </p:sp>
      <p:sp>
        <p:nvSpPr>
          <p:cNvPr id="4" name="Slide Number Placeholder 3"/>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4462227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FAA4807-B528-4B23-2215-58431132F471}"/>
              </a:ext>
            </a:extLst>
          </p:cNvPr>
          <p:cNvGraphicFramePr>
            <a:graphicFrameLocks noChangeAspect="1"/>
          </p:cNvGraphicFramePr>
          <p:nvPr userDrawn="1">
            <p:custDataLst>
              <p:tags r:id="rId1"/>
            </p:custDataLst>
            <p:extLst>
              <p:ext uri="{D42A27DB-BD31-4B8C-83A1-F6EECF244321}">
                <p14:modId xmlns:p14="http://schemas.microsoft.com/office/powerpoint/2010/main" val="2632499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457200" y="273050"/>
            <a:ext cx="3008313" cy="1162050"/>
          </a:xfrm>
        </p:spPr>
        <p:txBody>
          <a:bodyPr vert="horz" anchor="b"/>
          <a:lstStyle>
            <a:lvl1pPr algn="l" rtl="0">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rtl="0">
              <a:defRPr sz="3200"/>
            </a:lvl1pPr>
            <a:lvl2pPr rtl="0">
              <a:defRPr sz="2800"/>
            </a:lvl2pPr>
            <a:lvl3pPr rtl="0">
              <a:defRPr sz="2400"/>
            </a:lvl3pPr>
            <a:lvl4pPr rtl="0">
              <a:defRPr sz="2000"/>
            </a:lvl4pPr>
            <a:lvl5pPr rtl="0">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rtl="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6" name="Footer Placeholder 5"/>
          <p:cNvSpPr>
            <a:spLocks noGrp="1"/>
          </p:cNvSpPr>
          <p:nvPr>
            <p:ph type="ftr" sz="quarter" idx="11"/>
          </p:nvPr>
        </p:nvSpPr>
        <p:spPr/>
        <p:txBody>
          <a:bodyPr/>
          <a:lstStyle>
            <a:lvl1pPr rtl="0">
              <a:defRPr/>
            </a:lvl1pPr>
          </a:lstStyle>
          <a:p>
            <a:endParaRPr lang="en-US" dirty="0"/>
          </a:p>
        </p:txBody>
      </p:sp>
      <p:sp>
        <p:nvSpPr>
          <p:cNvPr id="7" name="Slide Number Placeholder 6"/>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9454189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B39A3000-3A12-957F-BD80-6BB68BD11295}"/>
              </a:ext>
            </a:extLst>
          </p:cNvPr>
          <p:cNvGraphicFramePr>
            <a:graphicFrameLocks noChangeAspect="1"/>
          </p:cNvGraphicFramePr>
          <p:nvPr userDrawn="1">
            <p:custDataLst>
              <p:tags r:id="rId1"/>
            </p:custDataLst>
            <p:extLst>
              <p:ext uri="{D42A27DB-BD31-4B8C-83A1-F6EECF244321}">
                <p14:modId xmlns:p14="http://schemas.microsoft.com/office/powerpoint/2010/main" val="3881315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1792288" y="4800600"/>
            <a:ext cx="5486400" cy="566738"/>
          </a:xfrm>
        </p:spPr>
        <p:txBody>
          <a:bodyPr vert="horz" anchor="b"/>
          <a:lstStyle>
            <a:lvl1pPr algn="l" rtl="0">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rtl="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6" name="Footer Placeholder 5"/>
          <p:cNvSpPr>
            <a:spLocks noGrp="1"/>
          </p:cNvSpPr>
          <p:nvPr>
            <p:ph type="ftr" sz="quarter" idx="11"/>
          </p:nvPr>
        </p:nvSpPr>
        <p:spPr/>
        <p:txBody>
          <a:bodyPr/>
          <a:lstStyle>
            <a:lvl1pPr rtl="0">
              <a:defRPr/>
            </a:lvl1pPr>
          </a:lstStyle>
          <a:p>
            <a:endParaRPr lang="en-US" dirty="0"/>
          </a:p>
        </p:txBody>
      </p:sp>
      <p:sp>
        <p:nvSpPr>
          <p:cNvPr id="7" name="Slide Number Placeholder 6"/>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5811450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023EC947-9FDF-8C8A-EDDC-E287EF0C180C}"/>
              </a:ext>
            </a:extLst>
          </p:cNvPr>
          <p:cNvGraphicFramePr>
            <a:graphicFrameLocks noChangeAspect="1"/>
          </p:cNvGraphicFramePr>
          <p:nvPr userDrawn="1">
            <p:custDataLst>
              <p:tags r:id="rId1"/>
            </p:custDataLst>
            <p:extLst>
              <p:ext uri="{D42A27DB-BD31-4B8C-83A1-F6EECF244321}">
                <p14:modId xmlns:p14="http://schemas.microsoft.com/office/powerpoint/2010/main" val="25026969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7756436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32BDF16-655A-F451-7BFE-6BED21C2EFED}"/>
              </a:ext>
            </a:extLst>
          </p:cNvPr>
          <p:cNvGraphicFramePr>
            <a:graphicFrameLocks noChangeAspect="1"/>
          </p:cNvGraphicFramePr>
          <p:nvPr userDrawn="1">
            <p:custDataLst>
              <p:tags r:id="rId1"/>
            </p:custDataLst>
            <p:extLst>
              <p:ext uri="{D42A27DB-BD31-4B8C-83A1-F6EECF244321}">
                <p14:modId xmlns:p14="http://schemas.microsoft.com/office/powerpoint/2010/main" val="9603735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Vertical Title 1"/>
          <p:cNvSpPr>
            <a:spLocks noGrp="1"/>
          </p:cNvSpPr>
          <p:nvPr>
            <p:ph type="title" orient="vert"/>
          </p:nvPr>
        </p:nvSpPr>
        <p:spPr>
          <a:xfrm>
            <a:off x="6629400" y="274638"/>
            <a:ext cx="2057400" cy="5851525"/>
          </a:xfrm>
        </p:spPr>
        <p:txBody>
          <a:bodyPr vert="eaVert"/>
          <a:lstStyle>
            <a:lvl1pPr rtl="0">
              <a:defRPr/>
            </a:lvl1pPr>
          </a:lstStyle>
          <a:p>
            <a:r>
              <a:rPr lang="en-US" dirty="0"/>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7994112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4A3356B-8A69-266C-E315-98E43CBE8548}"/>
              </a:ext>
            </a:extLst>
          </p:cNvPr>
          <p:cNvGraphicFramePr>
            <a:graphicFrameLocks noChangeAspect="1"/>
          </p:cNvGraphicFramePr>
          <p:nvPr userDrawn="1">
            <p:custDataLst>
              <p:tags r:id="rId1"/>
            </p:custDataLst>
            <p:extLst>
              <p:ext uri="{D42A27DB-BD31-4B8C-83A1-F6EECF244321}">
                <p14:modId xmlns:p14="http://schemas.microsoft.com/office/powerpoint/2010/main" val="33309851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685800" y="2130425"/>
            <a:ext cx="7772400" cy="1470025"/>
          </a:xfrm>
        </p:spPr>
        <p:txBody>
          <a:bodyPr vert="horz"/>
          <a:lstStyle>
            <a:lvl1pPr rtl="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rtl="0">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33249000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7EF45E1-B192-DAF4-AFCD-CBE629F14150}"/>
              </a:ext>
            </a:extLst>
          </p:cNvPr>
          <p:cNvGraphicFramePr>
            <a:graphicFrameLocks noChangeAspect="1"/>
          </p:cNvGraphicFramePr>
          <p:nvPr userDrawn="1">
            <p:custDataLst>
              <p:tags r:id="rId1"/>
            </p:custDataLst>
            <p:extLst>
              <p:ext uri="{D42A27DB-BD31-4B8C-83A1-F6EECF244321}">
                <p14:modId xmlns:p14="http://schemas.microsoft.com/office/powerpoint/2010/main" val="27297614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Content Placeholder 2"/>
          <p:cNvSpPr>
            <a:spLocks noGrp="1"/>
          </p:cNvSpPr>
          <p:nvPr>
            <p:ph idx="1"/>
          </p:nvPr>
        </p:nvSpPr>
        <p:spPr/>
        <p:txBody>
          <a:bodyPr/>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96332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248877F-8335-01F4-A8CE-6E21E4A5B894}"/>
              </a:ext>
            </a:extLst>
          </p:cNvPr>
          <p:cNvGraphicFramePr>
            <a:graphicFrameLocks noChangeAspect="1"/>
          </p:cNvGraphicFramePr>
          <p:nvPr userDrawn="1">
            <p:custDataLst>
              <p:tags r:id="rId1"/>
            </p:custDataLst>
            <p:extLst>
              <p:ext uri="{D42A27DB-BD31-4B8C-83A1-F6EECF244321}">
                <p14:modId xmlns:p14="http://schemas.microsoft.com/office/powerpoint/2010/main" val="3676275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722313" y="4406900"/>
            <a:ext cx="7772400" cy="1362075"/>
          </a:xfrm>
        </p:spPr>
        <p:txBody>
          <a:bodyPr vert="horz" anchor="t"/>
          <a:lstStyle>
            <a:lvl1pPr algn="l" rtl="0">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rtl="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34395685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18E06FA-1A35-7160-0164-E623C7B4F839}"/>
              </a:ext>
            </a:extLst>
          </p:cNvPr>
          <p:cNvGraphicFramePr>
            <a:graphicFrameLocks noChangeAspect="1"/>
          </p:cNvGraphicFramePr>
          <p:nvPr userDrawn="1">
            <p:custDataLst>
              <p:tags r:id="rId1"/>
            </p:custDataLst>
            <p:extLst>
              <p:ext uri="{D42A27DB-BD31-4B8C-83A1-F6EECF244321}">
                <p14:modId xmlns:p14="http://schemas.microsoft.com/office/powerpoint/2010/main" val="19044803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rtl="0">
              <a:defRPr sz="2800"/>
            </a:lvl1pPr>
            <a:lvl2pPr rtl="0">
              <a:defRPr sz="2400"/>
            </a:lvl2pPr>
            <a:lvl3pPr rtl="0">
              <a:defRPr sz="2000"/>
            </a:lvl3pPr>
            <a:lvl4pPr rtl="0">
              <a:defRPr sz="1800"/>
            </a:lvl4pPr>
            <a:lvl5pPr rtl="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rtl="0">
              <a:defRPr sz="2800"/>
            </a:lvl1pPr>
            <a:lvl2pPr rtl="0">
              <a:defRPr sz="2400"/>
            </a:lvl2pPr>
            <a:lvl3pPr rtl="0">
              <a:defRPr sz="2000"/>
            </a:lvl3pPr>
            <a:lvl4pPr rtl="0">
              <a:defRPr sz="1800"/>
            </a:lvl4pPr>
            <a:lvl5pPr rtl="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6" name="Footer Placeholder 5"/>
          <p:cNvSpPr>
            <a:spLocks noGrp="1"/>
          </p:cNvSpPr>
          <p:nvPr>
            <p:ph type="ftr" sz="quarter" idx="11"/>
          </p:nvPr>
        </p:nvSpPr>
        <p:spPr/>
        <p:txBody>
          <a:bodyPr/>
          <a:lstStyle>
            <a:lvl1pPr rtl="0">
              <a:defRPr/>
            </a:lvl1pPr>
          </a:lstStyle>
          <a:p>
            <a:endParaRPr lang="en-US" dirty="0"/>
          </a:p>
        </p:txBody>
      </p:sp>
      <p:sp>
        <p:nvSpPr>
          <p:cNvPr id="7" name="Slide Number Placeholder 6"/>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7001877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D8B9BCCA-1345-7C40-44B7-11EFE940D5F0}"/>
              </a:ext>
            </a:extLst>
          </p:cNvPr>
          <p:cNvGraphicFramePr>
            <a:graphicFrameLocks noChangeAspect="1"/>
          </p:cNvGraphicFramePr>
          <p:nvPr userDrawn="1">
            <p:custDataLst>
              <p:tags r:id="rId1"/>
            </p:custDataLst>
            <p:extLst>
              <p:ext uri="{D42A27DB-BD31-4B8C-83A1-F6EECF244321}">
                <p14:modId xmlns:p14="http://schemas.microsoft.com/office/powerpoint/2010/main" val="31529159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rtl="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rtl="0">
              <a:defRPr sz="2400"/>
            </a:lvl1pPr>
            <a:lvl2pPr rtl="0">
              <a:defRPr sz="2000"/>
            </a:lvl2pPr>
            <a:lvl3pPr rtl="0">
              <a:defRPr sz="1800"/>
            </a:lvl3pPr>
            <a:lvl4pPr rtl="0">
              <a:defRPr sz="1600"/>
            </a:lvl4pPr>
            <a:lvl5pPr rtl="0">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rtl="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rtl="0">
              <a:defRPr sz="2400"/>
            </a:lvl1pPr>
            <a:lvl2pPr rtl="0">
              <a:defRPr sz="2000"/>
            </a:lvl2pPr>
            <a:lvl3pPr rtl="0">
              <a:defRPr sz="1800"/>
            </a:lvl3pPr>
            <a:lvl4pPr rtl="0">
              <a:defRPr sz="1600"/>
            </a:lvl4pPr>
            <a:lvl5pPr rtl="0">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8" name="Footer Placeholder 7"/>
          <p:cNvSpPr>
            <a:spLocks noGrp="1"/>
          </p:cNvSpPr>
          <p:nvPr>
            <p:ph type="ftr" sz="quarter" idx="11"/>
          </p:nvPr>
        </p:nvSpPr>
        <p:spPr/>
        <p:txBody>
          <a:bodyPr/>
          <a:lstStyle>
            <a:lvl1pPr rtl="0">
              <a:defRPr/>
            </a:lvl1pPr>
          </a:lstStyle>
          <a:p>
            <a:endParaRPr lang="en-US" dirty="0"/>
          </a:p>
        </p:txBody>
      </p:sp>
      <p:sp>
        <p:nvSpPr>
          <p:cNvPr id="9" name="Slide Number Placeholder 8"/>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855817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E6600BE-2BD5-A10A-9C10-69B0DFC396C0}"/>
              </a:ext>
            </a:extLst>
          </p:cNvPr>
          <p:cNvGraphicFramePr>
            <a:graphicFrameLocks noChangeAspect="1"/>
          </p:cNvGraphicFramePr>
          <p:nvPr userDrawn="1">
            <p:custDataLst>
              <p:tags r:id="rId1"/>
            </p:custDataLst>
            <p:extLst>
              <p:ext uri="{D42A27DB-BD31-4B8C-83A1-F6EECF244321}">
                <p14:modId xmlns:p14="http://schemas.microsoft.com/office/powerpoint/2010/main" val="73079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Date Placeholder 2"/>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4" name="Footer Placeholder 3"/>
          <p:cNvSpPr>
            <a:spLocks noGrp="1"/>
          </p:cNvSpPr>
          <p:nvPr>
            <p:ph type="ftr" sz="quarter" idx="11"/>
          </p:nvPr>
        </p:nvSpPr>
        <p:spPr/>
        <p:txBody>
          <a:bodyPr/>
          <a:lstStyle>
            <a:lvl1pPr rtl="0">
              <a:defRPr/>
            </a:lvl1pPr>
          </a:lstStyle>
          <a:p>
            <a:endParaRPr lang="en-US" dirty="0"/>
          </a:p>
        </p:txBody>
      </p:sp>
      <p:sp>
        <p:nvSpPr>
          <p:cNvPr id="5" name="Slide Number Placeholder 4"/>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7378264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E0D5CE0-281C-7273-2C44-DD752C8FD1AB}"/>
              </a:ext>
            </a:extLst>
          </p:cNvPr>
          <p:cNvGraphicFramePr>
            <a:graphicFrameLocks noChangeAspect="1"/>
          </p:cNvGraphicFramePr>
          <p:nvPr userDrawn="1">
            <p:custDataLst>
              <p:tags r:id="rId1"/>
            </p:custDataLst>
            <p:extLst>
              <p:ext uri="{D42A27DB-BD31-4B8C-83A1-F6EECF244321}">
                <p14:modId xmlns:p14="http://schemas.microsoft.com/office/powerpoint/2010/main" val="34330620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3" name="Footer Placeholder 2"/>
          <p:cNvSpPr>
            <a:spLocks noGrp="1"/>
          </p:cNvSpPr>
          <p:nvPr>
            <p:ph type="ftr" sz="quarter" idx="11"/>
          </p:nvPr>
        </p:nvSpPr>
        <p:spPr/>
        <p:txBody>
          <a:bodyPr/>
          <a:lstStyle>
            <a:lvl1pPr rtl="0">
              <a:defRPr/>
            </a:lvl1pPr>
          </a:lstStyle>
          <a:p>
            <a:endParaRPr lang="en-US" dirty="0"/>
          </a:p>
        </p:txBody>
      </p:sp>
      <p:sp>
        <p:nvSpPr>
          <p:cNvPr id="4" name="Slide Number Placeholder 3"/>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40054567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CF67818-06ED-8820-C820-ECBE576C6EA9}"/>
              </a:ext>
            </a:extLst>
          </p:cNvPr>
          <p:cNvGraphicFramePr>
            <a:graphicFrameLocks noChangeAspect="1"/>
          </p:cNvGraphicFramePr>
          <p:nvPr userDrawn="1">
            <p:custDataLst>
              <p:tags r:id="rId1"/>
            </p:custDataLst>
            <p:extLst>
              <p:ext uri="{D42A27DB-BD31-4B8C-83A1-F6EECF244321}">
                <p14:modId xmlns:p14="http://schemas.microsoft.com/office/powerpoint/2010/main" val="13695325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457200" y="273050"/>
            <a:ext cx="3008313" cy="1162050"/>
          </a:xfrm>
        </p:spPr>
        <p:txBody>
          <a:bodyPr vert="horz" anchor="b"/>
          <a:lstStyle>
            <a:lvl1pPr algn="l" rtl="0">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rtl="0">
              <a:defRPr sz="3200"/>
            </a:lvl1pPr>
            <a:lvl2pPr rtl="0">
              <a:defRPr sz="2800"/>
            </a:lvl2pPr>
            <a:lvl3pPr rtl="0">
              <a:defRPr sz="2400"/>
            </a:lvl3pPr>
            <a:lvl4pPr rtl="0">
              <a:defRPr sz="2000"/>
            </a:lvl4pPr>
            <a:lvl5pPr rtl="0">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rtl="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6" name="Footer Placeholder 5"/>
          <p:cNvSpPr>
            <a:spLocks noGrp="1"/>
          </p:cNvSpPr>
          <p:nvPr>
            <p:ph type="ftr" sz="quarter" idx="11"/>
          </p:nvPr>
        </p:nvSpPr>
        <p:spPr/>
        <p:txBody>
          <a:bodyPr/>
          <a:lstStyle>
            <a:lvl1pPr rtl="0">
              <a:defRPr/>
            </a:lvl1pPr>
          </a:lstStyle>
          <a:p>
            <a:endParaRPr lang="en-US" dirty="0"/>
          </a:p>
        </p:txBody>
      </p:sp>
      <p:sp>
        <p:nvSpPr>
          <p:cNvPr id="7" name="Slide Number Placeholder 6"/>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598797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DB8FEAD-2D15-5EA5-1D6B-3164AEDE831E}"/>
              </a:ext>
            </a:extLst>
          </p:cNvPr>
          <p:cNvGraphicFramePr>
            <a:graphicFrameLocks noChangeAspect="1"/>
          </p:cNvGraphicFramePr>
          <p:nvPr userDrawn="1">
            <p:custDataLst>
              <p:tags r:id="rId1"/>
            </p:custDataLst>
            <p:extLst>
              <p:ext uri="{D42A27DB-BD31-4B8C-83A1-F6EECF244321}">
                <p14:modId xmlns:p14="http://schemas.microsoft.com/office/powerpoint/2010/main" val="2561187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1792288" y="4800600"/>
            <a:ext cx="5486400" cy="566738"/>
          </a:xfrm>
        </p:spPr>
        <p:txBody>
          <a:bodyPr vert="horz" anchor="b"/>
          <a:lstStyle>
            <a:lvl1pPr algn="l" rtl="0">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rtl="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6" name="Footer Placeholder 5"/>
          <p:cNvSpPr>
            <a:spLocks noGrp="1"/>
          </p:cNvSpPr>
          <p:nvPr>
            <p:ph type="ftr" sz="quarter" idx="11"/>
          </p:nvPr>
        </p:nvSpPr>
        <p:spPr/>
        <p:txBody>
          <a:bodyPr/>
          <a:lstStyle>
            <a:lvl1pPr rtl="0">
              <a:defRPr/>
            </a:lvl1pPr>
          </a:lstStyle>
          <a:p>
            <a:endParaRPr lang="en-US" dirty="0"/>
          </a:p>
        </p:txBody>
      </p:sp>
      <p:sp>
        <p:nvSpPr>
          <p:cNvPr id="7" name="Slide Number Placeholder 6"/>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686145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BB9CC36-B837-8770-64FC-43749FBF310F}"/>
              </a:ext>
            </a:extLst>
          </p:cNvPr>
          <p:cNvGraphicFramePr>
            <a:graphicFrameLocks noChangeAspect="1"/>
          </p:cNvGraphicFramePr>
          <p:nvPr userDrawn="1">
            <p:custDataLst>
              <p:tags r:id="rId1"/>
            </p:custDataLst>
            <p:extLst>
              <p:ext uri="{D42A27DB-BD31-4B8C-83A1-F6EECF244321}">
                <p14:modId xmlns:p14="http://schemas.microsoft.com/office/powerpoint/2010/main" val="29077411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rtl="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3160654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A6898C5-22DB-3EA9-3751-855EEBD9FF9B}"/>
              </a:ext>
            </a:extLst>
          </p:cNvPr>
          <p:cNvGraphicFramePr>
            <a:graphicFrameLocks noChangeAspect="1"/>
          </p:cNvGraphicFramePr>
          <p:nvPr userDrawn="1">
            <p:custDataLst>
              <p:tags r:id="rId1"/>
            </p:custDataLst>
            <p:extLst>
              <p:ext uri="{D42A27DB-BD31-4B8C-83A1-F6EECF244321}">
                <p14:modId xmlns:p14="http://schemas.microsoft.com/office/powerpoint/2010/main" val="19726966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Vertical Title 1"/>
          <p:cNvSpPr>
            <a:spLocks noGrp="1"/>
          </p:cNvSpPr>
          <p:nvPr>
            <p:ph type="title" orient="vert"/>
          </p:nvPr>
        </p:nvSpPr>
        <p:spPr>
          <a:xfrm>
            <a:off x="6629400" y="274638"/>
            <a:ext cx="2057400" cy="5851525"/>
          </a:xfrm>
        </p:spPr>
        <p:txBody>
          <a:bodyPr vert="eaVert"/>
          <a:lstStyle>
            <a:lvl1pPr rtl="0">
              <a:defRPr/>
            </a:lvl1pPr>
          </a:lstStyle>
          <a:p>
            <a:r>
              <a:rPr lang="en-US" dirty="0"/>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0">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11"/>
          </p:nvPr>
        </p:nvSpPr>
        <p:spPr/>
        <p:txBody>
          <a:bodyPr/>
          <a:lstStyle>
            <a:lvl1pPr rtl="0">
              <a:defRPr/>
            </a:lvl1pPr>
          </a:lstStyle>
          <a:p>
            <a:endParaRPr lang="en-US" dirty="0"/>
          </a:p>
        </p:txBody>
      </p:sp>
      <p:sp>
        <p:nvSpPr>
          <p:cNvPr id="6" name="Slide Number Placeholder 5"/>
          <p:cNvSpPr>
            <a:spLocks noGrp="1"/>
          </p:cNvSpPr>
          <p:nvPr>
            <p:ph type="sldNum" sz="quarter" idx="12"/>
          </p:nvPr>
        </p:nvSpPr>
        <p:spPr/>
        <p:txBody>
          <a:bodyPr/>
          <a:lstStyle>
            <a:lvl1pPr rtl="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578836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1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emf"/><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oleObject" Target="../embeddings/oleObject9.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ags" Target="../tags/tag26.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1.emf"/><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oleObject" Target="../embeddings/oleObject17.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78515B7D-3C16-8C9C-81F5-85D839D8F493}"/>
              </a:ext>
            </a:extLst>
          </p:cNvPr>
          <p:cNvGraphicFramePr>
            <a:graphicFrameLocks noChangeAspect="1"/>
          </p:cNvGraphicFramePr>
          <p:nvPr userDrawn="1">
            <p:custDataLst>
              <p:tags r:id="rId13"/>
            </p:custDataLst>
            <p:extLst>
              <p:ext uri="{D42A27DB-BD31-4B8C-83A1-F6EECF244321}">
                <p14:modId xmlns:p14="http://schemas.microsoft.com/office/powerpoint/2010/main" val="22646755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04" imgH="405" progId="TCLayout.ActiveDocument.1">
                  <p:embed/>
                </p:oleObj>
              </mc:Choice>
              <mc:Fallback>
                <p:oleObj name="think-cell Slide" r:id="rId14" imgW="404" imgH="405" progId="TCLayout.ActiveDocument.1">
                  <p:embed/>
                  <p:pic>
                    <p:nvPicPr>
                      <p:cNvPr id="0" name=""/>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rtl="0">
              <a:defRPr sz="1200">
                <a:solidFill>
                  <a:schemeClr val="tx1">
                    <a:tint val="75000"/>
                  </a:schemeClr>
                </a:solidFill>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rtl="0">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rtl="0">
              <a:defRPr sz="1200">
                <a:solidFill>
                  <a:schemeClr val="tx1">
                    <a:tint val="75000"/>
                  </a:schemeClr>
                </a:solidFill>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632119-E7A9-E7AA-C413-6BB96F73E1CC}"/>
              </a:ext>
            </a:extLst>
          </p:cNvPr>
          <p:cNvGraphicFramePr>
            <a:graphicFrameLocks noChangeAspect="1"/>
          </p:cNvGraphicFramePr>
          <p:nvPr userDrawn="1">
            <p:custDataLst>
              <p:tags r:id="rId13"/>
            </p:custDataLst>
            <p:extLst>
              <p:ext uri="{D42A27DB-BD31-4B8C-83A1-F6EECF244321}">
                <p14:modId xmlns:p14="http://schemas.microsoft.com/office/powerpoint/2010/main" val="18284812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04" imgH="405" progId="TCLayout.ActiveDocument.1">
                  <p:embed/>
                </p:oleObj>
              </mc:Choice>
              <mc:Fallback>
                <p:oleObj name="think-cell Slide" r:id="rId14" imgW="404" imgH="405" progId="TCLayout.ActiveDocument.1">
                  <p:embed/>
                  <p:pic>
                    <p:nvPicPr>
                      <p:cNvPr id="8" name="think-cell data - do not delete" hidden="1">
                        <a:extLst>
                          <a:ext uri="{FF2B5EF4-FFF2-40B4-BE49-F238E27FC236}">
                            <a16:creationId xmlns:a16="http://schemas.microsoft.com/office/drawing/2014/main" id="{DA632119-E7A9-E7AA-C413-6BB96F73E1CC}"/>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rtl="0">
              <a:defRPr sz="1200">
                <a:solidFill>
                  <a:schemeClr val="tx1">
                    <a:tint val="75000"/>
                  </a:schemeClr>
                </a:solidFill>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rtl="0">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rtl="0">
              <a:defRPr sz="1200">
                <a:solidFill>
                  <a:schemeClr val="tx1">
                    <a:tint val="75000"/>
                  </a:schemeClr>
                </a:solidFill>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9884803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135494B-1D83-BFD6-C46F-CB9781AF9066}"/>
              </a:ext>
            </a:extLst>
          </p:cNvPr>
          <p:cNvGraphicFramePr>
            <a:graphicFrameLocks noChangeAspect="1"/>
          </p:cNvGraphicFramePr>
          <p:nvPr userDrawn="1">
            <p:custDataLst>
              <p:tags r:id="rId13"/>
            </p:custDataLst>
            <p:extLst>
              <p:ext uri="{D42A27DB-BD31-4B8C-83A1-F6EECF244321}">
                <p14:modId xmlns:p14="http://schemas.microsoft.com/office/powerpoint/2010/main" val="25145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04" imgH="405" progId="TCLayout.ActiveDocument.1">
                  <p:embed/>
                </p:oleObj>
              </mc:Choice>
              <mc:Fallback>
                <p:oleObj name="think-cell Slide" r:id="rId14" imgW="404" imgH="405" progId="TCLayout.ActiveDocument.1">
                  <p:embed/>
                  <p:pic>
                    <p:nvPicPr>
                      <p:cNvPr id="0" name=""/>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rtl="0">
              <a:defRPr sz="1200">
                <a:solidFill>
                  <a:schemeClr val="tx1">
                    <a:tint val="75000"/>
                  </a:schemeClr>
                </a:solidFill>
              </a:defRPr>
            </a:lvl1pPr>
          </a:lstStyle>
          <a:p>
            <a:fld id="{5BCAD085-E8A6-8845-BD4E-CB4CCA059FC4}" type="datetimeFigureOut">
              <a:rPr lang="en-US" smtClean="0"/>
              <a:pPr/>
              <a:t>15-Jan-26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rtl="0">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rtl="0">
              <a:defRPr sz="1200">
                <a:solidFill>
                  <a:schemeClr val="tx1">
                    <a:tint val="75000"/>
                  </a:schemeClr>
                </a:solidFill>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2777747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hyperlink" Target="https://axiomforgeapp.com/" TargetMode="Externa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1.emf"/><Relationship Id="rId5" Type="http://schemas.openxmlformats.org/officeDocument/2006/relationships/oleObject" Target="../embeddings/oleObject23.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hyperlink" Target="https://time.com/7271823/why-people-love-morning-routines-social-media/" TargetMode="External"/><Relationship Id="rId3" Type="http://schemas.openxmlformats.org/officeDocument/2006/relationships/slideLayout" Target="../slideLayouts/slideLayout7.xml"/><Relationship Id="rId7" Type="http://schemas.openxmlformats.org/officeDocument/2006/relationships/hyperlink" Target="https://www.theguardian.com/lifeandstyle/2023/feb/19/broadcasting-your-breakfast-why-tiktokers-obsess-over-morning-routines#:~:text='I%20wondered%20if%20someone%20would,came%20new%20opportunities%20for%20influencers" TargetMode="Externa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1.emf"/><Relationship Id="rId5" Type="http://schemas.openxmlformats.org/officeDocument/2006/relationships/oleObject" Target="../embeddings/oleObject24.bin"/><Relationship Id="rId4" Type="http://schemas.openxmlformats.org/officeDocument/2006/relationships/notesSlide" Target="../notesSlides/notesSlide2.xml"/><Relationship Id="rId9" Type="http://schemas.openxmlformats.org/officeDocument/2006/relationships/hyperlink" Target="https://www.bbntimes.com/society/meet-ashton-hall-the-man-behind-the-viral-morning-routine"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plotline.so/blog/retention-rates-mobile-apps-by-industry" TargetMode="External"/><Relationship Id="rId3" Type="http://schemas.openxmlformats.org/officeDocument/2006/relationships/slideLayout" Target="../slideLayouts/slideLayout7.xml"/><Relationship Id="rId7" Type="http://schemas.openxmlformats.org/officeDocument/2006/relationships/hyperlink" Target="https://www.mckinsey.com/industries/consumer-packaged-goods/our-insights/future-of-wellness-trends#/" TargetMode="Externa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1.emf"/><Relationship Id="rId5" Type="http://schemas.openxmlformats.org/officeDocument/2006/relationships/oleObject" Target="../embeddings/oleObject25.bin"/><Relationship Id="rId4" Type="http://schemas.openxmlformats.org/officeDocument/2006/relationships/notesSlide" Target="../notesSlides/notesSlide3.xml"/><Relationship Id="rId9" Type="http://schemas.openxmlformats.org/officeDocument/2006/relationships/hyperlink" Target="https://revistasumma.com/solo-10-de-las-personas-que-intentan-crear-un-habito-alcanzan-su-objetivo/" TargetMode="Externa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emf"/><Relationship Id="rId5" Type="http://schemas.openxmlformats.org/officeDocument/2006/relationships/oleObject" Target="../embeddings/oleObject26.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hyperlink" Target="https://www.globalgrowthinsights.com/market-reports/habit-tracking-app-market-100455" TargetMode="Externa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1.emf"/><Relationship Id="rId5" Type="http://schemas.openxmlformats.org/officeDocument/2006/relationships/oleObject" Target="../embeddings/oleObject27.bin"/><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hyperlink" Target="https://www.globalgrowthinsights.com/market-reports/habit-tracking-app-market-100455" TargetMode="Externa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1.emf"/><Relationship Id="rId5" Type="http://schemas.openxmlformats.org/officeDocument/2006/relationships/oleObject" Target="../embeddings/oleObject28.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1.emf"/><Relationship Id="rId5" Type="http://schemas.openxmlformats.org/officeDocument/2006/relationships/oleObject" Target="../embeddings/oleObject29.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1.emf"/><Relationship Id="rId5" Type="http://schemas.openxmlformats.org/officeDocument/2006/relationships/oleObject" Target="../embeddings/oleObject30.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1.emf"/><Relationship Id="rId5" Type="http://schemas.openxmlformats.org/officeDocument/2006/relationships/oleObject" Target="../embeddings/oleObject31.bin"/><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8.xml"/><Relationship Id="rId7" Type="http://schemas.openxmlformats.org/officeDocument/2006/relationships/hyperlink" Target="https://axiomforgeapp.com/" TargetMode="Externa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1.emf"/><Relationship Id="rId11" Type="http://schemas.openxmlformats.org/officeDocument/2006/relationships/hyperlink" Target="https://drive.google.com/file/d/1tkMF-YSKXZHwsmfXTJw9jke-KswVTHwX/view?usp=sharing" TargetMode="External"/><Relationship Id="rId5" Type="http://schemas.openxmlformats.org/officeDocument/2006/relationships/oleObject" Target="../embeddings/oleObject32.bin"/><Relationship Id="rId10" Type="http://schemas.openxmlformats.org/officeDocument/2006/relationships/image" Target="../media/image3.png"/><Relationship Id="rId4" Type="http://schemas.openxmlformats.org/officeDocument/2006/relationships/notesSlide" Target="../notesSlides/notesSlide10.xml"/><Relationship Id="rId9" Type="http://schemas.openxmlformats.org/officeDocument/2006/relationships/hyperlink" Target="https://drive.google.com/file/d/1tvk_nSQP0S7OZOsYz0SbtykJhotEYvhi/view?usp=sharing"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1.emf"/><Relationship Id="rId5" Type="http://schemas.openxmlformats.org/officeDocument/2006/relationships/oleObject" Target="../embeddings/oleObject33.bin"/><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1.emf"/><Relationship Id="rId5" Type="http://schemas.openxmlformats.org/officeDocument/2006/relationships/oleObject" Target="../embeddings/oleObject34.bin"/><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hyperlink" Target="https://www.linkedin.com/in/javierserranogp/" TargetMode="External"/><Relationship Id="rId13" Type="http://schemas.openxmlformats.org/officeDocument/2006/relationships/image" Target="../media/image9.png"/><Relationship Id="rId3" Type="http://schemas.openxmlformats.org/officeDocument/2006/relationships/slideLayout" Target="../slideLayouts/slideLayout7.xml"/><Relationship Id="rId7" Type="http://schemas.openxmlformats.org/officeDocument/2006/relationships/image" Target="../media/image4.jpeg"/><Relationship Id="rId12" Type="http://schemas.openxmlformats.org/officeDocument/2006/relationships/image" Target="../media/image8.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1.emf"/><Relationship Id="rId11" Type="http://schemas.openxmlformats.org/officeDocument/2006/relationships/image" Target="../media/image7.png"/><Relationship Id="rId5" Type="http://schemas.openxmlformats.org/officeDocument/2006/relationships/oleObject" Target="../embeddings/oleObject35.bin"/><Relationship Id="rId10" Type="http://schemas.openxmlformats.org/officeDocument/2006/relationships/image" Target="../media/image6.png"/><Relationship Id="rId4" Type="http://schemas.openxmlformats.org/officeDocument/2006/relationships/notesSlide" Target="../notesSlides/notesSlide13.xml"/><Relationship Id="rId9" Type="http://schemas.openxmlformats.org/officeDocument/2006/relationships/image" Target="../media/image5.png"/></Relationships>
</file>

<file path=ppt/slides/_rels/slide14.xml.rels><?xml version="1.0" encoding="UTF-8" standalone="yes"?>
<Relationships xmlns="http://schemas.openxmlformats.org/package/2006/relationships"><Relationship Id="rId8" Type="http://schemas.openxmlformats.org/officeDocument/2006/relationships/hyperlink" Target="https://axiomforgeapp.com/" TargetMode="External"/><Relationship Id="rId3" Type="http://schemas.openxmlformats.org/officeDocument/2006/relationships/slideLayout" Target="../slideLayouts/slideLayout29.xml"/><Relationship Id="rId7" Type="http://schemas.openxmlformats.org/officeDocument/2006/relationships/image" Target="../media/image10.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1.emf"/><Relationship Id="rId5" Type="http://schemas.openxmlformats.org/officeDocument/2006/relationships/oleObject" Target="../embeddings/oleObject36.bin"/><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hyperlink" Target="https://axiomforgeapp.com/" TargetMode="Externa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1.emf"/><Relationship Id="rId5" Type="http://schemas.openxmlformats.org/officeDocument/2006/relationships/oleObject" Target="../embeddings/oleObject36.bin"/><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6B3287EE-5CB4-7682-D6C6-F56921992B9D}"/>
              </a:ext>
            </a:extLst>
          </p:cNvPr>
          <p:cNvGraphicFramePr>
            <a:graphicFrameLocks noChangeAspect="1"/>
          </p:cNvGraphicFramePr>
          <p:nvPr>
            <p:custDataLst>
              <p:tags r:id="rId2"/>
            </p:custDataLst>
            <p:extLst>
              <p:ext uri="{D42A27DB-BD31-4B8C-83A1-F6EECF244321}">
                <p14:modId xmlns:p14="http://schemas.microsoft.com/office/powerpoint/2010/main" val="2140419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6" name="Group 5">
            <a:extLst>
              <a:ext uri="{FF2B5EF4-FFF2-40B4-BE49-F238E27FC236}">
                <a16:creationId xmlns:a16="http://schemas.microsoft.com/office/drawing/2014/main" id="{E3B9EB1B-9A6E-3A07-2555-C01EDA8E9423}"/>
              </a:ext>
            </a:extLst>
          </p:cNvPr>
          <p:cNvGrpSpPr/>
          <p:nvPr/>
        </p:nvGrpSpPr>
        <p:grpSpPr>
          <a:xfrm>
            <a:off x="5397355" y="892451"/>
            <a:ext cx="1396984" cy="1396984"/>
            <a:chOff x="5397355" y="892451"/>
            <a:chExt cx="1396984" cy="1396984"/>
          </a:xfrm>
        </p:grpSpPr>
        <p:sp>
          <p:nvSpPr>
            <p:cNvPr id="2" name="Rounded Rectangle 1"/>
            <p:cNvSpPr/>
            <p:nvPr/>
          </p:nvSpPr>
          <p:spPr>
            <a:xfrm>
              <a:off x="5397355" y="892451"/>
              <a:ext cx="1396984" cy="1396984"/>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 name="Rectangle 2"/>
            <p:cNvSpPr/>
            <p:nvPr/>
          </p:nvSpPr>
          <p:spPr>
            <a:xfrm>
              <a:off x="5606903" y="1758580"/>
              <a:ext cx="977889" cy="223517"/>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 name="Rectangle 3">
              <a:hlinkClick r:id="rId7"/>
            </p:cNvPr>
            <p:cNvSpPr/>
            <p:nvPr/>
          </p:nvSpPr>
          <p:spPr>
            <a:xfrm>
              <a:off x="5788510" y="1479183"/>
              <a:ext cx="628643" cy="223517"/>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5970118" y="1199786"/>
              <a:ext cx="251457" cy="223517"/>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8" name="Rectangle 7"/>
          <p:cNvSpPr/>
          <p:nvPr/>
        </p:nvSpPr>
        <p:spPr>
          <a:xfrm>
            <a:off x="2011680" y="4110219"/>
            <a:ext cx="8168335" cy="41148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noProof="0" dirty="0"/>
          </a:p>
        </p:txBody>
      </p:sp>
      <p:grpSp>
        <p:nvGrpSpPr>
          <p:cNvPr id="16" name="Group 15">
            <a:extLst>
              <a:ext uri="{FF2B5EF4-FFF2-40B4-BE49-F238E27FC236}">
                <a16:creationId xmlns:a16="http://schemas.microsoft.com/office/drawing/2014/main" id="{66C016BA-C364-4793-273A-36FE1C6B522D}"/>
              </a:ext>
            </a:extLst>
          </p:cNvPr>
          <p:cNvGrpSpPr/>
          <p:nvPr/>
        </p:nvGrpSpPr>
        <p:grpSpPr>
          <a:xfrm>
            <a:off x="2420001" y="3646958"/>
            <a:ext cx="7351693" cy="914766"/>
            <a:chOff x="2420001" y="3219378"/>
            <a:chExt cx="7351693" cy="914766"/>
          </a:xfrm>
        </p:grpSpPr>
        <p:sp>
          <p:nvSpPr>
            <p:cNvPr id="7" name="TextBox 6"/>
            <p:cNvSpPr txBox="1"/>
            <p:nvPr/>
          </p:nvSpPr>
          <p:spPr>
            <a:xfrm>
              <a:off x="3193450" y="3219378"/>
              <a:ext cx="5804794" cy="461665"/>
            </a:xfrm>
            <a:prstGeom prst="rect">
              <a:avLst/>
            </a:prstGeom>
            <a:noFill/>
          </p:spPr>
          <p:txBody>
            <a:bodyPr wrap="none">
              <a:spAutoFit/>
            </a:bodyPr>
            <a:lstStyle/>
            <a:p>
              <a:pPr algn="ctr"/>
              <a:r>
                <a:rPr lang="en-US" sz="2400" b="0" noProof="0" dirty="0">
                  <a:solidFill>
                    <a:schemeClr val="bg1"/>
                  </a:solidFill>
                  <a:latin typeface="Segoe UI Black" panose="020B0A02040204020203" pitchFamily="34" charset="0"/>
                  <a:ea typeface="Segoe UI Black" panose="020B0A02040204020203" pitchFamily="34" charset="0"/>
                </a:rPr>
                <a:t>PRINCIPLES TURNED INTO PRACTICE</a:t>
              </a:r>
            </a:p>
          </p:txBody>
        </p:sp>
        <p:sp>
          <p:nvSpPr>
            <p:cNvPr id="9" name="TextBox 8"/>
            <p:cNvSpPr txBox="1"/>
            <p:nvPr/>
          </p:nvSpPr>
          <p:spPr>
            <a:xfrm>
              <a:off x="2420001" y="3672479"/>
              <a:ext cx="7351693" cy="461665"/>
            </a:xfrm>
            <a:prstGeom prst="rect">
              <a:avLst/>
            </a:prstGeom>
            <a:noFill/>
          </p:spPr>
          <p:txBody>
            <a:bodyPr wrap="none">
              <a:spAutoFit/>
            </a:bodyPr>
            <a:lstStyle/>
            <a:p>
              <a:pPr algn="ctr"/>
              <a:r>
                <a:rPr lang="en-US" sz="2400" b="1" noProof="0" dirty="0">
                  <a:solidFill>
                    <a:srgbClr val="000000"/>
                  </a:solidFill>
                  <a:latin typeface="Segoe UI Black" panose="020B0A02040204020203" pitchFamily="34" charset="0"/>
                  <a:ea typeface="Segoe UI Black" panose="020B0A02040204020203" pitchFamily="34" charset="0"/>
                </a:rPr>
                <a:t>ROUTINES THAT TURN INTENT INTO IDENTITY</a:t>
              </a:r>
            </a:p>
          </p:txBody>
        </p:sp>
      </p:grpSp>
      <p:sp>
        <p:nvSpPr>
          <p:cNvPr id="10" name="TextBox 9"/>
          <p:cNvSpPr txBox="1"/>
          <p:nvPr/>
        </p:nvSpPr>
        <p:spPr>
          <a:xfrm>
            <a:off x="4103956" y="4938913"/>
            <a:ext cx="3983783" cy="369332"/>
          </a:xfrm>
          <a:prstGeom prst="rect">
            <a:avLst/>
          </a:prstGeom>
          <a:noFill/>
        </p:spPr>
        <p:txBody>
          <a:bodyPr wrap="none">
            <a:spAutoFit/>
          </a:bodyPr>
          <a:lstStyle/>
          <a:p>
            <a:pPr algn="l"/>
            <a:r>
              <a:rPr lang="en-US" b="1" noProof="0" dirty="0">
                <a:solidFill>
                  <a:srgbClr val="A78BFA"/>
                </a:solidFill>
                <a:latin typeface="Consolas"/>
              </a:rPr>
              <a:t>// MIT Sandbox Innovation Fund</a:t>
            </a:r>
          </a:p>
        </p:txBody>
      </p:sp>
      <p:sp>
        <p:nvSpPr>
          <p:cNvPr id="11" name="Rectangle 10"/>
          <p:cNvSpPr/>
          <p:nvPr/>
        </p:nvSpPr>
        <p:spPr>
          <a:xfrm>
            <a:off x="4175785" y="5760720"/>
            <a:ext cx="3797593" cy="411480"/>
          </a:xfrm>
          <a:prstGeom prst="rect">
            <a:avLst/>
          </a:prstGeom>
          <a:solidFill>
            <a:srgbClr val="000000"/>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C0C0C0"/>
                </a:solidFill>
                <a:latin typeface="Arial"/>
              </a:defRPr>
            </a:pPr>
            <a:r>
              <a:rPr lang="en-US" sz="1600" b="1" noProof="0" dirty="0">
                <a:latin typeface="Segoe UI Black" panose="020B0A02040204020203" pitchFamily="34" charset="0"/>
                <a:ea typeface="Segoe UI Black" panose="020B0A02040204020203" pitchFamily="34" charset="0"/>
              </a:rPr>
              <a:t>Working Prototype Pitch Deck</a:t>
            </a:r>
          </a:p>
        </p:txBody>
      </p:sp>
      <p:sp>
        <p:nvSpPr>
          <p:cNvPr id="12" name="Rectangle 11"/>
          <p:cNvSpPr/>
          <p:nvPr/>
        </p:nvSpPr>
        <p:spPr>
          <a:xfrm>
            <a:off x="1969148" y="5760720"/>
            <a:ext cx="2049268" cy="411480"/>
          </a:xfrm>
          <a:prstGeom prst="rect">
            <a:avLst/>
          </a:prstGeom>
          <a:solidFill>
            <a:srgbClr val="000000"/>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C0C0C0"/>
                </a:solidFill>
                <a:latin typeface="Arial"/>
              </a:defRPr>
            </a:pPr>
            <a:r>
              <a:rPr lang="en-US" sz="1600" b="1" noProof="0" dirty="0">
                <a:latin typeface="Segoe UI Black" panose="020B0A02040204020203" pitchFamily="34" charset="0"/>
                <a:ea typeface="Segoe UI Black" panose="020B0A02040204020203" pitchFamily="34" charset="0"/>
              </a:rPr>
              <a:t>January 2026</a:t>
            </a:r>
          </a:p>
        </p:txBody>
      </p:sp>
      <p:sp>
        <p:nvSpPr>
          <p:cNvPr id="13" name="Rectangle 12"/>
          <p:cNvSpPr/>
          <p:nvPr/>
        </p:nvSpPr>
        <p:spPr>
          <a:xfrm>
            <a:off x="8130747" y="5760720"/>
            <a:ext cx="2049268" cy="411480"/>
          </a:xfrm>
          <a:prstGeom prst="rect">
            <a:avLst/>
          </a:prstGeom>
          <a:solidFill>
            <a:srgbClr val="000000"/>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C0C0C0"/>
                </a:solidFill>
                <a:latin typeface="Arial"/>
              </a:defRPr>
            </a:pPr>
            <a:r>
              <a:rPr lang="en-US" sz="1600" b="1" noProof="0" dirty="0">
                <a:latin typeface="Segoe UI Black" panose="020B0A02040204020203" pitchFamily="34" charset="0"/>
                <a:ea typeface="Segoe UI Black" panose="020B0A02040204020203" pitchFamily="34" charset="0"/>
              </a:rPr>
              <a:t>Javier Serrano</a:t>
            </a:r>
          </a:p>
        </p:txBody>
      </p:sp>
      <p:sp>
        <p:nvSpPr>
          <p:cNvPr id="19" name="TextBox 18">
            <a:extLst>
              <a:ext uri="{FF2B5EF4-FFF2-40B4-BE49-F238E27FC236}">
                <a16:creationId xmlns:a16="http://schemas.microsoft.com/office/drawing/2014/main" id="{60937FCB-CE3F-2A70-4B86-884BE8FDC921}"/>
              </a:ext>
            </a:extLst>
          </p:cNvPr>
          <p:cNvSpPr txBox="1"/>
          <p:nvPr/>
        </p:nvSpPr>
        <p:spPr>
          <a:xfrm>
            <a:off x="3545310" y="2363682"/>
            <a:ext cx="5101076" cy="923330"/>
          </a:xfrm>
          <a:prstGeom prst="rect">
            <a:avLst/>
          </a:prstGeom>
          <a:noFill/>
        </p:spPr>
        <p:txBody>
          <a:bodyPr wrap="none">
            <a:spAutoFit/>
          </a:bodyPr>
          <a:lstStyle/>
          <a:p>
            <a:pPr algn="ctr"/>
            <a:r>
              <a:rPr lang="en-US" sz="5400" b="1" noProof="0" dirty="0">
                <a:solidFill>
                  <a:srgbClr val="FFFFFF"/>
                </a:solidFill>
                <a:latin typeface="Segoe UI Black" panose="020B0A02040204020203" pitchFamily="34" charset="0"/>
                <a:ea typeface="Segoe UI Black" panose="020B0A02040204020203" pitchFamily="34" charset="0"/>
              </a:rPr>
              <a:t>AXIOM FORGE</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6BA691B4-FDAF-962C-0EA7-8F9081A9A0DE}"/>
              </a:ext>
            </a:extLst>
          </p:cNvPr>
          <p:cNvGraphicFramePr>
            <a:graphicFrameLocks noChangeAspect="1"/>
          </p:cNvGraphicFramePr>
          <p:nvPr>
            <p:custDataLst>
              <p:tags r:id="rId2"/>
            </p:custDataLst>
            <p:extLst>
              <p:ext uri="{D42A27DB-BD31-4B8C-83A1-F6EECF244321}">
                <p14:modId xmlns:p14="http://schemas.microsoft.com/office/powerpoint/2010/main" val="54306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30" name="Group 29">
            <a:extLst>
              <a:ext uri="{FF2B5EF4-FFF2-40B4-BE49-F238E27FC236}">
                <a16:creationId xmlns:a16="http://schemas.microsoft.com/office/drawing/2014/main" id="{24230774-362C-10D2-19E8-06436474A0A8}"/>
              </a:ext>
            </a:extLst>
          </p:cNvPr>
          <p:cNvGrpSpPr/>
          <p:nvPr/>
        </p:nvGrpSpPr>
        <p:grpSpPr>
          <a:xfrm>
            <a:off x="11321601" y="320040"/>
            <a:ext cx="640080" cy="640080"/>
            <a:chOff x="11094415" y="320040"/>
            <a:chExt cx="640080" cy="640080"/>
          </a:xfrm>
        </p:grpSpPr>
        <p:sp>
          <p:nvSpPr>
            <p:cNvPr id="2" name="Rounded Rectangle 1"/>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 name="Rectangle 2"/>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 name="Rectangle 3"/>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6" name="TextBox 5"/>
          <p:cNvSpPr txBox="1"/>
          <p:nvPr/>
        </p:nvSpPr>
        <p:spPr>
          <a:xfrm>
            <a:off x="548640" y="320040"/>
            <a:ext cx="1178528" cy="307777"/>
          </a:xfrm>
          <a:prstGeom prst="rect">
            <a:avLst/>
          </a:prstGeom>
          <a:noFill/>
        </p:spPr>
        <p:txBody>
          <a:bodyPr wrap="none">
            <a:spAutoFit/>
          </a:bodyPr>
          <a:lstStyle/>
          <a:p>
            <a:pPr algn="l"/>
            <a:r>
              <a:rPr lang="en-US" sz="1400" b="1" noProof="0" dirty="0">
                <a:solidFill>
                  <a:srgbClr val="A78BFA"/>
                </a:solidFill>
                <a:latin typeface="Consolas"/>
              </a:rPr>
              <a:t>// Context</a:t>
            </a:r>
          </a:p>
        </p:txBody>
      </p:sp>
      <p:sp>
        <p:nvSpPr>
          <p:cNvPr id="7" name="TextBox 6"/>
          <p:cNvSpPr txBox="1"/>
          <p:nvPr/>
        </p:nvSpPr>
        <p:spPr>
          <a:xfrm>
            <a:off x="548640" y="640074"/>
            <a:ext cx="8105104" cy="538609"/>
          </a:xfrm>
          <a:prstGeom prst="rect">
            <a:avLst/>
          </a:prstGeom>
          <a:noFill/>
        </p:spPr>
        <p:txBody>
          <a:bodyPr wrap="none" bIns="0">
            <a:spAutoFit/>
          </a:bodyPr>
          <a:lstStyle/>
          <a:p>
            <a:pPr algn="l"/>
            <a:r>
              <a:rPr lang="en-US" sz="3200" b="1" noProof="0" dirty="0">
                <a:solidFill>
                  <a:srgbClr val="FFFFFF"/>
                </a:solidFill>
                <a:latin typeface="Segoe UI Black" panose="020B0A02040204020203" pitchFamily="34" charset="0"/>
                <a:ea typeface="Segoe UI Black" panose="020B0A02040204020203" pitchFamily="34" charset="0"/>
                <a:cs typeface="Segoe UI" panose="020B0502040204020203" pitchFamily="34" charset="0"/>
              </a:rPr>
              <a:t>ROUTINES ARE THE NEW OBSESSION…</a:t>
            </a:r>
          </a:p>
        </p:txBody>
      </p:sp>
      <p:sp>
        <p:nvSpPr>
          <p:cNvPr id="8" name="Rectangle 7"/>
          <p:cNvSpPr/>
          <p:nvPr/>
        </p:nvSpPr>
        <p:spPr>
          <a:xfrm>
            <a:off x="548640" y="1738750"/>
            <a:ext cx="5272887" cy="1097280"/>
          </a:xfrm>
          <a:prstGeom prst="rect">
            <a:avLst/>
          </a:prstGeom>
          <a:solidFill>
            <a:srgbClr val="0A0A0A"/>
          </a:solidFill>
          <a:ln w="31750">
            <a:solidFill>
              <a:srgbClr val="CCFF00"/>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4000" b="1" noProof="0" dirty="0">
                <a:solidFill>
                  <a:srgbClr val="CCFF00"/>
                </a:solidFill>
                <a:latin typeface="Segoe UI Black" panose="020B0A02040204020203" pitchFamily="34" charset="0"/>
                <a:ea typeface="Segoe UI Black" panose="020B0A02040204020203" pitchFamily="34" charset="0"/>
              </a:rPr>
              <a:t>+70B</a:t>
            </a:r>
          </a:p>
          <a:p>
            <a:pPr algn="ctr">
              <a:defRPr sz="1400">
                <a:solidFill>
                  <a:srgbClr val="C0C0C0"/>
                </a:solidFill>
                <a:latin typeface="Arial"/>
              </a:defRPr>
            </a:pPr>
            <a:r>
              <a:rPr lang="en-US" sz="1600" b="1" noProof="0" dirty="0">
                <a:solidFill>
                  <a:schemeClr val="bg1"/>
                </a:solidFill>
                <a:latin typeface="Consolas" panose="020B0609020204030204" pitchFamily="49" charset="0"/>
              </a:rPr>
              <a:t>views on routine videos (just on TikTok)</a:t>
            </a:r>
          </a:p>
        </p:txBody>
      </p:sp>
      <p:sp>
        <p:nvSpPr>
          <p:cNvPr id="9" name="Rectangle 8"/>
          <p:cNvSpPr>
            <a:spLocks/>
          </p:cNvSpPr>
          <p:nvPr/>
        </p:nvSpPr>
        <p:spPr>
          <a:xfrm>
            <a:off x="548641" y="2960498"/>
            <a:ext cx="1674412" cy="458986"/>
          </a:xfrm>
          <a:prstGeom prst="rect">
            <a:avLst/>
          </a:prstGeom>
          <a:solidFill>
            <a:srgbClr val="0000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r>
              <a:rPr lang="en-US" sz="1200" b="1" noProof="0" dirty="0">
                <a:solidFill>
                  <a:srgbClr val="CCFF00"/>
                </a:solidFill>
                <a:latin typeface="Consolas" panose="020B0609020204030204" pitchFamily="49" charset="0"/>
              </a:rPr>
              <a:t>#skincareroutine      </a:t>
            </a:r>
            <a:r>
              <a:rPr lang="en-US" sz="1100" b="1" noProof="0" dirty="0">
                <a:solidFill>
                  <a:srgbClr val="C0C0C0"/>
                </a:solidFill>
                <a:latin typeface="Consolas" panose="020B0609020204030204" pitchFamily="49" charset="0"/>
              </a:rPr>
              <a:t>37B</a:t>
            </a:r>
            <a:r>
              <a:rPr lang="en-US" sz="1100" noProof="0" dirty="0">
                <a:solidFill>
                  <a:srgbClr val="C0C0C0"/>
                </a:solidFill>
                <a:latin typeface="Consolas" panose="020B0609020204030204" pitchFamily="49" charset="0"/>
              </a:rPr>
              <a:t>+ views</a:t>
            </a:r>
          </a:p>
        </p:txBody>
      </p:sp>
      <p:sp>
        <p:nvSpPr>
          <p:cNvPr id="10" name="Rectangle 9"/>
          <p:cNvSpPr>
            <a:spLocks/>
          </p:cNvSpPr>
          <p:nvPr/>
        </p:nvSpPr>
        <p:spPr>
          <a:xfrm>
            <a:off x="4147115" y="2960498"/>
            <a:ext cx="1674412" cy="458986"/>
          </a:xfrm>
          <a:prstGeom prst="rect">
            <a:avLst/>
          </a:prstGeom>
          <a:solidFill>
            <a:srgbClr val="0000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r>
              <a:rPr lang="en-US" sz="1200" b="1" noProof="0" dirty="0">
                <a:solidFill>
                  <a:srgbClr val="CCFF00"/>
                </a:solidFill>
                <a:latin typeface="Consolas" panose="020B0609020204030204" pitchFamily="49" charset="0"/>
              </a:rPr>
              <a:t>#nightroutine  </a:t>
            </a:r>
            <a:r>
              <a:rPr lang="en-US" sz="1100" noProof="0" dirty="0">
                <a:solidFill>
                  <a:srgbClr val="C0C0C0"/>
                </a:solidFill>
                <a:latin typeface="Consolas" panose="020B0609020204030204" pitchFamily="49" charset="0"/>
              </a:rPr>
              <a:t>11B+ views</a:t>
            </a:r>
          </a:p>
        </p:txBody>
      </p:sp>
      <p:sp>
        <p:nvSpPr>
          <p:cNvPr id="11" name="Rectangle 10"/>
          <p:cNvSpPr>
            <a:spLocks/>
          </p:cNvSpPr>
          <p:nvPr/>
        </p:nvSpPr>
        <p:spPr>
          <a:xfrm>
            <a:off x="2335697" y="2960498"/>
            <a:ext cx="1674412" cy="458986"/>
          </a:xfrm>
          <a:prstGeom prst="rect">
            <a:avLst/>
          </a:prstGeom>
          <a:solidFill>
            <a:srgbClr val="0000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r>
              <a:rPr lang="en-US" sz="1200" b="1" noProof="0" dirty="0">
                <a:solidFill>
                  <a:srgbClr val="CCFF00"/>
                </a:solidFill>
                <a:latin typeface="Consolas" panose="020B0609020204030204" pitchFamily="49" charset="0"/>
              </a:rPr>
              <a:t>#morningroutine   </a:t>
            </a:r>
            <a:r>
              <a:rPr lang="en-US" sz="1100" b="1" noProof="0" dirty="0">
                <a:solidFill>
                  <a:srgbClr val="C0C0C0"/>
                </a:solidFill>
                <a:latin typeface="Consolas" panose="020B0609020204030204" pitchFamily="49" charset="0"/>
              </a:rPr>
              <a:t>27</a:t>
            </a:r>
            <a:r>
              <a:rPr lang="en-US" sz="1100" noProof="0" dirty="0">
                <a:solidFill>
                  <a:srgbClr val="C0C0C0"/>
                </a:solidFill>
                <a:latin typeface="Consolas" panose="020B0609020204030204" pitchFamily="49" charset="0"/>
              </a:rPr>
              <a:t>B+ views</a:t>
            </a:r>
          </a:p>
        </p:txBody>
      </p:sp>
      <p:sp>
        <p:nvSpPr>
          <p:cNvPr id="12" name="Rectangle 11"/>
          <p:cNvSpPr/>
          <p:nvPr/>
        </p:nvSpPr>
        <p:spPr>
          <a:xfrm>
            <a:off x="548640" y="3611474"/>
            <a:ext cx="5272887" cy="1463040"/>
          </a:xfrm>
          <a:prstGeom prst="rect">
            <a:avLst/>
          </a:prstGeom>
          <a:solidFill>
            <a:srgbClr val="0000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13" name="TextBox 12"/>
          <p:cNvSpPr txBox="1"/>
          <p:nvPr/>
        </p:nvSpPr>
        <p:spPr>
          <a:xfrm>
            <a:off x="650240" y="3702914"/>
            <a:ext cx="5262979" cy="400110"/>
          </a:xfrm>
          <a:prstGeom prst="rect">
            <a:avLst/>
          </a:prstGeom>
          <a:noFill/>
        </p:spPr>
        <p:txBody>
          <a:bodyPr wrap="none">
            <a:spAutoFit/>
          </a:bodyPr>
          <a:lstStyle/>
          <a:p>
            <a:pPr algn="l"/>
            <a:r>
              <a:rPr lang="en-US" sz="2000" b="1" noProof="0" dirty="0">
                <a:solidFill>
                  <a:srgbClr val="CCFF00"/>
                </a:solidFill>
                <a:latin typeface="Consolas" panose="020B0609020204030204" pitchFamily="49" charset="0"/>
              </a:rPr>
              <a:t>Massive Engagement vs Other Content</a:t>
            </a:r>
          </a:p>
        </p:txBody>
      </p:sp>
      <p:sp>
        <p:nvSpPr>
          <p:cNvPr id="14" name="TextBox 13"/>
          <p:cNvSpPr txBox="1">
            <a:spLocks/>
          </p:cNvSpPr>
          <p:nvPr/>
        </p:nvSpPr>
        <p:spPr>
          <a:xfrm>
            <a:off x="731520" y="4135634"/>
            <a:ext cx="1289135" cy="276999"/>
          </a:xfrm>
          <a:prstGeom prst="rect">
            <a:avLst/>
          </a:prstGeom>
          <a:noFill/>
        </p:spPr>
        <p:txBody>
          <a:bodyPr wrap="square" lIns="0">
            <a:spAutoFit/>
          </a:bodyPr>
          <a:lstStyle/>
          <a:p>
            <a:pPr algn="l"/>
            <a:r>
              <a:rPr lang="en-US" sz="1200" b="1" noProof="0" dirty="0">
                <a:solidFill>
                  <a:srgbClr val="FFFFFF"/>
                </a:solidFill>
                <a:latin typeface="Consolas" panose="020B0609020204030204" pitchFamily="49" charset="0"/>
              </a:rPr>
              <a:t>Routine-based</a:t>
            </a:r>
          </a:p>
        </p:txBody>
      </p:sp>
      <p:sp>
        <p:nvSpPr>
          <p:cNvPr id="17" name="TextBox 16"/>
          <p:cNvSpPr txBox="1"/>
          <p:nvPr/>
        </p:nvSpPr>
        <p:spPr>
          <a:xfrm>
            <a:off x="4984733" y="4159834"/>
            <a:ext cx="609462" cy="276999"/>
          </a:xfrm>
          <a:prstGeom prst="rect">
            <a:avLst/>
          </a:prstGeom>
          <a:noFill/>
        </p:spPr>
        <p:txBody>
          <a:bodyPr wrap="none">
            <a:spAutoFit/>
          </a:bodyPr>
          <a:lstStyle/>
          <a:p>
            <a:pPr algn="r"/>
            <a:r>
              <a:rPr lang="en-US" sz="1200" b="1" noProof="0" dirty="0">
                <a:solidFill>
                  <a:srgbClr val="CCFF00"/>
                </a:solidFill>
                <a:latin typeface="Consolas" panose="020B0609020204030204" pitchFamily="49" charset="0"/>
              </a:rPr>
              <a:t>6-10x</a:t>
            </a:r>
          </a:p>
        </p:txBody>
      </p:sp>
      <p:sp>
        <p:nvSpPr>
          <p:cNvPr id="18" name="TextBox 17"/>
          <p:cNvSpPr txBox="1">
            <a:spLocks/>
          </p:cNvSpPr>
          <p:nvPr/>
        </p:nvSpPr>
        <p:spPr>
          <a:xfrm>
            <a:off x="731520" y="4601518"/>
            <a:ext cx="1604177" cy="261610"/>
          </a:xfrm>
          <a:prstGeom prst="rect">
            <a:avLst/>
          </a:prstGeom>
          <a:noFill/>
        </p:spPr>
        <p:txBody>
          <a:bodyPr wrap="square" lIns="0">
            <a:spAutoFit/>
          </a:bodyPr>
          <a:lstStyle/>
          <a:p>
            <a:pPr algn="l"/>
            <a:r>
              <a:rPr lang="en-US" sz="1100" b="1" noProof="0" dirty="0">
                <a:solidFill>
                  <a:srgbClr val="FFFFFF"/>
                </a:solidFill>
                <a:latin typeface="Consolas" panose="020B0609020204030204" pitchFamily="49" charset="0"/>
              </a:rPr>
              <a:t>General Wellness</a:t>
            </a:r>
          </a:p>
        </p:txBody>
      </p:sp>
      <p:grpSp>
        <p:nvGrpSpPr>
          <p:cNvPr id="45" name="Group 44">
            <a:extLst>
              <a:ext uri="{FF2B5EF4-FFF2-40B4-BE49-F238E27FC236}">
                <a16:creationId xmlns:a16="http://schemas.microsoft.com/office/drawing/2014/main" id="{A9D0A838-32C5-7C4C-C806-B68F7DDFF52B}"/>
              </a:ext>
            </a:extLst>
          </p:cNvPr>
          <p:cNvGrpSpPr/>
          <p:nvPr/>
        </p:nvGrpSpPr>
        <p:grpSpPr>
          <a:xfrm>
            <a:off x="2254646" y="4159834"/>
            <a:ext cx="2560320" cy="685800"/>
            <a:chOff x="2302355" y="4159834"/>
            <a:chExt cx="2560320" cy="685800"/>
          </a:xfrm>
        </p:grpSpPr>
        <p:sp>
          <p:nvSpPr>
            <p:cNvPr id="15" name="Rectangle 14"/>
            <p:cNvSpPr/>
            <p:nvPr/>
          </p:nvSpPr>
          <p:spPr>
            <a:xfrm>
              <a:off x="2302355" y="4159834"/>
              <a:ext cx="2560320" cy="228600"/>
            </a:xfrm>
            <a:prstGeom prst="rect">
              <a:avLst/>
            </a:prstGeom>
            <a:solidFill>
              <a:srgbClr val="0A0A0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16" name="Rectangle 15"/>
            <p:cNvSpPr/>
            <p:nvPr/>
          </p:nvSpPr>
          <p:spPr>
            <a:xfrm>
              <a:off x="2302355" y="4159834"/>
              <a:ext cx="2560320" cy="22860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19" name="Rectangle 18"/>
            <p:cNvSpPr/>
            <p:nvPr/>
          </p:nvSpPr>
          <p:spPr>
            <a:xfrm>
              <a:off x="2302355" y="4617034"/>
              <a:ext cx="2560320" cy="228600"/>
            </a:xfrm>
            <a:prstGeom prst="rect">
              <a:avLst/>
            </a:prstGeom>
            <a:solidFill>
              <a:srgbClr val="0A0A0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20" name="Rectangle 19"/>
            <p:cNvSpPr/>
            <p:nvPr/>
          </p:nvSpPr>
          <p:spPr>
            <a:xfrm>
              <a:off x="2309247" y="4625048"/>
              <a:ext cx="457200" cy="214551"/>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grpSp>
      <p:sp>
        <p:nvSpPr>
          <p:cNvPr id="21" name="TextBox 20"/>
          <p:cNvSpPr txBox="1"/>
          <p:nvPr/>
        </p:nvSpPr>
        <p:spPr>
          <a:xfrm>
            <a:off x="5239611" y="4617034"/>
            <a:ext cx="354584" cy="276999"/>
          </a:xfrm>
          <a:prstGeom prst="rect">
            <a:avLst/>
          </a:prstGeom>
          <a:noFill/>
        </p:spPr>
        <p:txBody>
          <a:bodyPr wrap="none">
            <a:spAutoFit/>
          </a:bodyPr>
          <a:lstStyle/>
          <a:p>
            <a:pPr algn="r"/>
            <a:r>
              <a:rPr lang="en-US" sz="1200" b="1" noProof="0" dirty="0">
                <a:solidFill>
                  <a:srgbClr val="FFFFFF"/>
                </a:solidFill>
                <a:latin typeface="Consolas" panose="020B0609020204030204" pitchFamily="49" charset="0"/>
              </a:rPr>
              <a:t>1x</a:t>
            </a:r>
          </a:p>
        </p:txBody>
      </p:sp>
      <p:sp>
        <p:nvSpPr>
          <p:cNvPr id="27" name="Rectangle 26"/>
          <p:cNvSpPr/>
          <p:nvPr/>
        </p:nvSpPr>
        <p:spPr>
          <a:xfrm>
            <a:off x="548640" y="5359309"/>
            <a:ext cx="10923421" cy="461664"/>
          </a:xfrm>
          <a:prstGeom prst="rect">
            <a:avLst/>
          </a:prstGeom>
          <a:solidFill>
            <a:srgbClr val="00000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28" name="TextBox 27"/>
          <p:cNvSpPr txBox="1"/>
          <p:nvPr/>
        </p:nvSpPr>
        <p:spPr>
          <a:xfrm>
            <a:off x="2581103" y="5420864"/>
            <a:ext cx="7029488" cy="338554"/>
          </a:xfrm>
          <a:prstGeom prst="rect">
            <a:avLst/>
          </a:prstGeom>
          <a:noFill/>
        </p:spPr>
        <p:txBody>
          <a:bodyPr wrap="none">
            <a:spAutoFit/>
          </a:bodyPr>
          <a:lstStyle/>
          <a:p>
            <a:pPr algn="ctr"/>
            <a:r>
              <a:rPr lang="en-US" sz="1600" b="1" noProof="0" dirty="0">
                <a:solidFill>
                  <a:srgbClr val="FFFFFF"/>
                </a:solidFill>
                <a:latin typeface="Consolas" panose="020B0609020204030204" pitchFamily="49" charset="0"/>
              </a:rPr>
              <a:t>Massive audience wanting to </a:t>
            </a:r>
            <a:r>
              <a:rPr lang="en-US" sz="1600" b="1" noProof="0" dirty="0">
                <a:solidFill>
                  <a:srgbClr val="A78BFA"/>
                </a:solidFill>
                <a:latin typeface="Consolas" panose="020B0609020204030204" pitchFamily="49" charset="0"/>
              </a:rPr>
              <a:t>DO</a:t>
            </a:r>
            <a:r>
              <a:rPr lang="en-US" sz="1600" b="1" noProof="0" dirty="0">
                <a:solidFill>
                  <a:srgbClr val="CCFF00"/>
                </a:solidFill>
                <a:latin typeface="Consolas" panose="020B0609020204030204" pitchFamily="49" charset="0"/>
              </a:rPr>
              <a:t> </a:t>
            </a:r>
            <a:r>
              <a:rPr lang="en-US" sz="1600" b="1" noProof="0" dirty="0">
                <a:solidFill>
                  <a:srgbClr val="FFFFFF"/>
                </a:solidFill>
                <a:latin typeface="Consolas" panose="020B0609020204030204" pitchFamily="49" charset="0"/>
              </a:rPr>
              <a:t>routines, not just </a:t>
            </a:r>
            <a:r>
              <a:rPr lang="en-US" sz="1600" b="1" noProof="0" dirty="0">
                <a:solidFill>
                  <a:srgbClr val="A78BFA"/>
                </a:solidFill>
                <a:latin typeface="Consolas" panose="020B0609020204030204" pitchFamily="49" charset="0"/>
              </a:rPr>
              <a:t>WATCH</a:t>
            </a:r>
            <a:r>
              <a:rPr lang="en-US" sz="1600" b="1" noProof="0" dirty="0">
                <a:solidFill>
                  <a:srgbClr val="FFFFFF"/>
                </a:solidFill>
                <a:latin typeface="Consolas" panose="020B0609020204030204" pitchFamily="49" charset="0"/>
              </a:rPr>
              <a:t> them</a:t>
            </a:r>
          </a:p>
        </p:txBody>
      </p:sp>
      <p:sp>
        <p:nvSpPr>
          <p:cNvPr id="29" name="TextBox 28"/>
          <p:cNvSpPr txBox="1"/>
          <p:nvPr/>
        </p:nvSpPr>
        <p:spPr>
          <a:xfrm>
            <a:off x="548640" y="6172200"/>
            <a:ext cx="11094415" cy="461665"/>
          </a:xfrm>
          <a:prstGeom prst="rect">
            <a:avLst/>
          </a:prstGeom>
          <a:noFill/>
        </p:spPr>
        <p:txBody>
          <a:bodyPr wrap="square">
            <a:spAutoFit/>
          </a:bodyPr>
          <a:lstStyle/>
          <a:p>
            <a:pPr algn="l"/>
            <a:r>
              <a:rPr lang="en-US" sz="1200" noProof="0" dirty="0">
                <a:solidFill>
                  <a:schemeClr val="bg1"/>
                </a:solidFill>
                <a:latin typeface="Consolas" panose="020B0609020204030204" pitchFamily="49" charset="0"/>
              </a:rPr>
              <a:t>Source: </a:t>
            </a:r>
            <a:r>
              <a:rPr lang="en-US" sz="1200" noProof="0" dirty="0">
                <a:solidFill>
                  <a:schemeClr val="bg1"/>
                </a:solidFill>
                <a:latin typeface="Consolas" panose="020B0609020204030204" pitchFamily="49" charset="0"/>
                <a:hlinkClick r:id="rId7">
                  <a:extLst>
                    <a:ext uri="{A12FA001-AC4F-418D-AE19-62706E023703}">
                      <ahyp:hlinkClr xmlns:ahyp="http://schemas.microsoft.com/office/drawing/2018/hyperlinkcolor" val="tx"/>
                    </a:ext>
                  </a:extLst>
                </a:hlinkClick>
              </a:rPr>
              <a:t>Broadcasting your breakfast: why TikTokers obsess over morning routines - The Guardian</a:t>
            </a:r>
            <a:r>
              <a:rPr lang="en-US" sz="1200" noProof="0" dirty="0">
                <a:solidFill>
                  <a:schemeClr val="bg1"/>
                </a:solidFill>
                <a:latin typeface="Consolas" panose="020B0609020204030204" pitchFamily="49" charset="0"/>
              </a:rPr>
              <a:t>; </a:t>
            </a:r>
            <a:r>
              <a:rPr lang="en-US" sz="1200" noProof="0" dirty="0">
                <a:solidFill>
                  <a:schemeClr val="bg1"/>
                </a:solidFill>
                <a:latin typeface="Consolas" panose="020B0609020204030204" pitchFamily="49" charset="0"/>
                <a:hlinkClick r:id="rId8">
                  <a:extLst>
                    <a:ext uri="{A12FA001-AC4F-418D-AE19-62706E023703}">
                      <ahyp:hlinkClr xmlns:ahyp="http://schemas.microsoft.com/office/drawing/2018/hyperlinkcolor" val="tx"/>
                    </a:ext>
                  </a:extLst>
                </a:hlinkClick>
              </a:rPr>
              <a:t>Why We're Obsessed with Other People's Morning Routines – Time Magazine</a:t>
            </a:r>
            <a:r>
              <a:rPr lang="en-US" sz="1200" noProof="0" dirty="0">
                <a:solidFill>
                  <a:schemeClr val="bg1"/>
                </a:solidFill>
                <a:latin typeface="Consolas" panose="020B0609020204030204" pitchFamily="49" charset="0"/>
              </a:rPr>
              <a:t>; </a:t>
            </a:r>
            <a:r>
              <a:rPr lang="en-US" sz="1200" noProof="0" dirty="0">
                <a:solidFill>
                  <a:schemeClr val="bg1"/>
                </a:solidFill>
                <a:latin typeface="Consolas" panose="020B0609020204030204" pitchFamily="49" charset="0"/>
                <a:hlinkClick r:id="rId9">
                  <a:extLst>
                    <a:ext uri="{A12FA001-AC4F-418D-AE19-62706E023703}">
                      <ahyp:hlinkClr xmlns:ahyp="http://schemas.microsoft.com/office/drawing/2018/hyperlinkcolor" val="tx"/>
                    </a:ext>
                  </a:extLst>
                </a:hlinkClick>
              </a:rPr>
              <a:t>Meet Ashton Hall: The Man Behind the Viral Morning Routine – BBN Times</a:t>
            </a:r>
            <a:endParaRPr lang="en-US" sz="1200" noProof="0" dirty="0">
              <a:solidFill>
                <a:schemeClr val="bg1"/>
              </a:solidFill>
              <a:latin typeface="Consolas" panose="020B0609020204030204" pitchFamily="49" charset="0"/>
            </a:endParaRPr>
          </a:p>
        </p:txBody>
      </p:sp>
      <p:sp>
        <p:nvSpPr>
          <p:cNvPr id="22" name="TextBox 21"/>
          <p:cNvSpPr txBox="1"/>
          <p:nvPr/>
        </p:nvSpPr>
        <p:spPr>
          <a:xfrm>
            <a:off x="6700676" y="1738750"/>
            <a:ext cx="4844275" cy="400110"/>
          </a:xfrm>
          <a:prstGeom prst="rect">
            <a:avLst/>
          </a:prstGeom>
          <a:noFill/>
        </p:spPr>
        <p:txBody>
          <a:bodyPr wrap="none" lIns="0" rIns="0">
            <a:spAutoFit/>
          </a:bodyPr>
          <a:lstStyle/>
          <a:p>
            <a:pPr algn="l"/>
            <a:r>
              <a:rPr lang="en-US" sz="2000" b="1" noProof="0" dirty="0">
                <a:solidFill>
                  <a:srgbClr val="CCFF00"/>
                </a:solidFill>
                <a:latin typeface="Segoe UI Black" panose="020B0A02040204020203" pitchFamily="34" charset="0"/>
                <a:ea typeface="Segoe UI Black" panose="020B0A02040204020203" pitchFamily="34" charset="0"/>
              </a:rPr>
              <a:t>INFLUENCERS ARE PROVING DEMAND</a:t>
            </a:r>
          </a:p>
        </p:txBody>
      </p:sp>
      <p:sp>
        <p:nvSpPr>
          <p:cNvPr id="23" name="TextBox 22"/>
          <p:cNvSpPr txBox="1">
            <a:spLocks/>
          </p:cNvSpPr>
          <p:nvPr/>
        </p:nvSpPr>
        <p:spPr>
          <a:xfrm>
            <a:off x="6700676" y="2241670"/>
            <a:ext cx="4502836" cy="523220"/>
          </a:xfrm>
          <a:prstGeom prst="rect">
            <a:avLst/>
          </a:prstGeom>
          <a:noFill/>
        </p:spPr>
        <p:txBody>
          <a:bodyPr wrap="none" lIns="0" rIns="0">
            <a:noAutofit/>
          </a:bodyPr>
          <a:lstStyle/>
          <a:p>
            <a:pPr marL="285750" indent="-285750">
              <a:buClr>
                <a:srgbClr val="CCFF00"/>
              </a:buClr>
              <a:buFont typeface="Wingdings" panose="05000000000000000000" pitchFamily="2" charset="2"/>
              <a:buChar char="§"/>
            </a:pPr>
            <a:r>
              <a:rPr lang="en-US" sz="1600" b="1" noProof="0" dirty="0">
                <a:solidFill>
                  <a:srgbClr val="FFFFFF"/>
                </a:solidFill>
                <a:latin typeface="Consolas" panose="020B0609020204030204" pitchFamily="49" charset="0"/>
              </a:rPr>
              <a:t>Andrew Huberman</a:t>
            </a:r>
          </a:p>
          <a:p>
            <a:pPr>
              <a:buClr>
                <a:srgbClr val="CCFF00"/>
              </a:buClr>
              <a:defRPr sz="1200">
                <a:solidFill>
                  <a:srgbClr val="C0C0C0"/>
                </a:solidFill>
                <a:latin typeface="Arial"/>
              </a:defRPr>
            </a:pPr>
            <a:r>
              <a:rPr lang="en-US" noProof="0" dirty="0">
                <a:latin typeface="Consolas" panose="020B0609020204030204" pitchFamily="49" charset="0"/>
              </a:rPr>
              <a:t>    </a:t>
            </a:r>
            <a:r>
              <a:rPr lang="en-US" b="1" noProof="0" dirty="0">
                <a:solidFill>
                  <a:srgbClr val="CCFF00"/>
                </a:solidFill>
                <a:latin typeface="Consolas" panose="020B0609020204030204" pitchFamily="49" charset="0"/>
              </a:rPr>
              <a:t>7.3M</a:t>
            </a:r>
            <a:r>
              <a:rPr lang="en-US" noProof="0" dirty="0">
                <a:latin typeface="Consolas" panose="020B0609020204030204" pitchFamily="49" charset="0"/>
              </a:rPr>
              <a:t> subs - Neuroscience-backed routines</a:t>
            </a:r>
          </a:p>
        </p:txBody>
      </p:sp>
      <p:sp>
        <p:nvSpPr>
          <p:cNvPr id="24" name="TextBox 23"/>
          <p:cNvSpPr txBox="1"/>
          <p:nvPr/>
        </p:nvSpPr>
        <p:spPr>
          <a:xfrm>
            <a:off x="6700676" y="2978646"/>
            <a:ext cx="4502836" cy="707886"/>
          </a:xfrm>
          <a:prstGeom prst="rect">
            <a:avLst/>
          </a:prstGeom>
          <a:noFill/>
        </p:spPr>
        <p:txBody>
          <a:bodyPr wrap="square" lIns="0" rIns="0">
            <a:spAutoFit/>
          </a:bodyPr>
          <a:lstStyle/>
          <a:p>
            <a:pPr marL="285750" indent="-285750">
              <a:buClr>
                <a:srgbClr val="CCFF00"/>
              </a:buClr>
              <a:buFont typeface="Wingdings" panose="05000000000000000000" pitchFamily="2" charset="2"/>
              <a:buChar char="§"/>
            </a:pPr>
            <a:r>
              <a:rPr lang="en-US" sz="1600" b="1" noProof="0" dirty="0">
                <a:solidFill>
                  <a:srgbClr val="FFFFFF"/>
                </a:solidFill>
                <a:latin typeface="Consolas" panose="020B0609020204030204" pitchFamily="49" charset="0"/>
              </a:rPr>
              <a:t>Ashton Hall</a:t>
            </a:r>
          </a:p>
          <a:p>
            <a:pPr>
              <a:buClr>
                <a:srgbClr val="CCFF00"/>
              </a:buClr>
              <a:defRPr sz="1200">
                <a:solidFill>
                  <a:srgbClr val="CCFF00"/>
                </a:solidFill>
                <a:latin typeface="Arial"/>
              </a:defRPr>
            </a:pPr>
            <a:r>
              <a:rPr lang="en-US" sz="1200" noProof="0" dirty="0">
                <a:solidFill>
                  <a:srgbClr val="C0C0C0"/>
                </a:solidFill>
                <a:latin typeface="Consolas" panose="020B0609020204030204" pitchFamily="49" charset="0"/>
              </a:rPr>
              <a:t>    </a:t>
            </a:r>
            <a:r>
              <a:rPr lang="en-US" sz="1200" b="1" noProof="0" dirty="0">
                <a:solidFill>
                  <a:srgbClr val="CCFF00"/>
                </a:solidFill>
                <a:latin typeface="Consolas" panose="020B0609020204030204" pitchFamily="49" charset="0"/>
              </a:rPr>
              <a:t>18M+</a:t>
            </a:r>
            <a:r>
              <a:rPr lang="en-US" sz="1200" noProof="0" dirty="0">
                <a:solidFill>
                  <a:srgbClr val="C0C0C0"/>
                </a:solidFill>
                <a:latin typeface="Consolas" panose="020B0609020204030204" pitchFamily="49" charset="0"/>
              </a:rPr>
              <a:t> followers - High-energy fitness routines</a:t>
            </a:r>
          </a:p>
          <a:p>
            <a:pPr>
              <a:buClr>
                <a:srgbClr val="CCFF00"/>
              </a:buClr>
              <a:defRPr sz="1200">
                <a:solidFill>
                  <a:srgbClr val="CCFF00"/>
                </a:solidFill>
                <a:latin typeface="Arial"/>
              </a:defRPr>
            </a:pPr>
            <a:r>
              <a:rPr lang="en-US" sz="1200" noProof="0" dirty="0">
                <a:solidFill>
                  <a:srgbClr val="C0C0C0"/>
                </a:solidFill>
                <a:latin typeface="Consolas" panose="020B0609020204030204" pitchFamily="49" charset="0"/>
              </a:rPr>
              <a:t>    </a:t>
            </a:r>
            <a:r>
              <a:rPr lang="en-US" sz="1200" b="1" noProof="0" dirty="0">
                <a:solidFill>
                  <a:srgbClr val="CCFF00"/>
                </a:solidFill>
                <a:latin typeface="Consolas" panose="020B0609020204030204" pitchFamily="49" charset="0"/>
              </a:rPr>
              <a:t>750M+</a:t>
            </a:r>
            <a:r>
              <a:rPr lang="en-US" sz="1200" noProof="0" dirty="0">
                <a:solidFill>
                  <a:srgbClr val="C0C0C0"/>
                </a:solidFill>
                <a:latin typeface="Consolas" panose="020B0609020204030204" pitchFamily="49" charset="0"/>
              </a:rPr>
              <a:t> views on a single morning routine video</a:t>
            </a:r>
          </a:p>
        </p:txBody>
      </p:sp>
      <p:cxnSp>
        <p:nvCxnSpPr>
          <p:cNvPr id="32" name="Straight Connector 31">
            <a:extLst>
              <a:ext uri="{FF2B5EF4-FFF2-40B4-BE49-F238E27FC236}">
                <a16:creationId xmlns:a16="http://schemas.microsoft.com/office/drawing/2014/main" id="{0C295200-7535-AD08-6A5E-416858520A05}"/>
              </a:ext>
            </a:extLst>
          </p:cNvPr>
          <p:cNvCxnSpPr>
            <a:cxnSpLocks/>
          </p:cNvCxnSpPr>
          <p:nvPr/>
        </p:nvCxnSpPr>
        <p:spPr>
          <a:xfrm>
            <a:off x="6700676" y="2848479"/>
            <a:ext cx="4502836"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700676" y="3830024"/>
            <a:ext cx="4502836" cy="523220"/>
          </a:xfrm>
          <a:prstGeom prst="rect">
            <a:avLst/>
          </a:prstGeom>
          <a:noFill/>
        </p:spPr>
        <p:txBody>
          <a:bodyPr wrap="none" lIns="0" rIns="0">
            <a:spAutoFit/>
          </a:bodyPr>
          <a:lstStyle/>
          <a:p>
            <a:pPr marL="285750" indent="-285750">
              <a:buClr>
                <a:srgbClr val="CCFF00"/>
              </a:buClr>
              <a:buFont typeface="Wingdings" panose="05000000000000000000" pitchFamily="2" charset="2"/>
              <a:buChar char="§"/>
            </a:pPr>
            <a:r>
              <a:rPr lang="en-US" sz="1600" b="1" noProof="0" dirty="0">
                <a:solidFill>
                  <a:srgbClr val="FFFFFF"/>
                </a:solidFill>
                <a:latin typeface="Consolas" panose="020B0609020204030204" pitchFamily="49" charset="0"/>
              </a:rPr>
              <a:t>Ali Abdaal</a:t>
            </a:r>
          </a:p>
          <a:p>
            <a:pPr>
              <a:buClr>
                <a:srgbClr val="CCFF00"/>
              </a:buClr>
              <a:defRPr sz="1200">
                <a:solidFill>
                  <a:srgbClr val="C0C0C0"/>
                </a:solidFill>
                <a:latin typeface="Arial"/>
              </a:defRPr>
            </a:pPr>
            <a:r>
              <a:rPr lang="en-US" noProof="0" dirty="0">
                <a:latin typeface="Consolas" panose="020B0609020204030204" pitchFamily="49" charset="0"/>
              </a:rPr>
              <a:t>    </a:t>
            </a:r>
            <a:r>
              <a:rPr lang="en-US" sz="1200" b="1" noProof="0" dirty="0">
                <a:solidFill>
                  <a:srgbClr val="CCFF00"/>
                </a:solidFill>
                <a:latin typeface="Consolas" panose="020B0609020204030204" pitchFamily="49" charset="0"/>
              </a:rPr>
              <a:t>6.5M</a:t>
            </a:r>
            <a:r>
              <a:rPr lang="en-US" noProof="0" dirty="0">
                <a:latin typeface="Consolas" panose="020B0609020204030204" pitchFamily="49" charset="0"/>
              </a:rPr>
              <a:t> subs - Productivity systems &amp; habit stacking</a:t>
            </a:r>
          </a:p>
        </p:txBody>
      </p:sp>
      <p:cxnSp>
        <p:nvCxnSpPr>
          <p:cNvPr id="33" name="Straight Connector 32">
            <a:extLst>
              <a:ext uri="{FF2B5EF4-FFF2-40B4-BE49-F238E27FC236}">
                <a16:creationId xmlns:a16="http://schemas.microsoft.com/office/drawing/2014/main" id="{81247C4F-D2BE-9168-BDD3-F3CE6EDF7E1F}"/>
              </a:ext>
            </a:extLst>
          </p:cNvPr>
          <p:cNvCxnSpPr>
            <a:cxnSpLocks/>
          </p:cNvCxnSpPr>
          <p:nvPr/>
        </p:nvCxnSpPr>
        <p:spPr>
          <a:xfrm>
            <a:off x="6700676" y="3770121"/>
            <a:ext cx="4502836"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700676" y="4602978"/>
            <a:ext cx="4942379" cy="523220"/>
          </a:xfrm>
          <a:prstGeom prst="rect">
            <a:avLst/>
          </a:prstGeom>
          <a:noFill/>
        </p:spPr>
        <p:txBody>
          <a:bodyPr wrap="none" lIns="0" rIns="0">
            <a:spAutoFit/>
          </a:bodyPr>
          <a:lstStyle/>
          <a:p>
            <a:pPr marL="285750" indent="-285750">
              <a:buClr>
                <a:srgbClr val="CCFF00"/>
              </a:buClr>
              <a:buFont typeface="Wingdings" panose="05000000000000000000" pitchFamily="2" charset="2"/>
              <a:buChar char="§"/>
            </a:pPr>
            <a:r>
              <a:rPr lang="en-US" sz="1600" b="1" noProof="0" dirty="0">
                <a:solidFill>
                  <a:srgbClr val="FFFFFF"/>
                </a:solidFill>
                <a:latin typeface="Consolas" panose="020B0609020204030204" pitchFamily="49" charset="0"/>
              </a:rPr>
              <a:t>James Clear</a:t>
            </a:r>
          </a:p>
          <a:p>
            <a:pPr>
              <a:buClr>
                <a:srgbClr val="CCFF00"/>
              </a:buClr>
              <a:defRPr sz="1200">
                <a:solidFill>
                  <a:srgbClr val="C0C0C0"/>
                </a:solidFill>
                <a:latin typeface="Arial"/>
              </a:defRPr>
            </a:pPr>
            <a:r>
              <a:rPr lang="en-US" noProof="0" dirty="0">
                <a:latin typeface="Consolas" panose="020B0609020204030204" pitchFamily="49" charset="0"/>
              </a:rPr>
              <a:t>    </a:t>
            </a:r>
            <a:r>
              <a:rPr lang="en-US" sz="1200" b="1" noProof="0" dirty="0">
                <a:solidFill>
                  <a:srgbClr val="CCFF00"/>
                </a:solidFill>
                <a:latin typeface="Consolas" panose="020B0609020204030204" pitchFamily="49" charset="0"/>
              </a:rPr>
              <a:t>25M+</a:t>
            </a:r>
            <a:r>
              <a:rPr lang="en-US" noProof="0" dirty="0">
                <a:latin typeface="Consolas" panose="020B0609020204030204" pitchFamily="49" charset="0"/>
              </a:rPr>
              <a:t> Atomic Habits sold - Created demand for systems</a:t>
            </a:r>
          </a:p>
        </p:txBody>
      </p:sp>
      <p:cxnSp>
        <p:nvCxnSpPr>
          <p:cNvPr id="34" name="Straight Connector 33">
            <a:extLst>
              <a:ext uri="{FF2B5EF4-FFF2-40B4-BE49-F238E27FC236}">
                <a16:creationId xmlns:a16="http://schemas.microsoft.com/office/drawing/2014/main" id="{5DAB0EFF-D82C-2013-E708-682DF45FCC06}"/>
              </a:ext>
            </a:extLst>
          </p:cNvPr>
          <p:cNvCxnSpPr>
            <a:cxnSpLocks/>
          </p:cNvCxnSpPr>
          <p:nvPr/>
        </p:nvCxnSpPr>
        <p:spPr>
          <a:xfrm>
            <a:off x="6700676" y="4436833"/>
            <a:ext cx="4502836"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B55C8FB7-CBF4-883F-7DE9-F11545098603}"/>
              </a:ext>
            </a:extLst>
          </p:cNvPr>
          <p:cNvSpPr txBox="1"/>
          <p:nvPr/>
        </p:nvSpPr>
        <p:spPr>
          <a:xfrm>
            <a:off x="11687362" y="6356866"/>
            <a:ext cx="274320"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r>
              <a:rPr lang="en-US" b="0" noProof="0" dirty="0"/>
              <a:t>2</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21" name="think-cell data - do not delete" hidden="1">
            <a:extLst>
              <a:ext uri="{FF2B5EF4-FFF2-40B4-BE49-F238E27FC236}">
                <a16:creationId xmlns:a16="http://schemas.microsoft.com/office/drawing/2014/main" id="{7D57AEA6-0158-5F18-AF30-40A8AB06E128}"/>
              </a:ext>
            </a:extLst>
          </p:cNvPr>
          <p:cNvGraphicFramePr>
            <a:graphicFrameLocks noChangeAspect="1"/>
          </p:cNvGraphicFramePr>
          <p:nvPr>
            <p:custDataLst>
              <p:tags r:id="rId2"/>
            </p:custDataLst>
            <p:extLst>
              <p:ext uri="{D42A27DB-BD31-4B8C-83A1-F6EECF244321}">
                <p14:modId xmlns:p14="http://schemas.microsoft.com/office/powerpoint/2010/main" val="2784794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4" name="Rectangle 33">
            <a:extLst>
              <a:ext uri="{FF2B5EF4-FFF2-40B4-BE49-F238E27FC236}">
                <a16:creationId xmlns:a16="http://schemas.microsoft.com/office/drawing/2014/main" id="{01CADEC4-F0D9-4AA6-583D-F9859D3AE98E}"/>
              </a:ext>
            </a:extLst>
          </p:cNvPr>
          <p:cNvSpPr>
            <a:spLocks/>
          </p:cNvSpPr>
          <p:nvPr/>
        </p:nvSpPr>
        <p:spPr>
          <a:xfrm>
            <a:off x="6096000" y="1629890"/>
            <a:ext cx="5547055" cy="3423298"/>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noProof="0" dirty="0">
              <a:solidFill>
                <a:schemeClr val="bg1"/>
              </a:solidFill>
            </a:endParaRPr>
          </a:p>
        </p:txBody>
      </p:sp>
      <p:sp>
        <p:nvSpPr>
          <p:cNvPr id="6" name="TextBox 5"/>
          <p:cNvSpPr txBox="1"/>
          <p:nvPr/>
        </p:nvSpPr>
        <p:spPr>
          <a:xfrm>
            <a:off x="548640" y="320040"/>
            <a:ext cx="1178528" cy="307777"/>
          </a:xfrm>
          <a:prstGeom prst="rect">
            <a:avLst/>
          </a:prstGeom>
          <a:noFill/>
        </p:spPr>
        <p:txBody>
          <a:bodyPr wrap="none">
            <a:spAutoFit/>
          </a:bodyPr>
          <a:lstStyle/>
          <a:p>
            <a:pPr algn="l"/>
            <a:r>
              <a:rPr lang="en-US" sz="1400" b="1" noProof="0" dirty="0">
                <a:solidFill>
                  <a:srgbClr val="A78BFA"/>
                </a:solidFill>
                <a:latin typeface="Consolas"/>
              </a:rPr>
              <a:t>// Problem</a:t>
            </a:r>
          </a:p>
        </p:txBody>
      </p:sp>
      <p:sp>
        <p:nvSpPr>
          <p:cNvPr id="7" name="TextBox 6"/>
          <p:cNvSpPr txBox="1"/>
          <p:nvPr/>
        </p:nvSpPr>
        <p:spPr>
          <a:xfrm>
            <a:off x="548640" y="640074"/>
            <a:ext cx="10261142" cy="584775"/>
          </a:xfrm>
          <a:prstGeom prst="rect">
            <a:avLst/>
          </a:prstGeom>
          <a:noFill/>
        </p:spPr>
        <p:txBody>
          <a:bodyPr wrap="none">
            <a:spAutoFit/>
          </a:bodyPr>
          <a:lstStyle/>
          <a:p>
            <a:pPr algn="l"/>
            <a:r>
              <a:rPr lang="en-US" sz="3200" b="1" noProof="0" dirty="0">
                <a:solidFill>
                  <a:srgbClr val="FFFFFF"/>
                </a:solidFill>
                <a:latin typeface="Segoe UI Black" panose="020B0A02040204020203" pitchFamily="34" charset="0"/>
                <a:ea typeface="Segoe UI Black" panose="020B0A02040204020203" pitchFamily="34" charset="0"/>
              </a:rPr>
              <a:t>…BUT FEW PEOPLE ACTUALLY STAY CONSISTENT</a:t>
            </a:r>
          </a:p>
        </p:txBody>
      </p:sp>
      <p:sp>
        <p:nvSpPr>
          <p:cNvPr id="8" name="Rectangle 7"/>
          <p:cNvSpPr/>
          <p:nvPr/>
        </p:nvSpPr>
        <p:spPr>
          <a:xfrm>
            <a:off x="548640" y="1629890"/>
            <a:ext cx="5272887" cy="1051560"/>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600" b="1">
                <a:solidFill>
                  <a:srgbClr val="CCFF00"/>
                </a:solidFill>
                <a:latin typeface="Arial Black"/>
              </a:defRPr>
            </a:pPr>
            <a:r>
              <a:rPr lang="en-US" noProof="0" dirty="0">
                <a:latin typeface="Segoe UI Black" panose="020B0A02040204020203" pitchFamily="34" charset="0"/>
                <a:ea typeface="Segoe UI Black" panose="020B0A02040204020203" pitchFamily="34" charset="0"/>
              </a:rPr>
              <a:t>66%</a:t>
            </a:r>
          </a:p>
          <a:p>
            <a:pPr algn="ctr">
              <a:defRPr sz="1400">
                <a:solidFill>
                  <a:srgbClr val="C0C0C0"/>
                </a:solidFill>
                <a:latin typeface="Arial"/>
              </a:defRPr>
            </a:pPr>
            <a:r>
              <a:rPr lang="en-US" noProof="0" dirty="0">
                <a:solidFill>
                  <a:schemeClr val="bg1"/>
                </a:solidFill>
                <a:latin typeface="Consolas" panose="020B0609020204030204" pitchFamily="49" charset="0"/>
              </a:rPr>
              <a:t>of Gen Z adopt digital wellness tools to adopt healthier lifestyles... Yet behavior rarely sticks!</a:t>
            </a:r>
          </a:p>
        </p:txBody>
      </p:sp>
      <p:sp>
        <p:nvSpPr>
          <p:cNvPr id="9" name="Rectangle 8"/>
          <p:cNvSpPr/>
          <p:nvPr/>
        </p:nvSpPr>
        <p:spPr>
          <a:xfrm>
            <a:off x="548640" y="4001628"/>
            <a:ext cx="5272887" cy="1051560"/>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600" b="1">
                <a:solidFill>
                  <a:srgbClr val="CCFF00"/>
                </a:solidFill>
                <a:latin typeface="Arial Black"/>
              </a:defRPr>
            </a:pPr>
            <a:r>
              <a:rPr lang="en-US" noProof="0" dirty="0">
                <a:latin typeface="Segoe UI Black" panose="020B0A02040204020203" pitchFamily="34" charset="0"/>
                <a:ea typeface="Segoe UI Black" panose="020B0A02040204020203" pitchFamily="34" charset="0"/>
              </a:rPr>
              <a:t>~4%</a:t>
            </a:r>
          </a:p>
          <a:p>
            <a:pPr algn="ctr">
              <a:defRPr sz="1400">
                <a:solidFill>
                  <a:srgbClr val="C0C0C0"/>
                </a:solidFill>
                <a:latin typeface="Arial"/>
              </a:defRPr>
            </a:pPr>
            <a:r>
              <a:rPr lang="en-US" noProof="0" dirty="0">
                <a:solidFill>
                  <a:schemeClr val="bg1"/>
                </a:solidFill>
                <a:latin typeface="Consolas" panose="020B0609020204030204" pitchFamily="49" charset="0"/>
              </a:rPr>
              <a:t>Avg. Day 30 retention rate in health &amp; fitness apps</a:t>
            </a:r>
          </a:p>
        </p:txBody>
      </p:sp>
      <p:sp>
        <p:nvSpPr>
          <p:cNvPr id="10" name="Rectangle 9"/>
          <p:cNvSpPr/>
          <p:nvPr/>
        </p:nvSpPr>
        <p:spPr>
          <a:xfrm>
            <a:off x="548640" y="2815759"/>
            <a:ext cx="5272887" cy="1051560"/>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defRPr sz="3600" b="1">
                <a:solidFill>
                  <a:srgbClr val="CCFF00"/>
                </a:solidFill>
                <a:latin typeface="Arial Black"/>
              </a:defRPr>
            </a:pPr>
            <a:r>
              <a:rPr lang="en-US" noProof="0" dirty="0">
                <a:latin typeface="Segoe UI Black" panose="020B0A02040204020203" pitchFamily="34" charset="0"/>
                <a:ea typeface="Segoe UI Black" panose="020B0A02040204020203" pitchFamily="34" charset="0"/>
              </a:rPr>
              <a:t>+90%</a:t>
            </a:r>
          </a:p>
          <a:p>
            <a:pPr algn="ctr">
              <a:defRPr sz="1400">
                <a:solidFill>
                  <a:srgbClr val="C0C0C0"/>
                </a:solidFill>
                <a:latin typeface="Arial"/>
              </a:defRPr>
            </a:pPr>
            <a:r>
              <a:rPr lang="en-US" noProof="0" dirty="0">
                <a:solidFill>
                  <a:schemeClr val="bg1"/>
                </a:solidFill>
                <a:latin typeface="Consolas" panose="020B0609020204030204" pitchFamily="49" charset="0"/>
              </a:rPr>
              <a:t>of people quit/fail when trying to form new habits</a:t>
            </a:r>
          </a:p>
        </p:txBody>
      </p:sp>
      <p:sp>
        <p:nvSpPr>
          <p:cNvPr id="11" name="TextBox 10"/>
          <p:cNvSpPr txBox="1"/>
          <p:nvPr/>
        </p:nvSpPr>
        <p:spPr>
          <a:xfrm>
            <a:off x="6256845" y="1725370"/>
            <a:ext cx="2592376" cy="400110"/>
          </a:xfrm>
          <a:prstGeom prst="rect">
            <a:avLst/>
          </a:prstGeom>
          <a:noFill/>
        </p:spPr>
        <p:txBody>
          <a:bodyPr wrap="none">
            <a:spAutoFit/>
          </a:bodyPr>
          <a:lstStyle/>
          <a:p>
            <a:pPr algn="l"/>
            <a:r>
              <a:rPr lang="en-US" sz="2000" b="1" noProof="0" dirty="0">
                <a:solidFill>
                  <a:srgbClr val="CCFF00"/>
                </a:solidFill>
                <a:latin typeface="Segoe UI Black" panose="020B0A02040204020203" pitchFamily="34" charset="0"/>
                <a:ea typeface="Segoe UI Black" panose="020B0A02040204020203" pitchFamily="34" charset="0"/>
              </a:rPr>
              <a:t>WHY PEOPLE FAIL?</a:t>
            </a:r>
          </a:p>
        </p:txBody>
      </p:sp>
      <p:sp>
        <p:nvSpPr>
          <p:cNvPr id="12" name="TextBox 11"/>
          <p:cNvSpPr txBox="1"/>
          <p:nvPr/>
        </p:nvSpPr>
        <p:spPr>
          <a:xfrm>
            <a:off x="6256846" y="2182570"/>
            <a:ext cx="4756430" cy="553998"/>
          </a:xfrm>
          <a:prstGeom prst="rect">
            <a:avLst/>
          </a:prstGeom>
          <a:noFill/>
        </p:spPr>
        <p:txBody>
          <a:bodyPr wrap="none">
            <a:spAutoFit/>
          </a:bodyPr>
          <a:lstStyle/>
          <a:p>
            <a:pPr marL="285750" indent="-285750">
              <a:buClr>
                <a:srgbClr val="CCFF00"/>
              </a:buClr>
              <a:buFont typeface="Wingdings" panose="05000000000000000000" pitchFamily="2" charset="2"/>
              <a:buChar char="§"/>
              <a:defRPr sz="1600" b="1">
                <a:solidFill>
                  <a:srgbClr val="FFFFFF"/>
                </a:solidFill>
                <a:latin typeface="Arial"/>
              </a:defRPr>
            </a:pPr>
            <a:r>
              <a:rPr lang="en-US" noProof="0" dirty="0">
                <a:latin typeface="Consolas" panose="020B0609020204030204" pitchFamily="49" charset="0"/>
              </a:rPr>
              <a:t>No Bridge from Content to Action</a:t>
            </a:r>
          </a:p>
          <a:p>
            <a:pPr>
              <a:buClr>
                <a:srgbClr val="CCFF00"/>
              </a:buClr>
              <a:defRPr sz="1200">
                <a:solidFill>
                  <a:srgbClr val="C0C0C0"/>
                </a:solidFill>
                <a:latin typeface="Arial"/>
              </a:defRPr>
            </a:pPr>
            <a:r>
              <a:rPr lang="en-US" sz="1400" noProof="0" dirty="0">
                <a:latin typeface="Consolas" panose="020B0609020204030204" pitchFamily="49" charset="0"/>
              </a:rPr>
              <a:t>   Videos inspire but offer no execution tool</a:t>
            </a:r>
          </a:p>
        </p:txBody>
      </p:sp>
      <p:sp>
        <p:nvSpPr>
          <p:cNvPr id="13" name="TextBox 12"/>
          <p:cNvSpPr txBox="1"/>
          <p:nvPr/>
        </p:nvSpPr>
        <p:spPr>
          <a:xfrm>
            <a:off x="6256846" y="2844859"/>
            <a:ext cx="5537049" cy="584775"/>
          </a:xfrm>
          <a:prstGeom prst="rect">
            <a:avLst/>
          </a:prstGeom>
          <a:noFill/>
        </p:spPr>
        <p:txBody>
          <a:bodyPr wrap="square">
            <a:spAutoFit/>
          </a:bodyPr>
          <a:lstStyle/>
          <a:p>
            <a:pPr marL="285750" indent="-285750">
              <a:buClr>
                <a:srgbClr val="CCFF00"/>
              </a:buClr>
              <a:buFont typeface="Wingdings" panose="05000000000000000000" pitchFamily="2" charset="2"/>
              <a:buChar char="§"/>
              <a:defRPr sz="1600" b="1">
                <a:solidFill>
                  <a:srgbClr val="FFFFFF"/>
                </a:solidFill>
                <a:latin typeface="Arial"/>
              </a:defRPr>
            </a:pPr>
            <a:r>
              <a:rPr lang="en-US" noProof="0" dirty="0">
                <a:latin typeface="Consolas" panose="020B0609020204030204" pitchFamily="49" charset="0"/>
              </a:rPr>
              <a:t>Blank Slate Paralysis</a:t>
            </a:r>
          </a:p>
          <a:p>
            <a:pPr>
              <a:buClr>
                <a:srgbClr val="CCFF00"/>
              </a:buClr>
              <a:defRPr sz="1200">
                <a:solidFill>
                  <a:srgbClr val="C0C0C0"/>
                </a:solidFill>
                <a:latin typeface="Arial"/>
              </a:defRPr>
            </a:pPr>
            <a:r>
              <a:rPr lang="en-US" sz="1600" noProof="0" dirty="0">
                <a:latin typeface="Consolas" panose="020B0609020204030204" pitchFamily="49" charset="0"/>
              </a:rPr>
              <a:t>  </a:t>
            </a:r>
            <a:r>
              <a:rPr lang="en-US" sz="1200" noProof="0" dirty="0">
                <a:latin typeface="Consolas" panose="020B0609020204030204" pitchFamily="49" charset="0"/>
              </a:rPr>
              <a:t> </a:t>
            </a:r>
            <a:r>
              <a:rPr lang="en-US" sz="1400" noProof="0" dirty="0">
                <a:latin typeface="Consolas" panose="020B0609020204030204" pitchFamily="49" charset="0"/>
              </a:rPr>
              <a:t>Users don’t know what habits to track or how many</a:t>
            </a:r>
          </a:p>
        </p:txBody>
      </p:sp>
      <p:sp>
        <p:nvSpPr>
          <p:cNvPr id="15" name="TextBox 14"/>
          <p:cNvSpPr txBox="1"/>
          <p:nvPr/>
        </p:nvSpPr>
        <p:spPr>
          <a:xfrm>
            <a:off x="6256845" y="3537925"/>
            <a:ext cx="5243978" cy="553998"/>
          </a:xfrm>
          <a:prstGeom prst="rect">
            <a:avLst/>
          </a:prstGeom>
          <a:noFill/>
        </p:spPr>
        <p:txBody>
          <a:bodyPr wrap="square">
            <a:spAutoFit/>
          </a:bodyPr>
          <a:lstStyle/>
          <a:p>
            <a:pPr marL="285750" indent="-285750">
              <a:buClr>
                <a:srgbClr val="CCFF00"/>
              </a:buClr>
              <a:buFont typeface="Wingdings" panose="05000000000000000000" pitchFamily="2" charset="2"/>
              <a:buChar char="§"/>
              <a:defRPr sz="1600" b="1">
                <a:solidFill>
                  <a:srgbClr val="FFFFFF"/>
                </a:solidFill>
                <a:latin typeface="Arial"/>
              </a:defRPr>
            </a:pPr>
            <a:r>
              <a:rPr lang="en-US" noProof="0" dirty="0">
                <a:latin typeface="Consolas" panose="020B0609020204030204" pitchFamily="49" charset="0"/>
              </a:rPr>
              <a:t>Streak Anxiety</a:t>
            </a:r>
          </a:p>
          <a:p>
            <a:pPr>
              <a:buClr>
                <a:srgbClr val="CCFF00"/>
              </a:buClr>
              <a:defRPr sz="1200">
                <a:solidFill>
                  <a:srgbClr val="C0C0C0"/>
                </a:solidFill>
                <a:latin typeface="Arial"/>
              </a:defRPr>
            </a:pPr>
            <a:r>
              <a:rPr lang="en-US" sz="1400" noProof="0" dirty="0">
                <a:latin typeface="Consolas" panose="020B0609020204030204" pitchFamily="49" charset="0"/>
              </a:rPr>
              <a:t>   One miss = total abandonment</a:t>
            </a:r>
          </a:p>
        </p:txBody>
      </p:sp>
      <p:grpSp>
        <p:nvGrpSpPr>
          <p:cNvPr id="2" name="Group 1">
            <a:extLst>
              <a:ext uri="{FF2B5EF4-FFF2-40B4-BE49-F238E27FC236}">
                <a16:creationId xmlns:a16="http://schemas.microsoft.com/office/drawing/2014/main" id="{B6CBC3D3-C632-2390-E861-3BE7C2050039}"/>
              </a:ext>
            </a:extLst>
          </p:cNvPr>
          <p:cNvGrpSpPr/>
          <p:nvPr/>
        </p:nvGrpSpPr>
        <p:grpSpPr>
          <a:xfrm>
            <a:off x="548640" y="5290191"/>
            <a:ext cx="11094415" cy="645006"/>
            <a:chOff x="548640" y="5270941"/>
            <a:chExt cx="11094415" cy="645006"/>
          </a:xfrm>
        </p:grpSpPr>
        <p:sp>
          <p:nvSpPr>
            <p:cNvPr id="16" name="Rectangle 15"/>
            <p:cNvSpPr/>
            <p:nvPr/>
          </p:nvSpPr>
          <p:spPr>
            <a:xfrm>
              <a:off x="548640" y="5270941"/>
              <a:ext cx="11094415" cy="645006"/>
            </a:xfrm>
            <a:prstGeom prst="rect">
              <a:avLst/>
            </a:prstGeom>
            <a:solidFill>
              <a:srgbClr val="00000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7" name="TextBox 16"/>
            <p:cNvSpPr txBox="1"/>
            <p:nvPr/>
          </p:nvSpPr>
          <p:spPr>
            <a:xfrm>
              <a:off x="731520" y="5393389"/>
              <a:ext cx="2030730" cy="400110"/>
            </a:xfrm>
            <a:prstGeom prst="rect">
              <a:avLst/>
            </a:prstGeom>
            <a:noFill/>
          </p:spPr>
          <p:txBody>
            <a:bodyPr wrap="square">
              <a:spAutoFit/>
            </a:bodyPr>
            <a:lstStyle/>
            <a:p>
              <a:pPr algn="l"/>
              <a:r>
                <a:rPr lang="en-US" sz="2000" b="1" noProof="0" dirty="0">
                  <a:solidFill>
                    <a:srgbClr val="A78BFA"/>
                  </a:solidFill>
                  <a:latin typeface="Consolas"/>
                </a:rPr>
                <a:t>// Mission</a:t>
              </a:r>
            </a:p>
          </p:txBody>
        </p:sp>
        <p:sp>
          <p:nvSpPr>
            <p:cNvPr id="18" name="TextBox 17"/>
            <p:cNvSpPr txBox="1"/>
            <p:nvPr/>
          </p:nvSpPr>
          <p:spPr>
            <a:xfrm>
              <a:off x="2589196" y="5301057"/>
              <a:ext cx="8870980" cy="584775"/>
            </a:xfrm>
            <a:prstGeom prst="rect">
              <a:avLst/>
            </a:prstGeom>
            <a:noFill/>
          </p:spPr>
          <p:txBody>
            <a:bodyPr wrap="square">
              <a:spAutoFit/>
            </a:bodyPr>
            <a:lstStyle/>
            <a:p>
              <a:pPr algn="l"/>
              <a:r>
                <a:rPr lang="en-US" sz="1600" b="1" noProof="0" dirty="0">
                  <a:solidFill>
                    <a:srgbClr val="FFFFFF"/>
                  </a:solidFill>
                  <a:latin typeface="Consolas" panose="020B0609020204030204" pitchFamily="49" charset="0"/>
                </a:rPr>
                <a:t>Help people turn </a:t>
              </a:r>
              <a:r>
                <a:rPr lang="en-US" sz="1600" b="1" noProof="0" dirty="0">
                  <a:solidFill>
                    <a:srgbClr val="A78BFA"/>
                  </a:solidFill>
                  <a:latin typeface="Consolas" panose="020B0609020204030204" pitchFamily="49" charset="0"/>
                </a:rPr>
                <a:t>routine inspiration</a:t>
              </a:r>
              <a:r>
                <a:rPr lang="en-US" sz="1600" b="1" noProof="0" dirty="0">
                  <a:solidFill>
                    <a:srgbClr val="FFFFFF"/>
                  </a:solidFill>
                  <a:latin typeface="Consolas" panose="020B0609020204030204" pitchFamily="49" charset="0"/>
                </a:rPr>
                <a:t> into </a:t>
              </a:r>
              <a:r>
                <a:rPr lang="en-US" sz="1600" b="1" noProof="0" dirty="0">
                  <a:solidFill>
                    <a:srgbClr val="A78BFA"/>
                  </a:solidFill>
                  <a:latin typeface="Consolas" panose="020B0609020204030204" pitchFamily="49" charset="0"/>
                </a:rPr>
                <a:t>routine execution</a:t>
              </a:r>
              <a:r>
                <a:rPr lang="en-US" sz="1600" b="1" noProof="0" dirty="0">
                  <a:solidFill>
                    <a:srgbClr val="FFFFFF"/>
                  </a:solidFill>
                  <a:latin typeface="Consolas" panose="020B0609020204030204" pitchFamily="49" charset="0"/>
                </a:rPr>
                <a:t>, so they can </a:t>
              </a:r>
              <a:r>
                <a:rPr lang="en-US" sz="1600" b="1" noProof="0" dirty="0">
                  <a:solidFill>
                    <a:srgbClr val="A78BFA"/>
                  </a:solidFill>
                  <a:latin typeface="Consolas" panose="020B0609020204030204" pitchFamily="49" charset="0"/>
                </a:rPr>
                <a:t>become</a:t>
              </a:r>
              <a:r>
                <a:rPr lang="en-US" sz="1600" b="1" noProof="0" dirty="0">
                  <a:solidFill>
                    <a:srgbClr val="FFFFFF"/>
                  </a:solidFill>
                  <a:latin typeface="Consolas" panose="020B0609020204030204" pitchFamily="49" charset="0"/>
                </a:rPr>
                <a:t> their best selves and </a:t>
              </a:r>
              <a:r>
                <a:rPr lang="en-US" sz="1600" b="1" noProof="0" dirty="0">
                  <a:solidFill>
                    <a:srgbClr val="A78BFA"/>
                  </a:solidFill>
                  <a:latin typeface="Consolas" panose="020B0609020204030204" pitchFamily="49" charset="0"/>
                </a:rPr>
                <a:t>truly reach </a:t>
              </a:r>
              <a:r>
                <a:rPr lang="en-US" sz="1600" b="1" noProof="0" dirty="0">
                  <a:solidFill>
                    <a:srgbClr val="FFFFFF"/>
                  </a:solidFill>
                  <a:latin typeface="Consolas" panose="020B0609020204030204" pitchFamily="49" charset="0"/>
                </a:rPr>
                <a:t>their goals</a:t>
              </a:r>
            </a:p>
          </p:txBody>
        </p:sp>
      </p:grpSp>
      <p:sp>
        <p:nvSpPr>
          <p:cNvPr id="19" name="TextBox 18"/>
          <p:cNvSpPr txBox="1"/>
          <p:nvPr/>
        </p:nvSpPr>
        <p:spPr>
          <a:xfrm>
            <a:off x="548641" y="6172200"/>
            <a:ext cx="11089842" cy="461665"/>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r>
              <a:rPr lang="en-US" b="0" noProof="0" dirty="0">
                <a:solidFill>
                  <a:schemeClr val="bg1"/>
                </a:solidFill>
              </a:rPr>
              <a:t>Source: </a:t>
            </a:r>
            <a:r>
              <a:rPr lang="en-US" b="0" noProof="0" dirty="0">
                <a:solidFill>
                  <a:schemeClr val="bg1"/>
                </a:solidFill>
                <a:hlinkClick r:id="rId7">
                  <a:extLst>
                    <a:ext uri="{A12FA001-AC4F-418D-AE19-62706E023703}">
                      <ahyp:hlinkClr xmlns:ahyp="http://schemas.microsoft.com/office/drawing/2018/hyperlinkcolor" val="tx"/>
                    </a:ext>
                  </a:extLst>
                </a:hlinkClick>
              </a:rPr>
              <a:t>The $2 trillion global wellness market gets a millennial and Gen Z glow-up - McKinsey &amp; Company</a:t>
            </a:r>
            <a:r>
              <a:rPr lang="en-US" b="0" noProof="0" dirty="0">
                <a:solidFill>
                  <a:schemeClr val="bg1"/>
                </a:solidFill>
              </a:rPr>
              <a:t>; </a:t>
            </a:r>
            <a:r>
              <a:rPr lang="en-US" b="0" noProof="0" dirty="0">
                <a:solidFill>
                  <a:schemeClr val="bg1"/>
                </a:solidFill>
                <a:hlinkClick r:id="rId8">
                  <a:extLst>
                    <a:ext uri="{A12FA001-AC4F-418D-AE19-62706E023703}">
                      <ahyp:hlinkClr xmlns:ahyp="http://schemas.microsoft.com/office/drawing/2018/hyperlinkcolor" val="tx"/>
                    </a:ext>
                  </a:extLst>
                </a:hlinkClick>
              </a:rPr>
              <a:t>Retention Rates for Mobile Apps by Industry - Plotline</a:t>
            </a:r>
            <a:r>
              <a:rPr lang="en-US" b="0" noProof="0" dirty="0">
                <a:solidFill>
                  <a:schemeClr val="bg1"/>
                </a:solidFill>
              </a:rPr>
              <a:t>; </a:t>
            </a:r>
            <a:r>
              <a:rPr lang="en-US" b="0" noProof="0" dirty="0">
                <a:solidFill>
                  <a:schemeClr val="bg1"/>
                </a:solidFill>
                <a:hlinkClick r:id="rId9">
                  <a:extLst>
                    <a:ext uri="{A12FA001-AC4F-418D-AE19-62706E023703}">
                      <ahyp:hlinkClr xmlns:ahyp="http://schemas.microsoft.com/office/drawing/2018/hyperlinkcolor" val="tx"/>
                    </a:ext>
                  </a:extLst>
                </a:hlinkClick>
              </a:rPr>
              <a:t>Only 10% of people who try to create a habit achieve their goal - Summa Magazine</a:t>
            </a:r>
            <a:endParaRPr lang="en-US" b="0" noProof="0" dirty="0">
              <a:solidFill>
                <a:schemeClr val="bg1"/>
              </a:solidFill>
            </a:endParaRPr>
          </a:p>
        </p:txBody>
      </p:sp>
      <p:sp>
        <p:nvSpPr>
          <p:cNvPr id="32" name="TextBox 31">
            <a:extLst>
              <a:ext uri="{FF2B5EF4-FFF2-40B4-BE49-F238E27FC236}">
                <a16:creationId xmlns:a16="http://schemas.microsoft.com/office/drawing/2014/main" id="{04EA9FC4-83D3-1511-8055-E11F6967EBFF}"/>
              </a:ext>
            </a:extLst>
          </p:cNvPr>
          <p:cNvSpPr txBox="1"/>
          <p:nvPr/>
        </p:nvSpPr>
        <p:spPr>
          <a:xfrm>
            <a:off x="11687362" y="6356866"/>
            <a:ext cx="274320"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r>
              <a:rPr lang="en-US" b="0" noProof="0" dirty="0"/>
              <a:t>3</a:t>
            </a:r>
          </a:p>
        </p:txBody>
      </p:sp>
      <p:grpSp>
        <p:nvGrpSpPr>
          <p:cNvPr id="46" name="Group 45">
            <a:extLst>
              <a:ext uri="{FF2B5EF4-FFF2-40B4-BE49-F238E27FC236}">
                <a16:creationId xmlns:a16="http://schemas.microsoft.com/office/drawing/2014/main" id="{439E0D9A-0795-7FAE-77EE-5767697F6B99}"/>
              </a:ext>
            </a:extLst>
          </p:cNvPr>
          <p:cNvGrpSpPr/>
          <p:nvPr/>
        </p:nvGrpSpPr>
        <p:grpSpPr>
          <a:xfrm>
            <a:off x="11321601" y="320040"/>
            <a:ext cx="640080" cy="640080"/>
            <a:chOff x="11094415" y="320040"/>
            <a:chExt cx="640080" cy="640080"/>
          </a:xfrm>
        </p:grpSpPr>
        <p:sp>
          <p:nvSpPr>
            <p:cNvPr id="47" name="Rounded Rectangle 1">
              <a:extLst>
                <a:ext uri="{FF2B5EF4-FFF2-40B4-BE49-F238E27FC236}">
                  <a16:creationId xmlns:a16="http://schemas.microsoft.com/office/drawing/2014/main" id="{85882234-445D-FF7D-9685-B80B4A056505}"/>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8" name="Rectangle 47">
              <a:extLst>
                <a:ext uri="{FF2B5EF4-FFF2-40B4-BE49-F238E27FC236}">
                  <a16:creationId xmlns:a16="http://schemas.microsoft.com/office/drawing/2014/main" id="{16D13ADA-9677-323D-1ABA-69188338C180}"/>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9" name="Rectangle 48">
              <a:extLst>
                <a:ext uri="{FF2B5EF4-FFF2-40B4-BE49-F238E27FC236}">
                  <a16:creationId xmlns:a16="http://schemas.microsoft.com/office/drawing/2014/main" id="{84F003F3-3C84-7DFE-454F-390722507E18}"/>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0" name="Rectangle 49">
              <a:extLst>
                <a:ext uri="{FF2B5EF4-FFF2-40B4-BE49-F238E27FC236}">
                  <a16:creationId xmlns:a16="http://schemas.microsoft.com/office/drawing/2014/main" id="{2156DCAE-5CCB-77CA-C4EC-71953D7744A0}"/>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grpSp>
        <p:nvGrpSpPr>
          <p:cNvPr id="20" name="Group 19">
            <a:extLst>
              <a:ext uri="{FF2B5EF4-FFF2-40B4-BE49-F238E27FC236}">
                <a16:creationId xmlns:a16="http://schemas.microsoft.com/office/drawing/2014/main" id="{0FB4D487-BFFE-D706-89AA-EEE5A2201CA7}"/>
              </a:ext>
            </a:extLst>
          </p:cNvPr>
          <p:cNvGrpSpPr/>
          <p:nvPr/>
        </p:nvGrpSpPr>
        <p:grpSpPr>
          <a:xfrm>
            <a:off x="6256847" y="4200214"/>
            <a:ext cx="5132877" cy="765747"/>
            <a:chOff x="6256847" y="4239970"/>
            <a:chExt cx="5132877" cy="765747"/>
          </a:xfrm>
        </p:grpSpPr>
        <p:sp>
          <p:nvSpPr>
            <p:cNvPr id="14" name="TextBox 13"/>
            <p:cNvSpPr txBox="1"/>
            <p:nvPr/>
          </p:nvSpPr>
          <p:spPr>
            <a:xfrm>
              <a:off x="6256847" y="4239970"/>
              <a:ext cx="4756430" cy="553998"/>
            </a:xfrm>
            <a:prstGeom prst="rect">
              <a:avLst/>
            </a:prstGeom>
            <a:noFill/>
          </p:spPr>
          <p:txBody>
            <a:bodyPr wrap="square">
              <a:spAutoFit/>
            </a:bodyPr>
            <a:lstStyle/>
            <a:p>
              <a:pPr marL="285750" indent="-285750">
                <a:buClr>
                  <a:srgbClr val="CCFF00"/>
                </a:buClr>
                <a:buFont typeface="Wingdings" panose="05000000000000000000" pitchFamily="2" charset="2"/>
                <a:buChar char="§"/>
                <a:defRPr sz="1600" b="1">
                  <a:solidFill>
                    <a:srgbClr val="FFFFFF"/>
                  </a:solidFill>
                  <a:latin typeface="Arial"/>
                </a:defRPr>
              </a:pPr>
              <a:r>
                <a:rPr lang="en-US" noProof="0" dirty="0">
                  <a:latin typeface="Consolas" panose="020B0609020204030204" pitchFamily="49" charset="0"/>
                </a:rPr>
                <a:t>No Actionable Insights</a:t>
              </a:r>
            </a:p>
            <a:p>
              <a:pPr>
                <a:buClr>
                  <a:srgbClr val="CCFF00"/>
                </a:buClr>
                <a:defRPr sz="1200">
                  <a:solidFill>
                    <a:srgbClr val="C0C0C0"/>
                  </a:solidFill>
                  <a:latin typeface="Arial"/>
                </a:defRPr>
              </a:pPr>
              <a:r>
                <a:rPr lang="en-US" sz="1400" noProof="0" dirty="0">
                  <a:latin typeface="Consolas" panose="020B0609020204030204" pitchFamily="49" charset="0"/>
                </a:rPr>
                <a:t>   Available apps tell users WHAT they did, </a:t>
              </a:r>
            </a:p>
          </p:txBody>
        </p:sp>
        <p:sp>
          <p:nvSpPr>
            <p:cNvPr id="4" name="TextBox 3">
              <a:extLst>
                <a:ext uri="{FF2B5EF4-FFF2-40B4-BE49-F238E27FC236}">
                  <a16:creationId xmlns:a16="http://schemas.microsoft.com/office/drawing/2014/main" id="{FA4C83B4-BF84-4548-2C85-F1756168497F}"/>
                </a:ext>
              </a:extLst>
            </p:cNvPr>
            <p:cNvSpPr txBox="1"/>
            <p:nvPr/>
          </p:nvSpPr>
          <p:spPr>
            <a:xfrm>
              <a:off x="6543404" y="4697940"/>
              <a:ext cx="4846320" cy="307777"/>
            </a:xfrm>
            <a:prstGeom prst="rect">
              <a:avLst/>
            </a:prstGeom>
            <a:noFill/>
          </p:spPr>
          <p:txBody>
            <a:bodyPr wrap="square">
              <a:spAutoFit/>
            </a:bodyPr>
            <a:lstStyle/>
            <a:p>
              <a:pPr>
                <a:buClr>
                  <a:srgbClr val="CCFF00"/>
                </a:buClr>
                <a:defRPr sz="1200">
                  <a:solidFill>
                    <a:srgbClr val="C0C0C0"/>
                  </a:solidFill>
                  <a:latin typeface="Arial"/>
                </a:defRPr>
              </a:pPr>
              <a:r>
                <a:rPr lang="en-US" sz="1400" noProof="0" dirty="0">
                  <a:latin typeface="Consolas" panose="020B0609020204030204" pitchFamily="49" charset="0"/>
                </a:rPr>
                <a:t>not WHY they succeeded or failed</a:t>
              </a:r>
            </a:p>
          </p:txBody>
        </p:sp>
      </p:gr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28" name="think-cell data - do not delete" hidden="1">
            <a:extLst>
              <a:ext uri="{FF2B5EF4-FFF2-40B4-BE49-F238E27FC236}">
                <a16:creationId xmlns:a16="http://schemas.microsoft.com/office/drawing/2014/main" id="{B871383E-2BB9-8F89-F2FD-4FF8C7A7D8FE}"/>
              </a:ext>
            </a:extLst>
          </p:cNvPr>
          <p:cNvGraphicFramePr>
            <a:graphicFrameLocks noChangeAspect="1"/>
          </p:cNvGraphicFramePr>
          <p:nvPr>
            <p:custDataLst>
              <p:tags r:id="rId2"/>
            </p:custDataLst>
            <p:extLst>
              <p:ext uri="{D42A27DB-BD31-4B8C-83A1-F6EECF244321}">
                <p14:modId xmlns:p14="http://schemas.microsoft.com/office/powerpoint/2010/main" val="2568216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Box 5"/>
          <p:cNvSpPr txBox="1"/>
          <p:nvPr/>
        </p:nvSpPr>
        <p:spPr>
          <a:xfrm>
            <a:off x="548640" y="320040"/>
            <a:ext cx="1277914" cy="307777"/>
          </a:xfrm>
          <a:prstGeom prst="rect">
            <a:avLst/>
          </a:prstGeom>
          <a:noFill/>
        </p:spPr>
        <p:txBody>
          <a:bodyPr wrap="none">
            <a:spAutoFit/>
          </a:bodyPr>
          <a:lstStyle/>
          <a:p>
            <a:pPr algn="l"/>
            <a:r>
              <a:rPr lang="en-US" sz="1400" b="1" noProof="0" dirty="0">
                <a:solidFill>
                  <a:srgbClr val="A78BFA"/>
                </a:solidFill>
                <a:latin typeface="Consolas"/>
              </a:rPr>
              <a:t>// Solution</a:t>
            </a:r>
          </a:p>
        </p:txBody>
      </p:sp>
      <p:sp>
        <p:nvSpPr>
          <p:cNvPr id="7" name="TextBox 6"/>
          <p:cNvSpPr txBox="1"/>
          <p:nvPr/>
        </p:nvSpPr>
        <p:spPr>
          <a:xfrm>
            <a:off x="548640" y="640074"/>
            <a:ext cx="11413041" cy="1077218"/>
          </a:xfrm>
          <a:prstGeom prst="rect">
            <a:avLst/>
          </a:prstGeom>
          <a:noFill/>
        </p:spPr>
        <p:txBody>
          <a:bodyPr wrap="square">
            <a:spAutoFit/>
          </a:bodyPr>
          <a:lstStyle/>
          <a:p>
            <a:r>
              <a:rPr lang="en-US" sz="3200" b="1" noProof="0" dirty="0">
                <a:solidFill>
                  <a:srgbClr val="FFFFFF"/>
                </a:solidFill>
                <a:latin typeface="Segoe UI Black" panose="020B0A02040204020203" pitchFamily="34" charset="0"/>
                <a:ea typeface="Segoe UI Black" panose="020B0A02040204020203" pitchFamily="34" charset="0"/>
              </a:rPr>
              <a:t>AXIOM FORGE: A HABIT TRACKING APP BUILT ON SCIENCE, REINFORCED BY INSIGHT &amp; MINDSET PILLS </a:t>
            </a:r>
          </a:p>
        </p:txBody>
      </p:sp>
      <p:sp>
        <p:nvSpPr>
          <p:cNvPr id="8" name="Rectangle 7"/>
          <p:cNvSpPr>
            <a:spLocks/>
          </p:cNvSpPr>
          <p:nvPr/>
        </p:nvSpPr>
        <p:spPr>
          <a:xfrm>
            <a:off x="548640" y="1986168"/>
            <a:ext cx="3332378" cy="4023360"/>
          </a:xfrm>
          <a:prstGeom prst="rect">
            <a:avLst/>
          </a:prstGeom>
          <a:solidFill>
            <a:srgbClr val="0000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noProof="0" dirty="0"/>
          </a:p>
        </p:txBody>
      </p:sp>
      <p:sp>
        <p:nvSpPr>
          <p:cNvPr id="9" name="TextBox 8"/>
          <p:cNvSpPr txBox="1">
            <a:spLocks/>
          </p:cNvSpPr>
          <p:nvPr/>
        </p:nvSpPr>
        <p:spPr>
          <a:xfrm>
            <a:off x="731519" y="2169048"/>
            <a:ext cx="2966618" cy="400110"/>
          </a:xfrm>
          <a:prstGeom prst="rect">
            <a:avLst/>
          </a:prstGeom>
          <a:noFill/>
        </p:spPr>
        <p:txBody>
          <a:bodyPr wrap="none">
            <a:noAutofit/>
          </a:bodyPr>
          <a:lstStyle/>
          <a:p>
            <a:r>
              <a:rPr lang="en-US" sz="2000" b="1" noProof="0" dirty="0">
                <a:solidFill>
                  <a:schemeClr val="bg1"/>
                </a:solidFill>
                <a:latin typeface="Arial Black"/>
              </a:rPr>
              <a:t>SCIENCE-BACKED</a:t>
            </a:r>
          </a:p>
          <a:p>
            <a:r>
              <a:rPr lang="en-US" sz="2000" b="1" noProof="0" dirty="0">
                <a:solidFill>
                  <a:schemeClr val="bg1"/>
                </a:solidFill>
                <a:latin typeface="Arial Black"/>
              </a:rPr>
              <a:t>SMART ROUTINES</a:t>
            </a:r>
          </a:p>
        </p:txBody>
      </p:sp>
      <p:sp>
        <p:nvSpPr>
          <p:cNvPr id="10" name="TextBox 9"/>
          <p:cNvSpPr txBox="1">
            <a:spLocks/>
          </p:cNvSpPr>
          <p:nvPr/>
        </p:nvSpPr>
        <p:spPr>
          <a:xfrm>
            <a:off x="731519" y="3110527"/>
            <a:ext cx="3055289" cy="523220"/>
          </a:xfrm>
          <a:prstGeom prst="rect">
            <a:avLst/>
          </a:prstGeom>
          <a:noFill/>
        </p:spPr>
        <p:txBody>
          <a:bodyPr wrap="square">
            <a:spAutoFit/>
          </a:bodyPr>
          <a:lstStyle/>
          <a:p>
            <a:pPr algn="l"/>
            <a:r>
              <a:rPr lang="en-US" sz="1400" noProof="0" dirty="0">
                <a:solidFill>
                  <a:srgbClr val="C0C0C0"/>
                </a:solidFill>
                <a:latin typeface="Consolas" panose="020B0609020204030204" pitchFamily="49" charset="0"/>
              </a:rPr>
              <a:t>Evidence-based </a:t>
            </a:r>
            <a:r>
              <a:rPr lang="en-US" sz="1400" b="0" noProof="0" dirty="0">
                <a:solidFill>
                  <a:srgbClr val="C0C0C0"/>
                </a:solidFill>
                <a:latin typeface="Consolas" panose="020B0609020204030204" pitchFamily="49" charset="0"/>
              </a:rPr>
              <a:t>templates that remove blank slate paralysis</a:t>
            </a:r>
          </a:p>
        </p:txBody>
      </p:sp>
      <p:sp>
        <p:nvSpPr>
          <p:cNvPr id="11" name="TextBox 10"/>
          <p:cNvSpPr txBox="1">
            <a:spLocks/>
          </p:cNvSpPr>
          <p:nvPr/>
        </p:nvSpPr>
        <p:spPr>
          <a:xfrm>
            <a:off x="731520" y="3898297"/>
            <a:ext cx="3149498" cy="1508105"/>
          </a:xfrm>
          <a:prstGeom prst="rect">
            <a:avLst/>
          </a:prstGeom>
          <a:noFill/>
        </p:spPr>
        <p:txBody>
          <a:bodyPr wrap="square">
            <a:noAutofit/>
          </a:bodyPr>
          <a:lstStyle/>
          <a:p>
            <a:pPr marL="171450" indent="-171450" algn="l">
              <a:spcBef>
                <a:spcPts val="600"/>
              </a:spcBef>
              <a:spcAft>
                <a:spcPts val="600"/>
              </a:spcAft>
              <a:buClr>
                <a:schemeClr val="bg1"/>
              </a:buClr>
              <a:buFont typeface="Wingdings" panose="05000000000000000000" pitchFamily="2" charset="2"/>
              <a:buChar char="§"/>
              <a:defRPr sz="1200">
                <a:solidFill>
                  <a:srgbClr val="FFFFFF"/>
                </a:solidFill>
                <a:latin typeface="Arial"/>
              </a:defRPr>
            </a:pPr>
            <a:r>
              <a:rPr lang="en-US" sz="1400" noProof="0" dirty="0">
                <a:latin typeface="Consolas" panose="020B0609020204030204" pitchFamily="49" charset="0"/>
              </a:rPr>
              <a:t>Morning + evening routines</a:t>
            </a:r>
            <a:r>
              <a:rPr lang="en-US" sz="1400" baseline="30000" noProof="0" dirty="0">
                <a:latin typeface="Consolas" panose="020B0609020204030204" pitchFamily="49" charset="0"/>
              </a:rPr>
              <a:t>1</a:t>
            </a:r>
            <a:r>
              <a:rPr lang="en-US" sz="1400" noProof="0" dirty="0">
                <a:latin typeface="Consolas" panose="020B0609020204030204" pitchFamily="49" charset="0"/>
              </a:rPr>
              <a:t> ready from day one</a:t>
            </a:r>
          </a:p>
          <a:p>
            <a:pPr marL="171450" indent="-171450" algn="l">
              <a:spcBef>
                <a:spcPts val="600"/>
              </a:spcBef>
              <a:spcAft>
                <a:spcPts val="600"/>
              </a:spcAft>
              <a:buClr>
                <a:schemeClr val="bg1"/>
              </a:buClr>
              <a:buFont typeface="Wingdings" panose="05000000000000000000" pitchFamily="2" charset="2"/>
              <a:buChar char="§"/>
              <a:defRPr sz="1200">
                <a:solidFill>
                  <a:srgbClr val="FFFFFF"/>
                </a:solidFill>
                <a:latin typeface="Arial"/>
              </a:defRPr>
            </a:pPr>
            <a:r>
              <a:rPr lang="en-US" sz="1400" noProof="0" dirty="0">
                <a:latin typeface="Consolas" panose="020B0609020204030204" pitchFamily="49" charset="0"/>
              </a:rPr>
              <a:t>Structured and specific for certain goals (incl. sleep, fitness, focus)</a:t>
            </a:r>
          </a:p>
          <a:p>
            <a:pPr marL="171450" indent="-171450" algn="l">
              <a:spcBef>
                <a:spcPts val="600"/>
              </a:spcBef>
              <a:spcAft>
                <a:spcPts val="600"/>
              </a:spcAft>
              <a:buClr>
                <a:schemeClr val="bg1"/>
              </a:buClr>
              <a:buFont typeface="Wingdings" panose="05000000000000000000" pitchFamily="2" charset="2"/>
              <a:buChar char="§"/>
              <a:defRPr sz="1200">
                <a:solidFill>
                  <a:srgbClr val="FFFFFF"/>
                </a:solidFill>
                <a:latin typeface="Arial"/>
              </a:defRPr>
            </a:pPr>
            <a:r>
              <a:rPr lang="en-US" sz="1400" noProof="0" dirty="0">
                <a:latin typeface="Consolas" panose="020B0609020204030204" pitchFamily="49" charset="0"/>
              </a:rPr>
              <a:t>Designed for real schedules, not perfection</a:t>
            </a:r>
          </a:p>
        </p:txBody>
      </p:sp>
      <p:sp>
        <p:nvSpPr>
          <p:cNvPr id="12" name="Rectangle 11"/>
          <p:cNvSpPr>
            <a:spLocks/>
          </p:cNvSpPr>
          <p:nvPr/>
        </p:nvSpPr>
        <p:spPr>
          <a:xfrm>
            <a:off x="4429658" y="1986168"/>
            <a:ext cx="3332378" cy="4023360"/>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noProof="0" dirty="0"/>
          </a:p>
        </p:txBody>
      </p:sp>
      <p:sp>
        <p:nvSpPr>
          <p:cNvPr id="13" name="TextBox 12"/>
          <p:cNvSpPr txBox="1">
            <a:spLocks/>
          </p:cNvSpPr>
          <p:nvPr/>
        </p:nvSpPr>
        <p:spPr>
          <a:xfrm>
            <a:off x="4612538" y="2169048"/>
            <a:ext cx="2966618" cy="707886"/>
          </a:xfrm>
          <a:prstGeom prst="rect">
            <a:avLst/>
          </a:prstGeom>
          <a:noFill/>
        </p:spPr>
        <p:txBody>
          <a:bodyPr wrap="square">
            <a:noAutofit/>
          </a:bodyPr>
          <a:lstStyle/>
          <a:p>
            <a:r>
              <a:rPr lang="en-US" sz="2000" b="1" noProof="0" dirty="0">
                <a:solidFill>
                  <a:schemeClr val="bg1"/>
                </a:solidFill>
                <a:latin typeface="Arial Black"/>
              </a:rPr>
              <a:t>DEEP BEHAVIORAL INSIGHTS</a:t>
            </a:r>
          </a:p>
        </p:txBody>
      </p:sp>
      <p:sp>
        <p:nvSpPr>
          <p:cNvPr id="14" name="TextBox 13"/>
          <p:cNvSpPr txBox="1">
            <a:spLocks/>
          </p:cNvSpPr>
          <p:nvPr/>
        </p:nvSpPr>
        <p:spPr>
          <a:xfrm>
            <a:off x="4612538" y="2895083"/>
            <a:ext cx="2966618" cy="738664"/>
          </a:xfrm>
          <a:prstGeom prst="rect">
            <a:avLst/>
          </a:prstGeom>
          <a:noFill/>
        </p:spPr>
        <p:txBody>
          <a:bodyPr wrap="square">
            <a:spAutoFit/>
          </a:bodyPr>
          <a:lstStyle/>
          <a:p>
            <a:pPr algn="l"/>
            <a:r>
              <a:rPr lang="en-US" sz="1400" b="0" noProof="0" dirty="0">
                <a:solidFill>
                  <a:srgbClr val="C0C0C0"/>
                </a:solidFill>
                <a:latin typeface="Consolas" panose="020B0609020204030204" pitchFamily="49" charset="0"/>
              </a:rPr>
              <a:t>Patterns that explain success </a:t>
            </a:r>
            <a:r>
              <a:rPr lang="en-US" sz="1400" noProof="0" dirty="0">
                <a:solidFill>
                  <a:srgbClr val="C0C0C0"/>
                </a:solidFill>
                <a:latin typeface="Consolas" panose="020B0609020204030204" pitchFamily="49" charset="0"/>
              </a:rPr>
              <a:t>and</a:t>
            </a:r>
            <a:r>
              <a:rPr lang="en-US" sz="1400" b="0" noProof="0" dirty="0">
                <a:solidFill>
                  <a:srgbClr val="C0C0C0"/>
                </a:solidFill>
                <a:latin typeface="Consolas" panose="020B0609020204030204" pitchFamily="49" charset="0"/>
              </a:rPr>
              <a:t> failure, generated from user data</a:t>
            </a:r>
          </a:p>
        </p:txBody>
      </p:sp>
      <p:sp>
        <p:nvSpPr>
          <p:cNvPr id="15" name="TextBox 14"/>
          <p:cNvSpPr txBox="1">
            <a:spLocks/>
          </p:cNvSpPr>
          <p:nvPr/>
        </p:nvSpPr>
        <p:spPr>
          <a:xfrm>
            <a:off x="4612538" y="3898297"/>
            <a:ext cx="2966618" cy="1508105"/>
          </a:xfrm>
          <a:prstGeom prst="rect">
            <a:avLst/>
          </a:prstGeom>
          <a:noFill/>
        </p:spPr>
        <p:txBody>
          <a:bodyPr wrap="square">
            <a:noAutofit/>
          </a:bodyPr>
          <a:lstStyle/>
          <a:p>
            <a:pPr marL="171450" indent="-171450" algn="l">
              <a:spcBef>
                <a:spcPts val="600"/>
              </a:spcBef>
              <a:spcAft>
                <a:spcPts val="600"/>
              </a:spcAft>
              <a:buClr>
                <a:srgbClr val="CCFF00"/>
              </a:buClr>
              <a:buFont typeface="Wingdings" panose="05000000000000000000" pitchFamily="2" charset="2"/>
              <a:buChar char="§"/>
              <a:defRPr sz="1200">
                <a:solidFill>
                  <a:srgbClr val="FFFFFF"/>
                </a:solidFill>
                <a:latin typeface="Arial"/>
              </a:defRPr>
            </a:pPr>
            <a:r>
              <a:rPr lang="en-US" sz="1400" noProof="0" dirty="0">
                <a:latin typeface="Consolas" panose="020B0609020204030204" pitchFamily="49" charset="0"/>
              </a:rPr>
              <a:t>Correlation, weekday patterns, and trend signals</a:t>
            </a:r>
          </a:p>
          <a:p>
            <a:pPr marL="171450" indent="-171450" algn="l">
              <a:spcBef>
                <a:spcPts val="600"/>
              </a:spcBef>
              <a:spcAft>
                <a:spcPts val="600"/>
              </a:spcAft>
              <a:buClr>
                <a:srgbClr val="CCFF00"/>
              </a:buClr>
              <a:buFont typeface="Wingdings" panose="05000000000000000000" pitchFamily="2" charset="2"/>
              <a:buChar char="§"/>
              <a:defRPr sz="1200">
                <a:solidFill>
                  <a:srgbClr val="FFFFFF"/>
                </a:solidFill>
                <a:latin typeface="Arial"/>
              </a:defRPr>
            </a:pPr>
            <a:r>
              <a:rPr lang="en-US" sz="1400" noProof="0" dirty="0">
                <a:latin typeface="Consolas" panose="020B0609020204030204" pitchFamily="49" charset="0"/>
              </a:rPr>
              <a:t>Sequence analysis for "what works together"</a:t>
            </a:r>
          </a:p>
          <a:p>
            <a:pPr marL="171450" indent="-171450" algn="l">
              <a:spcBef>
                <a:spcPts val="600"/>
              </a:spcBef>
              <a:spcAft>
                <a:spcPts val="600"/>
              </a:spcAft>
              <a:buClr>
                <a:srgbClr val="CCFF00"/>
              </a:buClr>
              <a:buFont typeface="Wingdings" panose="05000000000000000000" pitchFamily="2" charset="2"/>
              <a:buChar char="§"/>
              <a:defRPr sz="1200">
                <a:solidFill>
                  <a:srgbClr val="FFFFFF"/>
                </a:solidFill>
                <a:latin typeface="Arial"/>
              </a:defRPr>
            </a:pPr>
            <a:r>
              <a:rPr lang="en-US" sz="1400" noProof="0" dirty="0">
                <a:latin typeface="Consolas" panose="020B0609020204030204" pitchFamily="49" charset="0"/>
              </a:rPr>
              <a:t>Anomalies detection, strength scores and alerts</a:t>
            </a:r>
          </a:p>
        </p:txBody>
      </p:sp>
      <p:sp>
        <p:nvSpPr>
          <p:cNvPr id="16" name="Rectangle 15"/>
          <p:cNvSpPr>
            <a:spLocks/>
          </p:cNvSpPr>
          <p:nvPr/>
        </p:nvSpPr>
        <p:spPr>
          <a:xfrm>
            <a:off x="8310676" y="1986168"/>
            <a:ext cx="3332378" cy="4023360"/>
          </a:xfrm>
          <a:prstGeom prst="rect">
            <a:avLst/>
          </a:prstGeom>
          <a:solidFill>
            <a:srgbClr val="00000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noProof="0" dirty="0">
              <a:solidFill>
                <a:schemeClr val="bg1"/>
              </a:solidFill>
            </a:endParaRPr>
          </a:p>
        </p:txBody>
      </p:sp>
      <p:sp>
        <p:nvSpPr>
          <p:cNvPr id="17" name="TextBox 16"/>
          <p:cNvSpPr txBox="1">
            <a:spLocks/>
          </p:cNvSpPr>
          <p:nvPr/>
        </p:nvSpPr>
        <p:spPr>
          <a:xfrm>
            <a:off x="8493556" y="2169048"/>
            <a:ext cx="2966618" cy="707886"/>
          </a:xfrm>
          <a:prstGeom prst="rect">
            <a:avLst/>
          </a:prstGeom>
          <a:noFill/>
        </p:spPr>
        <p:txBody>
          <a:bodyPr wrap="square">
            <a:noAutofit/>
          </a:bodyPr>
          <a:lstStyle/>
          <a:p>
            <a:r>
              <a:rPr lang="en-US" sz="2000" b="1" noProof="0" dirty="0">
                <a:solidFill>
                  <a:schemeClr val="bg1"/>
                </a:solidFill>
                <a:latin typeface="Arial Black"/>
              </a:rPr>
              <a:t>TOP PERFORMERS’ MINDSET PILLS</a:t>
            </a:r>
          </a:p>
        </p:txBody>
      </p:sp>
      <p:sp>
        <p:nvSpPr>
          <p:cNvPr id="18" name="TextBox 17"/>
          <p:cNvSpPr txBox="1">
            <a:spLocks/>
          </p:cNvSpPr>
          <p:nvPr/>
        </p:nvSpPr>
        <p:spPr>
          <a:xfrm>
            <a:off x="8493555" y="3110527"/>
            <a:ext cx="3090477" cy="523220"/>
          </a:xfrm>
          <a:prstGeom prst="rect">
            <a:avLst/>
          </a:prstGeom>
          <a:noFill/>
        </p:spPr>
        <p:txBody>
          <a:bodyPr wrap="square">
            <a:noAutofit/>
          </a:bodyPr>
          <a:lstStyle/>
          <a:p>
            <a:pPr algn="l"/>
            <a:r>
              <a:rPr lang="en-US" sz="1400" b="0" noProof="0" dirty="0">
                <a:solidFill>
                  <a:srgbClr val="C0C0C0"/>
                </a:solidFill>
                <a:latin typeface="Consolas" panose="020B0609020204030204" pitchFamily="49" charset="0"/>
              </a:rPr>
              <a:t>Daily wisdom that reinforces identity and goal focus</a:t>
            </a:r>
          </a:p>
        </p:txBody>
      </p:sp>
      <p:sp>
        <p:nvSpPr>
          <p:cNvPr id="19" name="TextBox 18"/>
          <p:cNvSpPr txBox="1">
            <a:spLocks/>
          </p:cNvSpPr>
          <p:nvPr/>
        </p:nvSpPr>
        <p:spPr>
          <a:xfrm>
            <a:off x="8493556" y="3898297"/>
            <a:ext cx="2966618" cy="1323439"/>
          </a:xfrm>
          <a:prstGeom prst="rect">
            <a:avLst/>
          </a:prstGeom>
          <a:noFill/>
        </p:spPr>
        <p:txBody>
          <a:bodyPr wrap="square">
            <a:noAutofit/>
          </a:bodyPr>
          <a:lstStyle/>
          <a:p>
            <a:pPr marL="171450" indent="-171450" algn="l">
              <a:spcBef>
                <a:spcPts val="600"/>
              </a:spcBef>
              <a:spcAft>
                <a:spcPts val="600"/>
              </a:spcAft>
              <a:buClr>
                <a:srgbClr val="A78BFA"/>
              </a:buClr>
              <a:buFont typeface="Wingdings" panose="05000000000000000000" pitchFamily="2" charset="2"/>
              <a:buChar char="§"/>
              <a:defRPr sz="1200">
                <a:solidFill>
                  <a:srgbClr val="FFFFFF"/>
                </a:solidFill>
                <a:latin typeface="Arial"/>
              </a:defRPr>
            </a:pPr>
            <a:r>
              <a:rPr lang="en-US" sz="1400" noProof="0" dirty="0">
                <a:latin typeface="Consolas" panose="020B0609020204030204" pitchFamily="49" charset="0"/>
              </a:rPr>
              <a:t>Motivational and thought-provoking daily quotes from thought leaders and top performers</a:t>
            </a:r>
          </a:p>
          <a:p>
            <a:pPr marL="171450" indent="-171450" algn="l">
              <a:spcBef>
                <a:spcPts val="600"/>
              </a:spcBef>
              <a:spcAft>
                <a:spcPts val="600"/>
              </a:spcAft>
              <a:buClr>
                <a:srgbClr val="A78BFA"/>
              </a:buClr>
              <a:buFont typeface="Wingdings" panose="05000000000000000000" pitchFamily="2" charset="2"/>
              <a:buChar char="§"/>
              <a:defRPr sz="1200">
                <a:solidFill>
                  <a:srgbClr val="FFFFFF"/>
                </a:solidFill>
                <a:latin typeface="Arial"/>
              </a:defRPr>
            </a:pPr>
            <a:r>
              <a:rPr lang="en-US" sz="1400" noProof="0" dirty="0">
                <a:latin typeface="Consolas" panose="020B0609020204030204" pitchFamily="49" charset="0"/>
              </a:rPr>
              <a:t>Reflection journaling</a:t>
            </a:r>
          </a:p>
          <a:p>
            <a:pPr marL="171450" indent="-171450" algn="l">
              <a:spcBef>
                <a:spcPts val="600"/>
              </a:spcBef>
              <a:spcAft>
                <a:spcPts val="600"/>
              </a:spcAft>
              <a:buClr>
                <a:srgbClr val="A78BFA"/>
              </a:buClr>
              <a:buFont typeface="Wingdings" panose="05000000000000000000" pitchFamily="2" charset="2"/>
              <a:buChar char="§"/>
              <a:defRPr sz="1200">
                <a:solidFill>
                  <a:srgbClr val="FFFFFF"/>
                </a:solidFill>
                <a:latin typeface="Arial"/>
              </a:defRPr>
            </a:pPr>
            <a:r>
              <a:rPr lang="en-US" sz="1400" noProof="0" dirty="0">
                <a:latin typeface="Consolas" panose="020B0609020204030204" pitchFamily="49" charset="0"/>
              </a:rPr>
              <a:t>Rating &amp; archive history</a:t>
            </a:r>
          </a:p>
        </p:txBody>
      </p:sp>
      <p:cxnSp>
        <p:nvCxnSpPr>
          <p:cNvPr id="21" name="Straight Connector 20">
            <a:extLst>
              <a:ext uri="{FF2B5EF4-FFF2-40B4-BE49-F238E27FC236}">
                <a16:creationId xmlns:a16="http://schemas.microsoft.com/office/drawing/2014/main" id="{B4ECE571-60CD-DE31-2262-09BCA5982B9E}"/>
              </a:ext>
            </a:extLst>
          </p:cNvPr>
          <p:cNvCxnSpPr>
            <a:cxnSpLocks/>
          </p:cNvCxnSpPr>
          <p:nvPr/>
        </p:nvCxnSpPr>
        <p:spPr>
          <a:xfrm>
            <a:off x="828226" y="3726218"/>
            <a:ext cx="283464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727B439-770D-30F3-33B1-30F3A96EFF0C}"/>
              </a:ext>
            </a:extLst>
          </p:cNvPr>
          <p:cNvCxnSpPr>
            <a:cxnSpLocks/>
          </p:cNvCxnSpPr>
          <p:nvPr/>
        </p:nvCxnSpPr>
        <p:spPr>
          <a:xfrm>
            <a:off x="4688210" y="3726218"/>
            <a:ext cx="279586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89AF238-B177-CE08-FA67-1F4437C9B245}"/>
              </a:ext>
            </a:extLst>
          </p:cNvPr>
          <p:cNvCxnSpPr>
            <a:cxnSpLocks/>
          </p:cNvCxnSpPr>
          <p:nvPr/>
        </p:nvCxnSpPr>
        <p:spPr>
          <a:xfrm>
            <a:off x="8583685" y="3726218"/>
            <a:ext cx="283464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60689380-E28E-BE43-EFEF-BD16BDA0E5D9}"/>
              </a:ext>
            </a:extLst>
          </p:cNvPr>
          <p:cNvSpPr txBox="1"/>
          <p:nvPr/>
        </p:nvSpPr>
        <p:spPr>
          <a:xfrm>
            <a:off x="11687362" y="6356866"/>
            <a:ext cx="274320"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r>
              <a:rPr lang="en-US" b="0" noProof="0" dirty="0"/>
              <a:t>4</a:t>
            </a:r>
          </a:p>
        </p:txBody>
      </p:sp>
      <p:grpSp>
        <p:nvGrpSpPr>
          <p:cNvPr id="33" name="Group 32">
            <a:extLst>
              <a:ext uri="{FF2B5EF4-FFF2-40B4-BE49-F238E27FC236}">
                <a16:creationId xmlns:a16="http://schemas.microsoft.com/office/drawing/2014/main" id="{B44CE10B-4C8C-0C25-2875-DCA70A4B2D81}"/>
              </a:ext>
            </a:extLst>
          </p:cNvPr>
          <p:cNvGrpSpPr/>
          <p:nvPr/>
        </p:nvGrpSpPr>
        <p:grpSpPr>
          <a:xfrm>
            <a:off x="11321601" y="320040"/>
            <a:ext cx="640080" cy="640080"/>
            <a:chOff x="11094415" y="320040"/>
            <a:chExt cx="640080" cy="640080"/>
          </a:xfrm>
        </p:grpSpPr>
        <p:sp>
          <p:nvSpPr>
            <p:cNvPr id="34" name="Rounded Rectangle 1">
              <a:extLst>
                <a:ext uri="{FF2B5EF4-FFF2-40B4-BE49-F238E27FC236}">
                  <a16:creationId xmlns:a16="http://schemas.microsoft.com/office/drawing/2014/main" id="{28A90ADC-449A-4E40-264D-B047FB576540}"/>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8282DC7D-B675-8399-F654-C9EF65EE0FCD}"/>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6" name="Rectangle 35">
              <a:extLst>
                <a:ext uri="{FF2B5EF4-FFF2-40B4-BE49-F238E27FC236}">
                  <a16:creationId xmlns:a16="http://schemas.microsoft.com/office/drawing/2014/main" id="{A106AB74-6899-F52F-93BB-C03A0C57241E}"/>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7" name="Rectangle 36">
              <a:extLst>
                <a:ext uri="{FF2B5EF4-FFF2-40B4-BE49-F238E27FC236}">
                  <a16:creationId xmlns:a16="http://schemas.microsoft.com/office/drawing/2014/main" id="{293D8DBB-1830-B79C-5887-79D5B3057313}"/>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2" name="TextBox 1">
            <a:extLst>
              <a:ext uri="{FF2B5EF4-FFF2-40B4-BE49-F238E27FC236}">
                <a16:creationId xmlns:a16="http://schemas.microsoft.com/office/drawing/2014/main" id="{74B54D44-5C33-B7A4-E7C7-2968999ED0D8}"/>
              </a:ext>
            </a:extLst>
          </p:cNvPr>
          <p:cNvSpPr txBox="1"/>
          <p:nvPr/>
        </p:nvSpPr>
        <p:spPr>
          <a:xfrm>
            <a:off x="548640" y="6356866"/>
            <a:ext cx="10634643" cy="276999"/>
          </a:xfrm>
          <a:prstGeom prst="rect">
            <a:avLst/>
          </a:prstGeom>
          <a:noFill/>
        </p:spPr>
        <p:txBody>
          <a:bodyPr wrap="none">
            <a:spAutoFit/>
          </a:bodyPr>
          <a:lstStyle/>
          <a:p>
            <a:r>
              <a:rPr lang="en-US" sz="1200" b="0" noProof="0" dirty="0">
                <a:solidFill>
                  <a:srgbClr val="FFFFFF"/>
                </a:solidFill>
                <a:latin typeface="Consolas" panose="020B0609020204030204" pitchFamily="49" charset="0"/>
              </a:rPr>
              <a:t>1. Each routine is composed by 5 morning habits and 5 evening habits, </a:t>
            </a:r>
            <a:r>
              <a:rPr lang="en-US" sz="1200" dirty="0">
                <a:solidFill>
                  <a:srgbClr val="FFFFFF"/>
                </a:solidFill>
                <a:latin typeface="Consolas" panose="020B0609020204030204" pitchFamily="49" charset="0"/>
              </a:rPr>
              <a:t>with directly accessible scientific </a:t>
            </a:r>
            <a:r>
              <a:rPr lang="en-US" sz="1200" b="0" noProof="0" dirty="0">
                <a:solidFill>
                  <a:srgbClr val="FFFFFF"/>
                </a:solidFill>
                <a:latin typeface="Consolas" panose="020B0609020204030204" pitchFamily="49" charset="0"/>
              </a:rPr>
              <a:t>basis and sources</a:t>
            </a:r>
            <a:endParaRPr lang="en-US" sz="1200" b="0" noProof="0" dirty="0">
              <a:solidFill>
                <a:schemeClr val="bg1"/>
              </a:solidFill>
              <a:latin typeface="Consolas" panose="020B0609020204030204" pitchFamily="49"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61" name="think-cell data - do not delete" hidden="1">
            <a:extLst>
              <a:ext uri="{FF2B5EF4-FFF2-40B4-BE49-F238E27FC236}">
                <a16:creationId xmlns:a16="http://schemas.microsoft.com/office/drawing/2014/main" id="{8FA40B29-3531-AAB3-DB09-142DB70F58D2}"/>
              </a:ext>
            </a:extLst>
          </p:cNvPr>
          <p:cNvGraphicFramePr>
            <a:graphicFrameLocks noChangeAspect="1"/>
          </p:cNvGraphicFramePr>
          <p:nvPr>
            <p:custDataLst>
              <p:tags r:id="rId2"/>
            </p:custDataLst>
            <p:extLst>
              <p:ext uri="{D42A27DB-BD31-4B8C-83A1-F6EECF244321}">
                <p14:modId xmlns:p14="http://schemas.microsoft.com/office/powerpoint/2010/main" val="34779437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Box 5"/>
          <p:cNvSpPr txBox="1"/>
          <p:nvPr/>
        </p:nvSpPr>
        <p:spPr>
          <a:xfrm>
            <a:off x="548640" y="320040"/>
            <a:ext cx="1079142" cy="307777"/>
          </a:xfrm>
          <a:prstGeom prst="rect">
            <a:avLst/>
          </a:prstGeom>
          <a:noFill/>
        </p:spPr>
        <p:txBody>
          <a:bodyPr wrap="none">
            <a:spAutoFit/>
          </a:bodyPr>
          <a:lstStyle/>
          <a:p>
            <a:pPr algn="l"/>
            <a:r>
              <a:rPr lang="en-US" sz="1400" b="1" noProof="0" dirty="0">
                <a:solidFill>
                  <a:srgbClr val="A78BFA"/>
                </a:solidFill>
                <a:latin typeface="Consolas"/>
              </a:rPr>
              <a:t>// Market</a:t>
            </a:r>
          </a:p>
        </p:txBody>
      </p:sp>
      <p:sp>
        <p:nvSpPr>
          <p:cNvPr id="7" name="TextBox 6"/>
          <p:cNvSpPr txBox="1"/>
          <p:nvPr/>
        </p:nvSpPr>
        <p:spPr>
          <a:xfrm>
            <a:off x="548640" y="640074"/>
            <a:ext cx="10372953" cy="1077218"/>
          </a:xfrm>
          <a:prstGeom prst="rect">
            <a:avLst/>
          </a:prstGeom>
          <a:noFill/>
        </p:spPr>
        <p:txBody>
          <a:bodyPr wrap="square">
            <a:spAutoFit/>
          </a:bodyPr>
          <a:lstStyle/>
          <a:p>
            <a:pPr algn="l"/>
            <a:r>
              <a:rPr lang="en-US" sz="3200" b="1" noProof="0" dirty="0">
                <a:solidFill>
                  <a:srgbClr val="FFFFFF"/>
                </a:solidFill>
                <a:latin typeface="Segoe UI Black" panose="020B0A02040204020203" pitchFamily="34" charset="0"/>
                <a:ea typeface="Segoe UI Black" panose="020B0A02040204020203" pitchFamily="34" charset="0"/>
              </a:rPr>
              <a:t>AXIOM FORGE TAPS INTO THE RAPIDLY- GROWING HABIT TRACKING APP MARKET</a:t>
            </a:r>
          </a:p>
        </p:txBody>
      </p:sp>
      <p:sp>
        <p:nvSpPr>
          <p:cNvPr id="8" name="Rectangle 7"/>
          <p:cNvSpPr/>
          <p:nvPr/>
        </p:nvSpPr>
        <p:spPr>
          <a:xfrm>
            <a:off x="548640" y="1964663"/>
            <a:ext cx="6656649" cy="4199528"/>
          </a:xfrm>
          <a:prstGeom prst="rect">
            <a:avLst/>
          </a:prstGeom>
          <a:solidFill>
            <a:srgbClr val="0000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TextBox 8"/>
          <p:cNvSpPr txBox="1"/>
          <p:nvPr/>
        </p:nvSpPr>
        <p:spPr>
          <a:xfrm>
            <a:off x="731520" y="2110766"/>
            <a:ext cx="5306261" cy="338554"/>
          </a:xfrm>
          <a:prstGeom prst="rect">
            <a:avLst/>
          </a:prstGeom>
          <a:noFill/>
        </p:spPr>
        <p:txBody>
          <a:bodyPr wrap="none">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GLOBAL HABIT TRACKING APP MARKET (USD B)</a:t>
            </a:r>
          </a:p>
        </p:txBody>
      </p:sp>
      <p:sp>
        <p:nvSpPr>
          <p:cNvPr id="10" name="Rectangle 9"/>
          <p:cNvSpPr/>
          <p:nvPr/>
        </p:nvSpPr>
        <p:spPr>
          <a:xfrm>
            <a:off x="1005840" y="5036626"/>
            <a:ext cx="261011" cy="68580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11" name="TextBox 10"/>
          <p:cNvSpPr txBox="1"/>
          <p:nvPr/>
        </p:nvSpPr>
        <p:spPr>
          <a:xfrm>
            <a:off x="898194" y="4808026"/>
            <a:ext cx="476302" cy="246221"/>
          </a:xfrm>
          <a:prstGeom prst="rect">
            <a:avLst/>
          </a:prstGeom>
          <a:noFill/>
        </p:spPr>
        <p:txBody>
          <a:bodyPr wrap="square">
            <a:spAutoFit/>
          </a:bodyPr>
          <a:lstStyle/>
          <a:p>
            <a:pPr algn="ctr"/>
            <a:r>
              <a:rPr lang="en-US" sz="1000" b="1" noProof="0" dirty="0">
                <a:solidFill>
                  <a:srgbClr val="CCFF00"/>
                </a:solidFill>
                <a:latin typeface="Consolas" panose="020B0609020204030204" pitchFamily="49" charset="0"/>
              </a:rPr>
              <a:t>13.1</a:t>
            </a:r>
          </a:p>
        </p:txBody>
      </p:sp>
      <p:sp>
        <p:nvSpPr>
          <p:cNvPr id="12" name="TextBox 11"/>
          <p:cNvSpPr txBox="1"/>
          <p:nvPr/>
        </p:nvSpPr>
        <p:spPr>
          <a:xfrm>
            <a:off x="915772"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2025</a:t>
            </a:r>
          </a:p>
        </p:txBody>
      </p:sp>
      <p:sp>
        <p:nvSpPr>
          <p:cNvPr id="13" name="Rectangle 12"/>
          <p:cNvSpPr/>
          <p:nvPr/>
        </p:nvSpPr>
        <p:spPr>
          <a:xfrm>
            <a:off x="1527862" y="4844602"/>
            <a:ext cx="261011" cy="877824"/>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14" name="TextBox 13"/>
          <p:cNvSpPr txBox="1"/>
          <p:nvPr/>
        </p:nvSpPr>
        <p:spPr>
          <a:xfrm>
            <a:off x="1424970" y="4616002"/>
            <a:ext cx="466794" cy="246221"/>
          </a:xfrm>
          <a:prstGeom prst="rect">
            <a:avLst/>
          </a:prstGeom>
          <a:noFill/>
        </p:spPr>
        <p:txBody>
          <a:bodyPr wrap="none">
            <a:spAutoFit/>
          </a:bodyPr>
          <a:lstStyle/>
          <a:p>
            <a:pPr algn="ctr"/>
            <a:r>
              <a:rPr lang="en-US" sz="1000" b="1" noProof="0" dirty="0">
                <a:solidFill>
                  <a:srgbClr val="CCFF00"/>
                </a:solidFill>
                <a:latin typeface="Consolas" panose="020B0609020204030204" pitchFamily="49" charset="0"/>
              </a:rPr>
              <a:t>14.9</a:t>
            </a:r>
          </a:p>
        </p:txBody>
      </p:sp>
      <p:sp>
        <p:nvSpPr>
          <p:cNvPr id="15" name="TextBox 14"/>
          <p:cNvSpPr txBox="1"/>
          <p:nvPr/>
        </p:nvSpPr>
        <p:spPr>
          <a:xfrm>
            <a:off x="1437795"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2026</a:t>
            </a:r>
          </a:p>
        </p:txBody>
      </p:sp>
      <p:sp>
        <p:nvSpPr>
          <p:cNvPr id="16" name="Rectangle 15"/>
          <p:cNvSpPr/>
          <p:nvPr/>
        </p:nvSpPr>
        <p:spPr>
          <a:xfrm>
            <a:off x="2049885" y="4680010"/>
            <a:ext cx="261011" cy="1042416"/>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17" name="TextBox 16"/>
          <p:cNvSpPr txBox="1"/>
          <p:nvPr/>
        </p:nvSpPr>
        <p:spPr>
          <a:xfrm>
            <a:off x="1946993" y="4451410"/>
            <a:ext cx="466794" cy="246221"/>
          </a:xfrm>
          <a:prstGeom prst="rect">
            <a:avLst/>
          </a:prstGeom>
          <a:noFill/>
        </p:spPr>
        <p:txBody>
          <a:bodyPr wrap="none">
            <a:spAutoFit/>
          </a:bodyPr>
          <a:lstStyle/>
          <a:p>
            <a:pPr algn="ctr"/>
            <a:r>
              <a:rPr lang="en-US" sz="1000" b="1" noProof="0" dirty="0">
                <a:solidFill>
                  <a:srgbClr val="CCFF00"/>
                </a:solidFill>
                <a:latin typeface="Consolas" panose="020B0609020204030204" pitchFamily="49" charset="0"/>
              </a:rPr>
              <a:t>17.1</a:t>
            </a:r>
          </a:p>
        </p:txBody>
      </p:sp>
      <p:sp>
        <p:nvSpPr>
          <p:cNvPr id="18" name="TextBox 17"/>
          <p:cNvSpPr txBox="1"/>
          <p:nvPr/>
        </p:nvSpPr>
        <p:spPr>
          <a:xfrm>
            <a:off x="1959818"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2027</a:t>
            </a:r>
          </a:p>
        </p:txBody>
      </p:sp>
      <p:sp>
        <p:nvSpPr>
          <p:cNvPr id="19" name="Rectangle 18"/>
          <p:cNvSpPr/>
          <p:nvPr/>
        </p:nvSpPr>
        <p:spPr>
          <a:xfrm>
            <a:off x="2571907" y="4515418"/>
            <a:ext cx="261011" cy="1207008"/>
          </a:xfrm>
          <a:prstGeom prst="rect">
            <a:avLst/>
          </a:prstGeom>
          <a:solidFill>
            <a:srgbClr val="6478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20" name="TextBox 19"/>
          <p:cNvSpPr txBox="1"/>
          <p:nvPr/>
        </p:nvSpPr>
        <p:spPr>
          <a:xfrm>
            <a:off x="2481841"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2028</a:t>
            </a:r>
          </a:p>
        </p:txBody>
      </p:sp>
      <p:sp>
        <p:nvSpPr>
          <p:cNvPr id="21" name="Rectangle 20"/>
          <p:cNvSpPr/>
          <p:nvPr/>
        </p:nvSpPr>
        <p:spPr>
          <a:xfrm>
            <a:off x="3093930" y="4323394"/>
            <a:ext cx="261011" cy="1399032"/>
          </a:xfrm>
          <a:prstGeom prst="rect">
            <a:avLst/>
          </a:prstGeom>
          <a:solidFill>
            <a:srgbClr val="6478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22" name="TextBox 21"/>
          <p:cNvSpPr txBox="1"/>
          <p:nvPr/>
        </p:nvSpPr>
        <p:spPr>
          <a:xfrm>
            <a:off x="3003864"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2029</a:t>
            </a:r>
          </a:p>
        </p:txBody>
      </p:sp>
      <p:sp>
        <p:nvSpPr>
          <p:cNvPr id="23" name="Rectangle 22"/>
          <p:cNvSpPr/>
          <p:nvPr/>
        </p:nvSpPr>
        <p:spPr>
          <a:xfrm>
            <a:off x="3615953" y="4158802"/>
            <a:ext cx="261011" cy="1563623"/>
          </a:xfrm>
          <a:prstGeom prst="rect">
            <a:avLst/>
          </a:prstGeom>
          <a:solidFill>
            <a:srgbClr val="6478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24" name="TextBox 23"/>
          <p:cNvSpPr txBox="1"/>
          <p:nvPr/>
        </p:nvSpPr>
        <p:spPr>
          <a:xfrm>
            <a:off x="3525887"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2030</a:t>
            </a:r>
          </a:p>
        </p:txBody>
      </p:sp>
      <p:sp>
        <p:nvSpPr>
          <p:cNvPr id="25" name="Rectangle 24"/>
          <p:cNvSpPr/>
          <p:nvPr/>
        </p:nvSpPr>
        <p:spPr>
          <a:xfrm>
            <a:off x="4137975" y="3939346"/>
            <a:ext cx="261011" cy="1783080"/>
          </a:xfrm>
          <a:prstGeom prst="rect">
            <a:avLst/>
          </a:prstGeom>
          <a:solidFill>
            <a:srgbClr val="6478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26" name="TextBox 25"/>
          <p:cNvSpPr txBox="1"/>
          <p:nvPr/>
        </p:nvSpPr>
        <p:spPr>
          <a:xfrm>
            <a:off x="4047910"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2031</a:t>
            </a:r>
          </a:p>
        </p:txBody>
      </p:sp>
      <p:sp>
        <p:nvSpPr>
          <p:cNvPr id="27" name="Rectangle 26"/>
          <p:cNvSpPr/>
          <p:nvPr/>
        </p:nvSpPr>
        <p:spPr>
          <a:xfrm>
            <a:off x="4659998" y="3692458"/>
            <a:ext cx="261011" cy="2029968"/>
          </a:xfrm>
          <a:prstGeom prst="rect">
            <a:avLst/>
          </a:prstGeom>
          <a:solidFill>
            <a:srgbClr val="6478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28" name="TextBox 27"/>
          <p:cNvSpPr txBox="1"/>
          <p:nvPr/>
        </p:nvSpPr>
        <p:spPr>
          <a:xfrm>
            <a:off x="4569933"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2032</a:t>
            </a:r>
          </a:p>
        </p:txBody>
      </p:sp>
      <p:sp>
        <p:nvSpPr>
          <p:cNvPr id="29" name="Rectangle 28"/>
          <p:cNvSpPr/>
          <p:nvPr/>
        </p:nvSpPr>
        <p:spPr>
          <a:xfrm>
            <a:off x="5182021" y="3418138"/>
            <a:ext cx="261011" cy="2304288"/>
          </a:xfrm>
          <a:prstGeom prst="rect">
            <a:avLst/>
          </a:prstGeom>
          <a:solidFill>
            <a:srgbClr val="6478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30" name="TextBox 29"/>
          <p:cNvSpPr txBox="1"/>
          <p:nvPr/>
        </p:nvSpPr>
        <p:spPr>
          <a:xfrm>
            <a:off x="5091956"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2033</a:t>
            </a:r>
          </a:p>
        </p:txBody>
      </p:sp>
      <p:sp>
        <p:nvSpPr>
          <p:cNvPr id="31" name="Rectangle 30"/>
          <p:cNvSpPr/>
          <p:nvPr/>
        </p:nvSpPr>
        <p:spPr>
          <a:xfrm>
            <a:off x="5704043" y="3143818"/>
            <a:ext cx="261011" cy="2578608"/>
          </a:xfrm>
          <a:prstGeom prst="rect">
            <a:avLst/>
          </a:prstGeom>
          <a:solidFill>
            <a:srgbClr val="6478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32" name="TextBox 31"/>
          <p:cNvSpPr txBox="1"/>
          <p:nvPr/>
        </p:nvSpPr>
        <p:spPr>
          <a:xfrm>
            <a:off x="5613979"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2034</a:t>
            </a:r>
          </a:p>
        </p:txBody>
      </p:sp>
      <p:sp>
        <p:nvSpPr>
          <p:cNvPr id="33" name="Rectangle 32"/>
          <p:cNvSpPr/>
          <p:nvPr/>
        </p:nvSpPr>
        <p:spPr>
          <a:xfrm>
            <a:off x="6226066" y="2759770"/>
            <a:ext cx="261011" cy="2962656"/>
          </a:xfrm>
          <a:prstGeom prst="rect">
            <a:avLst/>
          </a:prstGeom>
          <a:solidFill>
            <a:srgbClr val="6478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34" name="TextBox 33"/>
          <p:cNvSpPr txBox="1"/>
          <p:nvPr/>
        </p:nvSpPr>
        <p:spPr>
          <a:xfrm>
            <a:off x="6123175" y="2531170"/>
            <a:ext cx="466794" cy="246221"/>
          </a:xfrm>
          <a:prstGeom prst="rect">
            <a:avLst/>
          </a:prstGeom>
          <a:noFill/>
        </p:spPr>
        <p:txBody>
          <a:bodyPr wrap="none">
            <a:spAutoFit/>
          </a:bodyPr>
          <a:lstStyle/>
          <a:p>
            <a:pPr algn="ctr"/>
            <a:r>
              <a:rPr lang="en-US" sz="1000" b="1" noProof="0" dirty="0">
                <a:solidFill>
                  <a:srgbClr val="CCFF00"/>
                </a:solidFill>
                <a:latin typeface="Consolas" panose="020B0609020204030204" pitchFamily="49" charset="0"/>
              </a:rPr>
              <a:t>50.2</a:t>
            </a:r>
          </a:p>
        </p:txBody>
      </p:sp>
      <p:sp>
        <p:nvSpPr>
          <p:cNvPr id="35" name="TextBox 34"/>
          <p:cNvSpPr txBox="1"/>
          <p:nvPr/>
        </p:nvSpPr>
        <p:spPr>
          <a:xfrm>
            <a:off x="6135998" y="5813866"/>
            <a:ext cx="441146" cy="230832"/>
          </a:xfrm>
          <a:prstGeom prst="rect">
            <a:avLst/>
          </a:prstGeom>
          <a:noFill/>
        </p:spPr>
        <p:txBody>
          <a:bodyPr wrap="none">
            <a:spAutoFit/>
          </a:bodyPr>
          <a:lstStyle/>
          <a:p>
            <a:pPr algn="ctr"/>
            <a:r>
              <a:rPr lang="en-US" sz="900" b="0" noProof="0" dirty="0">
                <a:solidFill>
                  <a:schemeClr val="bg1"/>
                </a:solidFill>
                <a:latin typeface="Consolas" panose="020B0609020204030204" pitchFamily="49" charset="0"/>
              </a:rPr>
              <a:t>2035</a:t>
            </a:r>
          </a:p>
        </p:txBody>
      </p:sp>
      <p:sp>
        <p:nvSpPr>
          <p:cNvPr id="37" name="TextBox 36"/>
          <p:cNvSpPr txBox="1"/>
          <p:nvPr/>
        </p:nvSpPr>
        <p:spPr>
          <a:xfrm>
            <a:off x="964109" y="4035154"/>
            <a:ext cx="1178528" cy="307777"/>
          </a:xfrm>
          <a:prstGeom prst="rect">
            <a:avLst/>
          </a:prstGeom>
          <a:noFill/>
        </p:spPr>
        <p:txBody>
          <a:bodyPr wrap="none">
            <a:spAutoFit/>
          </a:bodyPr>
          <a:lstStyle/>
          <a:p>
            <a:pPr algn="l"/>
            <a:r>
              <a:rPr lang="en-US" sz="1400" b="1" noProof="0" dirty="0">
                <a:solidFill>
                  <a:srgbClr val="A78BFA"/>
                </a:solidFill>
                <a:latin typeface="Consolas" panose="020B0609020204030204" pitchFamily="49" charset="0"/>
              </a:rPr>
              <a:t>CAGR 14.3%</a:t>
            </a:r>
          </a:p>
        </p:txBody>
      </p:sp>
      <p:sp>
        <p:nvSpPr>
          <p:cNvPr id="39" name="TextBox 38"/>
          <p:cNvSpPr txBox="1"/>
          <p:nvPr/>
        </p:nvSpPr>
        <p:spPr>
          <a:xfrm>
            <a:off x="3608724" y="2843621"/>
            <a:ext cx="1178528" cy="307777"/>
          </a:xfrm>
          <a:prstGeom prst="rect">
            <a:avLst/>
          </a:prstGeom>
          <a:noFill/>
        </p:spPr>
        <p:txBody>
          <a:bodyPr wrap="none">
            <a:spAutoFit/>
          </a:bodyPr>
          <a:lstStyle/>
          <a:p>
            <a:pPr algn="l"/>
            <a:r>
              <a:rPr lang="en-US" sz="1400" b="1" noProof="0" dirty="0">
                <a:solidFill>
                  <a:srgbClr val="A78BFA"/>
                </a:solidFill>
                <a:latin typeface="Consolas" panose="020B0609020204030204" pitchFamily="49" charset="0"/>
              </a:rPr>
              <a:t>CAGR 14.4%</a:t>
            </a:r>
          </a:p>
        </p:txBody>
      </p:sp>
      <p:sp>
        <p:nvSpPr>
          <p:cNvPr id="40" name="Rectangle 39"/>
          <p:cNvSpPr/>
          <p:nvPr/>
        </p:nvSpPr>
        <p:spPr>
          <a:xfrm>
            <a:off x="7662489" y="1964663"/>
            <a:ext cx="3980566" cy="4199528"/>
          </a:xfrm>
          <a:prstGeom prst="rect">
            <a:avLst/>
          </a:prstGeom>
          <a:solidFill>
            <a:srgbClr val="0000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1" name="TextBox 40"/>
          <p:cNvSpPr txBox="1">
            <a:spLocks/>
          </p:cNvSpPr>
          <p:nvPr/>
        </p:nvSpPr>
        <p:spPr>
          <a:xfrm>
            <a:off x="7845369" y="2110766"/>
            <a:ext cx="3614806" cy="365760"/>
          </a:xfrm>
          <a:prstGeom prst="rect">
            <a:avLst/>
          </a:prstGeom>
          <a:noFill/>
        </p:spPr>
        <p:txBody>
          <a:bodyPr wrap="none">
            <a:no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KEY MARKET GROWTH DRIVERS</a:t>
            </a:r>
          </a:p>
        </p:txBody>
      </p:sp>
      <p:sp>
        <p:nvSpPr>
          <p:cNvPr id="42" name="TextBox 41"/>
          <p:cNvSpPr txBox="1">
            <a:spLocks/>
          </p:cNvSpPr>
          <p:nvPr/>
        </p:nvSpPr>
        <p:spPr>
          <a:xfrm>
            <a:off x="7936808" y="2635398"/>
            <a:ext cx="3523367" cy="1384995"/>
          </a:xfrm>
          <a:prstGeom prst="rect">
            <a:avLst/>
          </a:prstGeom>
          <a:noFill/>
        </p:spPr>
        <p:txBody>
          <a:bodyPr wrap="square">
            <a:spAutoFit/>
          </a:bodyPr>
          <a:lstStyle/>
          <a:p>
            <a:pPr marL="285750" indent="-285750">
              <a:buClr>
                <a:srgbClr val="CCFF00"/>
              </a:buClr>
              <a:buFont typeface="Wingdings" panose="05000000000000000000" pitchFamily="2" charset="2"/>
              <a:buChar char="§"/>
            </a:pPr>
            <a:r>
              <a:rPr lang="en-US" sz="1400" b="1" noProof="0" dirty="0">
                <a:solidFill>
                  <a:srgbClr val="FFFFFF"/>
                </a:solidFill>
                <a:latin typeface="Consolas" panose="020B0609020204030204" pitchFamily="49" charset="0"/>
              </a:rPr>
              <a:t>Rising consumer emphasis on self-improvement and productivity enhancement: </a:t>
            </a:r>
            <a:r>
              <a:rPr lang="en-US" sz="1400" b="1" noProof="0" dirty="0">
                <a:solidFill>
                  <a:srgbClr val="CCFF00"/>
                </a:solidFill>
                <a:latin typeface="Consolas" panose="020B0609020204030204" pitchFamily="49" charset="0"/>
              </a:rPr>
              <a:t>68%</a:t>
            </a:r>
            <a:r>
              <a:rPr lang="en-US" sz="1400" noProof="0" dirty="0">
                <a:solidFill>
                  <a:srgbClr val="C0C0C0"/>
                </a:solidFill>
                <a:latin typeface="Consolas" panose="020B0609020204030204" pitchFamily="49" charset="0"/>
              </a:rPr>
              <a:t> of smartphone users engage with at least one productivity or wellness app</a:t>
            </a:r>
          </a:p>
        </p:txBody>
      </p:sp>
      <p:sp>
        <p:nvSpPr>
          <p:cNvPr id="44" name="TextBox 43"/>
          <p:cNvSpPr txBox="1">
            <a:spLocks/>
          </p:cNvSpPr>
          <p:nvPr/>
        </p:nvSpPr>
        <p:spPr>
          <a:xfrm>
            <a:off x="7936808" y="4078438"/>
            <a:ext cx="3523367" cy="954107"/>
          </a:xfrm>
          <a:prstGeom prst="rect">
            <a:avLst/>
          </a:prstGeom>
          <a:noFill/>
        </p:spPr>
        <p:txBody>
          <a:bodyPr wrap="square">
            <a:spAutoFit/>
          </a:bodyPr>
          <a:lstStyle/>
          <a:p>
            <a:pPr marL="285750" indent="-285750">
              <a:buClr>
                <a:srgbClr val="CCFF00"/>
              </a:buClr>
              <a:buFont typeface="Wingdings" panose="05000000000000000000" pitchFamily="2" charset="2"/>
              <a:buChar char="§"/>
            </a:pPr>
            <a:r>
              <a:rPr lang="en-US" sz="1400" b="1" noProof="0" dirty="0">
                <a:solidFill>
                  <a:srgbClr val="FFFFFF"/>
                </a:solidFill>
                <a:latin typeface="Consolas" panose="020B0609020204030204" pitchFamily="49" charset="0"/>
              </a:rPr>
              <a:t>Higher Willingness To Pay: </a:t>
            </a:r>
            <a:r>
              <a:rPr lang="en-US" sz="1400" noProof="0" dirty="0">
                <a:solidFill>
                  <a:srgbClr val="C0C0C0"/>
                </a:solidFill>
                <a:latin typeface="Consolas" panose="020B0609020204030204" pitchFamily="49" charset="0"/>
              </a:rPr>
              <a:t>Premium subscriptions account for </a:t>
            </a:r>
            <a:r>
              <a:rPr lang="en-US" sz="1400" b="1" noProof="0" dirty="0">
                <a:solidFill>
                  <a:srgbClr val="CCFF00"/>
                </a:solidFill>
                <a:latin typeface="Consolas" panose="020B0609020204030204" pitchFamily="49" charset="0"/>
              </a:rPr>
              <a:t>36%</a:t>
            </a:r>
            <a:r>
              <a:rPr lang="en-US" sz="1400" noProof="0" dirty="0">
                <a:solidFill>
                  <a:srgbClr val="C0C0C0"/>
                </a:solidFill>
                <a:latin typeface="Consolas" panose="020B0609020204030204" pitchFamily="49" charset="0"/>
              </a:rPr>
              <a:t> of overall habit tracking app downloads</a:t>
            </a:r>
            <a:endParaRPr lang="en-US" sz="1200" noProof="0" dirty="0">
              <a:solidFill>
                <a:srgbClr val="C0C0C0"/>
              </a:solidFill>
              <a:latin typeface="Consolas" panose="020B0609020204030204" pitchFamily="49" charset="0"/>
            </a:endParaRPr>
          </a:p>
        </p:txBody>
      </p:sp>
      <p:sp>
        <p:nvSpPr>
          <p:cNvPr id="46" name="TextBox 45"/>
          <p:cNvSpPr txBox="1">
            <a:spLocks/>
          </p:cNvSpPr>
          <p:nvPr/>
        </p:nvSpPr>
        <p:spPr>
          <a:xfrm>
            <a:off x="7936809" y="5090591"/>
            <a:ext cx="3523367" cy="954107"/>
          </a:xfrm>
          <a:prstGeom prst="rect">
            <a:avLst/>
          </a:prstGeom>
          <a:noFill/>
        </p:spPr>
        <p:txBody>
          <a:bodyPr wrap="square">
            <a:spAutoFit/>
          </a:bodyPr>
          <a:lstStyle/>
          <a:p>
            <a:pPr marL="285750" indent="-285750">
              <a:buClr>
                <a:srgbClr val="CCFF00"/>
              </a:buClr>
              <a:buFont typeface="Wingdings" panose="05000000000000000000" pitchFamily="2" charset="2"/>
              <a:buChar char="§"/>
            </a:pPr>
            <a:r>
              <a:rPr lang="en-US" sz="1400" b="1" noProof="0" dirty="0">
                <a:solidFill>
                  <a:srgbClr val="FFFFFF"/>
                </a:solidFill>
                <a:latin typeface="Consolas" panose="020B0609020204030204" pitchFamily="49" charset="0"/>
              </a:rPr>
              <a:t>Complementary to surge of wearables through integration: </a:t>
            </a:r>
            <a:r>
              <a:rPr lang="en-US" sz="1400" noProof="0" dirty="0">
                <a:solidFill>
                  <a:srgbClr val="C0C0C0"/>
                </a:solidFill>
                <a:latin typeface="Consolas" panose="020B0609020204030204" pitchFamily="49" charset="0"/>
              </a:rPr>
              <a:t>Wearable integration improves user retention by </a:t>
            </a:r>
            <a:r>
              <a:rPr lang="en-US" sz="1400" b="1" noProof="0" dirty="0">
                <a:solidFill>
                  <a:srgbClr val="CCFF00"/>
                </a:solidFill>
                <a:latin typeface="Consolas" panose="020B0609020204030204" pitchFamily="49" charset="0"/>
              </a:rPr>
              <a:t>39%</a:t>
            </a:r>
          </a:p>
        </p:txBody>
      </p:sp>
      <p:sp>
        <p:nvSpPr>
          <p:cNvPr id="48" name="TextBox 47"/>
          <p:cNvSpPr txBox="1"/>
          <p:nvPr/>
        </p:nvSpPr>
        <p:spPr>
          <a:xfrm>
            <a:off x="548640" y="6356866"/>
            <a:ext cx="6131807" cy="276999"/>
          </a:xfrm>
          <a:prstGeom prst="rect">
            <a:avLst/>
          </a:prstGeom>
          <a:noFill/>
        </p:spPr>
        <p:txBody>
          <a:bodyPr wrap="none">
            <a:spAutoFit/>
          </a:bodyPr>
          <a:lstStyle/>
          <a:p>
            <a:pPr algn="l"/>
            <a:r>
              <a:rPr lang="en-US" sz="1200" b="0" noProof="0" dirty="0">
                <a:solidFill>
                  <a:srgbClr val="FFFFFF"/>
                </a:solidFill>
                <a:latin typeface="Consolas" panose="020B0609020204030204" pitchFamily="49" charset="0"/>
              </a:rPr>
              <a:t>Source: </a:t>
            </a:r>
            <a:r>
              <a:rPr lang="en-US" sz="1200" b="0" noProof="0" dirty="0">
                <a:solidFill>
                  <a:schemeClr val="bg1"/>
                </a:solidFill>
                <a:latin typeface="Consolas" panose="020B0609020204030204" pitchFamily="49" charset="0"/>
                <a:hlinkClick r:id="rId7">
                  <a:extLst>
                    <a:ext uri="{A12FA001-AC4F-418D-AE19-62706E023703}">
                      <ahyp:hlinkClr xmlns:ahyp="http://schemas.microsoft.com/office/drawing/2018/hyperlinkcolor" val="tx"/>
                    </a:ext>
                  </a:extLst>
                </a:hlinkClick>
              </a:rPr>
              <a:t>Global Habit Tracking App Market Size - Global Growth Insights</a:t>
            </a:r>
            <a:endParaRPr lang="en-US" sz="1200" b="0" noProof="0" dirty="0">
              <a:solidFill>
                <a:schemeClr val="bg1"/>
              </a:solidFill>
              <a:latin typeface="Consolas" panose="020B0609020204030204" pitchFamily="49" charset="0"/>
            </a:endParaRPr>
          </a:p>
        </p:txBody>
      </p:sp>
      <p:cxnSp>
        <p:nvCxnSpPr>
          <p:cNvPr id="53" name="Straight Arrow Connector 52">
            <a:extLst>
              <a:ext uri="{FF2B5EF4-FFF2-40B4-BE49-F238E27FC236}">
                <a16:creationId xmlns:a16="http://schemas.microsoft.com/office/drawing/2014/main" id="{0F36A699-E193-9A0A-A5F0-E006F67A598B}"/>
              </a:ext>
            </a:extLst>
          </p:cNvPr>
          <p:cNvCxnSpPr>
            <a:cxnSpLocks/>
          </p:cNvCxnSpPr>
          <p:nvPr/>
        </p:nvCxnSpPr>
        <p:spPr>
          <a:xfrm flipV="1">
            <a:off x="1103074" y="4311840"/>
            <a:ext cx="1066601" cy="438912"/>
          </a:xfrm>
          <a:prstGeom prst="straightConnector1">
            <a:avLst/>
          </a:prstGeom>
          <a:ln>
            <a:solidFill>
              <a:srgbClr val="A78BFA"/>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1F5F248C-67BE-E052-1599-090B37854E54}"/>
              </a:ext>
            </a:extLst>
          </p:cNvPr>
          <p:cNvCxnSpPr>
            <a:cxnSpLocks/>
          </p:cNvCxnSpPr>
          <p:nvPr/>
        </p:nvCxnSpPr>
        <p:spPr>
          <a:xfrm flipV="1">
            <a:off x="2247740" y="2430586"/>
            <a:ext cx="4113833" cy="1905877"/>
          </a:xfrm>
          <a:prstGeom prst="straightConnector1">
            <a:avLst/>
          </a:prstGeom>
          <a:ln>
            <a:solidFill>
              <a:srgbClr val="A78BFA"/>
            </a:solidFill>
            <a:tailEnd type="triangle"/>
          </a:ln>
        </p:spPr>
        <p:style>
          <a:lnRef idx="2">
            <a:schemeClr val="accent1"/>
          </a:lnRef>
          <a:fillRef idx="0">
            <a:schemeClr val="accent1"/>
          </a:fillRef>
          <a:effectRef idx="1">
            <a:schemeClr val="accent1"/>
          </a:effectRef>
          <a:fontRef idx="minor">
            <a:schemeClr val="tx1"/>
          </a:fontRef>
        </p:style>
      </p:cxnSp>
      <p:sp>
        <p:nvSpPr>
          <p:cNvPr id="64" name="Speech Bubble: Rectangle with Corners Rounded 63">
            <a:extLst>
              <a:ext uri="{FF2B5EF4-FFF2-40B4-BE49-F238E27FC236}">
                <a16:creationId xmlns:a16="http://schemas.microsoft.com/office/drawing/2014/main" id="{D7963A82-316A-17DE-A3D9-8FBC4C43A7A7}"/>
              </a:ext>
            </a:extLst>
          </p:cNvPr>
          <p:cNvSpPr/>
          <p:nvPr/>
        </p:nvSpPr>
        <p:spPr>
          <a:xfrm>
            <a:off x="828976" y="2718855"/>
            <a:ext cx="2125576" cy="707619"/>
          </a:xfrm>
          <a:prstGeom prst="wedgeRoundRectCallout">
            <a:avLst>
              <a:gd name="adj1" fmla="val 39589"/>
              <a:gd name="adj2" fmla="val 23270"/>
              <a:gd name="adj3" fmla="val 16667"/>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chemeClr val="tx1"/>
                </a:solidFill>
                <a:latin typeface="Consolas" panose="020B0609020204030204" pitchFamily="49" charset="0"/>
              </a:rPr>
              <a:t>Market projected to triple within the next 10 years</a:t>
            </a:r>
          </a:p>
        </p:txBody>
      </p:sp>
      <p:sp>
        <p:nvSpPr>
          <p:cNvPr id="65" name="TextBox 64">
            <a:extLst>
              <a:ext uri="{FF2B5EF4-FFF2-40B4-BE49-F238E27FC236}">
                <a16:creationId xmlns:a16="http://schemas.microsoft.com/office/drawing/2014/main" id="{1FAC0E22-F245-6098-8BBA-F80102EF3045}"/>
              </a:ext>
            </a:extLst>
          </p:cNvPr>
          <p:cNvSpPr txBox="1"/>
          <p:nvPr/>
        </p:nvSpPr>
        <p:spPr>
          <a:xfrm>
            <a:off x="11687362" y="6356866"/>
            <a:ext cx="274320"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r>
              <a:rPr lang="en-US" b="0" noProof="0" dirty="0"/>
              <a:t>5</a:t>
            </a:r>
          </a:p>
        </p:txBody>
      </p:sp>
      <p:grpSp>
        <p:nvGrpSpPr>
          <p:cNvPr id="66" name="Group 65">
            <a:extLst>
              <a:ext uri="{FF2B5EF4-FFF2-40B4-BE49-F238E27FC236}">
                <a16:creationId xmlns:a16="http://schemas.microsoft.com/office/drawing/2014/main" id="{F46A470A-BE90-3DBC-86D8-26050C1941E6}"/>
              </a:ext>
            </a:extLst>
          </p:cNvPr>
          <p:cNvGrpSpPr/>
          <p:nvPr/>
        </p:nvGrpSpPr>
        <p:grpSpPr>
          <a:xfrm>
            <a:off x="11321601" y="320040"/>
            <a:ext cx="640080" cy="640080"/>
            <a:chOff x="11094415" y="320040"/>
            <a:chExt cx="640080" cy="640080"/>
          </a:xfrm>
        </p:grpSpPr>
        <p:sp>
          <p:nvSpPr>
            <p:cNvPr id="67" name="Rounded Rectangle 1">
              <a:extLst>
                <a:ext uri="{FF2B5EF4-FFF2-40B4-BE49-F238E27FC236}">
                  <a16:creationId xmlns:a16="http://schemas.microsoft.com/office/drawing/2014/main" id="{97DFE515-17AF-C12B-35BE-22ACF0995864}"/>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68" name="Rectangle 67">
              <a:extLst>
                <a:ext uri="{FF2B5EF4-FFF2-40B4-BE49-F238E27FC236}">
                  <a16:creationId xmlns:a16="http://schemas.microsoft.com/office/drawing/2014/main" id="{96780895-7DBC-84C3-2A5E-166C1662DF56}"/>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69" name="Rectangle 68">
              <a:extLst>
                <a:ext uri="{FF2B5EF4-FFF2-40B4-BE49-F238E27FC236}">
                  <a16:creationId xmlns:a16="http://schemas.microsoft.com/office/drawing/2014/main" id="{0C73835B-727B-EA39-EEA4-CB8BA419DD32}"/>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70" name="Rectangle 69">
              <a:extLst>
                <a:ext uri="{FF2B5EF4-FFF2-40B4-BE49-F238E27FC236}">
                  <a16:creationId xmlns:a16="http://schemas.microsoft.com/office/drawing/2014/main" id="{99B60373-558D-9393-EF69-7B886589B6A3}"/>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1B30FB5-4D75-EE58-2B69-269DE1E9125D}"/>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B5F10D67-2DB8-E2BE-79B3-D48D050CADF3}"/>
              </a:ext>
            </a:extLst>
          </p:cNvPr>
          <p:cNvGraphicFramePr>
            <a:graphicFrameLocks noChangeAspect="1"/>
          </p:cNvGraphicFramePr>
          <p:nvPr>
            <p:custDataLst>
              <p:tags r:id="rId2"/>
            </p:custDataLst>
            <p:extLst>
              <p:ext uri="{D42A27DB-BD31-4B8C-83A1-F6EECF244321}">
                <p14:modId xmlns:p14="http://schemas.microsoft.com/office/powerpoint/2010/main" val="38364777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13" name="think-cell data - do not delete" hidden="1">
                        <a:extLst>
                          <a:ext uri="{FF2B5EF4-FFF2-40B4-BE49-F238E27FC236}">
                            <a16:creationId xmlns:a16="http://schemas.microsoft.com/office/drawing/2014/main" id="{BC01F44B-F28D-A971-7D90-5EA37A788B4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E5C1B9E7-C6D1-F3B7-DA50-06B9559D505B}"/>
              </a:ext>
            </a:extLst>
          </p:cNvPr>
          <p:cNvSpPr txBox="1"/>
          <p:nvPr/>
        </p:nvSpPr>
        <p:spPr>
          <a:xfrm>
            <a:off x="548640" y="320040"/>
            <a:ext cx="1576072" cy="307777"/>
          </a:xfrm>
          <a:prstGeom prst="rect">
            <a:avLst/>
          </a:prstGeom>
          <a:noFill/>
        </p:spPr>
        <p:txBody>
          <a:bodyPr wrap="none">
            <a:spAutoFit/>
          </a:bodyPr>
          <a:lstStyle/>
          <a:p>
            <a:pPr algn="l"/>
            <a:r>
              <a:rPr lang="en-US" sz="1400" b="1" noProof="0" dirty="0">
                <a:solidFill>
                  <a:srgbClr val="A78BFA"/>
                </a:solidFill>
                <a:latin typeface="Consolas"/>
              </a:rPr>
              <a:t>// Competition</a:t>
            </a:r>
          </a:p>
        </p:txBody>
      </p:sp>
      <p:sp>
        <p:nvSpPr>
          <p:cNvPr id="7" name="TextBox 6">
            <a:extLst>
              <a:ext uri="{FF2B5EF4-FFF2-40B4-BE49-F238E27FC236}">
                <a16:creationId xmlns:a16="http://schemas.microsoft.com/office/drawing/2014/main" id="{4C6D9E51-FC1E-661C-B220-391A5D3AAF0F}"/>
              </a:ext>
            </a:extLst>
          </p:cNvPr>
          <p:cNvSpPr txBox="1">
            <a:spLocks/>
          </p:cNvSpPr>
          <p:nvPr/>
        </p:nvSpPr>
        <p:spPr>
          <a:xfrm>
            <a:off x="548640" y="640074"/>
            <a:ext cx="11413042" cy="1077218"/>
          </a:xfrm>
          <a:prstGeom prst="rect">
            <a:avLst/>
          </a:prstGeom>
          <a:noFill/>
        </p:spPr>
        <p:txBody>
          <a:bodyPr wrap="square">
            <a:spAutoFit/>
          </a:bodyPr>
          <a:lstStyle/>
          <a:p>
            <a:r>
              <a:rPr lang="en-US" sz="3200" b="1" noProof="0" dirty="0">
                <a:solidFill>
                  <a:srgbClr val="FFFFFF"/>
                </a:solidFill>
                <a:latin typeface="Segoe UI Black" panose="020B0A02040204020203" pitchFamily="34" charset="0"/>
                <a:ea typeface="Segoe UI Black" panose="020B0A02040204020203" pitchFamily="34" charset="0"/>
              </a:rPr>
              <a:t>AXIOM FORGE IS POSITIONED AS THE ONLY APP COMBINING SCIENCE, </a:t>
            </a:r>
            <a:r>
              <a:rPr lang="en-US" sz="3200" b="1" dirty="0">
                <a:solidFill>
                  <a:srgbClr val="FFFFFF"/>
                </a:solidFill>
                <a:latin typeface="Segoe UI Black" panose="020B0A02040204020203" pitchFamily="34" charset="0"/>
                <a:ea typeface="Segoe UI Black" panose="020B0A02040204020203" pitchFamily="34" charset="0"/>
              </a:rPr>
              <a:t>IN-DEPTH</a:t>
            </a:r>
            <a:r>
              <a:rPr lang="en-US" sz="3200" b="1" noProof="0" dirty="0">
                <a:solidFill>
                  <a:srgbClr val="FFFFFF"/>
                </a:solidFill>
                <a:latin typeface="Segoe UI Black" panose="020B0A02040204020203" pitchFamily="34" charset="0"/>
                <a:ea typeface="Segoe UI Black" panose="020B0A02040204020203" pitchFamily="34" charset="0"/>
              </a:rPr>
              <a:t> INSIGHTS &amp; JOURNAL </a:t>
            </a:r>
          </a:p>
        </p:txBody>
      </p:sp>
      <p:graphicFrame>
        <p:nvGraphicFramePr>
          <p:cNvPr id="8" name="Table 7">
            <a:extLst>
              <a:ext uri="{FF2B5EF4-FFF2-40B4-BE49-F238E27FC236}">
                <a16:creationId xmlns:a16="http://schemas.microsoft.com/office/drawing/2014/main" id="{1BFB937A-0AAB-9E21-210E-F5A646CBE890}"/>
              </a:ext>
            </a:extLst>
          </p:cNvPr>
          <p:cNvGraphicFramePr>
            <a:graphicFrameLocks noGrp="1"/>
          </p:cNvGraphicFramePr>
          <p:nvPr>
            <p:extLst>
              <p:ext uri="{D42A27DB-BD31-4B8C-83A1-F6EECF244321}">
                <p14:modId xmlns:p14="http://schemas.microsoft.com/office/powerpoint/2010/main" val="4101411244"/>
              </p:ext>
            </p:extLst>
          </p:nvPr>
        </p:nvGraphicFramePr>
        <p:xfrm>
          <a:off x="641629" y="1852061"/>
          <a:ext cx="11045735" cy="2865120"/>
        </p:xfrm>
        <a:graphic>
          <a:graphicData uri="http://schemas.openxmlformats.org/drawingml/2006/table">
            <a:tbl>
              <a:tblPr firstRow="1" bandRow="1">
                <a:tableStyleId>{5C22544A-7EE6-4342-B048-85BDC9FD1C3A}</a:tableStyleId>
              </a:tblPr>
              <a:tblGrid>
                <a:gridCol w="1858379">
                  <a:extLst>
                    <a:ext uri="{9D8B030D-6E8A-4147-A177-3AD203B41FA5}">
                      <a16:colId xmlns:a16="http://schemas.microsoft.com/office/drawing/2014/main" val="20000"/>
                    </a:ext>
                  </a:extLst>
                </a:gridCol>
                <a:gridCol w="2559915">
                  <a:extLst>
                    <a:ext uri="{9D8B030D-6E8A-4147-A177-3AD203B41FA5}">
                      <a16:colId xmlns:a16="http://schemas.microsoft.com/office/drawing/2014/main" val="20001"/>
                    </a:ext>
                  </a:extLst>
                </a:gridCol>
                <a:gridCol w="2209147">
                  <a:extLst>
                    <a:ext uri="{9D8B030D-6E8A-4147-A177-3AD203B41FA5}">
                      <a16:colId xmlns:a16="http://schemas.microsoft.com/office/drawing/2014/main" val="20002"/>
                    </a:ext>
                  </a:extLst>
                </a:gridCol>
                <a:gridCol w="2209147">
                  <a:extLst>
                    <a:ext uri="{9D8B030D-6E8A-4147-A177-3AD203B41FA5}">
                      <a16:colId xmlns:a16="http://schemas.microsoft.com/office/drawing/2014/main" val="20003"/>
                    </a:ext>
                  </a:extLst>
                </a:gridCol>
                <a:gridCol w="2209147">
                  <a:extLst>
                    <a:ext uri="{9D8B030D-6E8A-4147-A177-3AD203B41FA5}">
                      <a16:colId xmlns:a16="http://schemas.microsoft.com/office/drawing/2014/main" val="20004"/>
                    </a:ext>
                  </a:extLst>
                </a:gridCol>
              </a:tblGrid>
              <a:tr h="457200">
                <a:tc>
                  <a:txBody>
                    <a:bodyPr/>
                    <a:lstStyle/>
                    <a:p>
                      <a:pPr rtl="0">
                        <a:defRPr sz="1100" b="1">
                          <a:solidFill>
                            <a:srgbClr val="000000"/>
                          </a:solidFill>
                          <a:latin typeface="Arial"/>
                        </a:defRPr>
                      </a:pPr>
                      <a:r>
                        <a:rPr lang="en-US" sz="1400" b="1" noProof="0" dirty="0">
                          <a:latin typeface="Consolas" panose="020B0609020204030204" pitchFamily="49" charset="0"/>
                        </a:rPr>
                        <a:t>HABIT TRACKER APP</a:t>
                      </a:r>
                    </a:p>
                  </a:txBody>
                  <a:tcPr>
                    <a:solidFill>
                      <a:srgbClr val="CCFF00"/>
                    </a:solidFill>
                  </a:tcPr>
                </a:tc>
                <a:tc>
                  <a:txBody>
                    <a:bodyPr/>
                    <a:lstStyle/>
                    <a:p>
                      <a:pPr rtl="0">
                        <a:defRPr sz="1100" b="1">
                          <a:solidFill>
                            <a:srgbClr val="000000"/>
                          </a:solidFill>
                          <a:latin typeface="Arial"/>
                        </a:defRPr>
                      </a:pPr>
                      <a:r>
                        <a:rPr lang="en-US" sz="1400" b="1" noProof="0" dirty="0">
                          <a:latin typeface="Consolas" panose="020B0609020204030204" pitchFamily="49" charset="0"/>
                        </a:rPr>
                        <a:t>SCIENCE-BACKED TEMPLATES (ACTIONABILITY)</a:t>
                      </a:r>
                    </a:p>
                  </a:txBody>
                  <a:tcPr>
                    <a:solidFill>
                      <a:srgbClr val="CCFF00"/>
                    </a:solidFill>
                  </a:tcPr>
                </a:tc>
                <a:tc>
                  <a:txBody>
                    <a:bodyPr/>
                    <a:lstStyle/>
                    <a:p>
                      <a:pPr rtl="0">
                        <a:defRPr sz="1100" b="1">
                          <a:solidFill>
                            <a:srgbClr val="000000"/>
                          </a:solidFill>
                          <a:latin typeface="Arial"/>
                        </a:defRPr>
                      </a:pPr>
                      <a:r>
                        <a:rPr lang="en-US" sz="1400" b="1" noProof="0" dirty="0">
                          <a:latin typeface="Consolas" panose="020B0609020204030204" pitchFamily="49" charset="0"/>
                        </a:rPr>
                        <a:t>BEHAVIORAL INSIGHTS (UNDERSTANDING)</a:t>
                      </a:r>
                    </a:p>
                  </a:txBody>
                  <a:tcPr>
                    <a:solidFill>
                      <a:srgbClr val="CCFF00"/>
                    </a:solidFill>
                  </a:tcPr>
                </a:tc>
                <a:tc>
                  <a:txBody>
                    <a:bodyPr/>
                    <a:lstStyle/>
                    <a:p>
                      <a:pPr rtl="0">
                        <a:defRPr sz="1100" b="1">
                          <a:solidFill>
                            <a:srgbClr val="000000"/>
                          </a:solidFill>
                          <a:latin typeface="Arial"/>
                        </a:defRPr>
                      </a:pPr>
                      <a:r>
                        <a:rPr lang="en-US" sz="1400" b="1" noProof="0" dirty="0">
                          <a:latin typeface="Consolas" panose="020B0609020204030204" pitchFamily="49" charset="0"/>
                        </a:rPr>
                        <a:t>MINDSET/JOURNAL (MOMENTUM)</a:t>
                      </a:r>
                    </a:p>
                  </a:txBody>
                  <a:tcPr>
                    <a:solidFill>
                      <a:srgbClr val="CCFF00"/>
                    </a:solidFill>
                  </a:tcPr>
                </a:tc>
                <a:tc>
                  <a:txBody>
                    <a:bodyPr/>
                    <a:lstStyle/>
                    <a:p>
                      <a:pPr rtl="0">
                        <a:defRPr sz="1100" b="1">
                          <a:solidFill>
                            <a:srgbClr val="000000"/>
                          </a:solidFill>
                          <a:latin typeface="Arial"/>
                        </a:defRPr>
                      </a:pPr>
                      <a:r>
                        <a:rPr lang="en-US" sz="1400" b="1" noProof="0" dirty="0">
                          <a:latin typeface="Consolas" panose="020B0609020204030204" pitchFamily="49" charset="0"/>
                        </a:rPr>
                        <a:t>CROSS-PLATFORM</a:t>
                      </a:r>
                    </a:p>
                  </a:txBody>
                  <a:tcPr>
                    <a:solidFill>
                      <a:srgbClr val="CCFF00"/>
                    </a:solidFill>
                  </a:tcPr>
                </a:tc>
                <a:extLst>
                  <a:ext uri="{0D108BD9-81ED-4DB2-BD59-A6C34878D82A}">
                    <a16:rowId xmlns:a16="http://schemas.microsoft.com/office/drawing/2014/main" val="10000"/>
                  </a:ext>
                </a:extLst>
              </a:tr>
              <a:tr h="457200">
                <a:tc>
                  <a:txBody>
                    <a:bodyPr/>
                    <a:lstStyle/>
                    <a:p>
                      <a:pPr rtl="0">
                        <a:defRPr sz="1100">
                          <a:solidFill>
                            <a:srgbClr val="A78BFA"/>
                          </a:solidFill>
                          <a:latin typeface="Arial"/>
                        </a:defRPr>
                      </a:pPr>
                      <a:r>
                        <a:rPr lang="en-US" sz="1400" b="1" noProof="0" dirty="0">
                          <a:solidFill>
                            <a:srgbClr val="CCFF00"/>
                          </a:solidFill>
                          <a:latin typeface="Consolas" panose="020B0609020204030204" pitchFamily="49" charset="0"/>
                        </a:rPr>
                        <a:t>Axiom Forge</a:t>
                      </a:r>
                    </a:p>
                  </a:txBody>
                  <a:tcPr>
                    <a:solidFill>
                      <a:srgbClr val="000000"/>
                    </a:solidFill>
                  </a:tcPr>
                </a:tc>
                <a:tc>
                  <a:txBody>
                    <a:bodyPr/>
                    <a:lstStyle/>
                    <a:p>
                      <a:pPr rtl="0">
                        <a:defRPr sz="1100">
                          <a:solidFill>
                            <a:srgbClr val="A78BFA"/>
                          </a:solidFill>
                          <a:latin typeface="Arial"/>
                        </a:defRPr>
                      </a:pPr>
                      <a:r>
                        <a:rPr lang="en-US" sz="1400" b="1" noProof="0" dirty="0">
                          <a:solidFill>
                            <a:srgbClr val="CCFF00"/>
                          </a:solidFill>
                          <a:latin typeface="Consolas" panose="020B0609020204030204" pitchFamily="49" charset="0"/>
                        </a:rPr>
                        <a:t>Evidence-Based</a:t>
                      </a:r>
                    </a:p>
                  </a:txBody>
                  <a:tcPr>
                    <a:solidFill>
                      <a:srgbClr val="000000"/>
                    </a:solidFill>
                  </a:tcPr>
                </a:tc>
                <a:tc>
                  <a:txBody>
                    <a:bodyPr/>
                    <a:lstStyle/>
                    <a:p>
                      <a:pPr rtl="0">
                        <a:defRPr sz="1100">
                          <a:solidFill>
                            <a:srgbClr val="A78BFA"/>
                          </a:solidFill>
                          <a:latin typeface="Arial"/>
                        </a:defRPr>
                      </a:pPr>
                      <a:r>
                        <a:rPr lang="en-US" sz="1400" b="1" noProof="0" dirty="0">
                          <a:solidFill>
                            <a:srgbClr val="CCFF00"/>
                          </a:solidFill>
                          <a:latin typeface="Consolas" panose="020B0609020204030204" pitchFamily="49" charset="0"/>
                        </a:rPr>
                        <a:t>Full Personalized Analysis</a:t>
                      </a:r>
                    </a:p>
                  </a:txBody>
                  <a:tcPr>
                    <a:solidFill>
                      <a:srgbClr val="000000"/>
                    </a:solidFill>
                  </a:tcPr>
                </a:tc>
                <a:tc>
                  <a:txBody>
                    <a:bodyPr/>
                    <a:lstStyle/>
                    <a:p>
                      <a:pPr rtl="0">
                        <a:defRPr sz="1100">
                          <a:solidFill>
                            <a:srgbClr val="A78BFA"/>
                          </a:solidFill>
                          <a:latin typeface="Arial"/>
                        </a:defRPr>
                      </a:pPr>
                      <a:r>
                        <a:rPr lang="en-US" sz="1400" b="1" noProof="0" dirty="0">
                          <a:solidFill>
                            <a:srgbClr val="CCFF00"/>
                          </a:solidFill>
                          <a:latin typeface="Consolas" panose="020B0609020204030204" pitchFamily="49" charset="0"/>
                        </a:rPr>
                        <a:t>Motivational Sentences + Journal</a:t>
                      </a:r>
                    </a:p>
                  </a:txBody>
                  <a:tcPr>
                    <a:solidFill>
                      <a:srgbClr val="000000"/>
                    </a:solidFill>
                  </a:tcPr>
                </a:tc>
                <a:tc>
                  <a:txBody>
                    <a:bodyPr/>
                    <a:lstStyle/>
                    <a:p>
                      <a:pPr rtl="0">
                        <a:defRPr sz="1100">
                          <a:solidFill>
                            <a:srgbClr val="A78BFA"/>
                          </a:solidFill>
                          <a:latin typeface="Arial"/>
                        </a:defRPr>
                      </a:pPr>
                      <a:r>
                        <a:rPr lang="en-US" sz="1400" b="1" noProof="0" dirty="0">
                          <a:solidFill>
                            <a:srgbClr val="CCFF00"/>
                          </a:solidFill>
                          <a:latin typeface="Consolas" panose="020B0609020204030204" pitchFamily="49" charset="0"/>
                        </a:rPr>
                        <a:t>PWA (planning to expand to iOS)</a:t>
                      </a:r>
                    </a:p>
                  </a:txBody>
                  <a:tcPr>
                    <a:solidFill>
                      <a:srgbClr val="000000"/>
                    </a:solidFill>
                  </a:tcPr>
                </a:tc>
                <a:extLst>
                  <a:ext uri="{0D108BD9-81ED-4DB2-BD59-A6C34878D82A}">
                    <a16:rowId xmlns:a16="http://schemas.microsoft.com/office/drawing/2014/main" val="1442792544"/>
                  </a:ext>
                </a:extLst>
              </a:tr>
              <a:tr h="457200">
                <a:tc>
                  <a:txBody>
                    <a:bodyPr/>
                    <a:lstStyle/>
                    <a:p>
                      <a:pPr rtl="0">
                        <a:defRPr sz="1100">
                          <a:solidFill>
                            <a:srgbClr val="FFFFFF"/>
                          </a:solidFill>
                          <a:latin typeface="Arial"/>
                        </a:defRPr>
                      </a:pPr>
                      <a:r>
                        <a:rPr lang="en-US" sz="1400" b="1" noProof="0" dirty="0">
                          <a:latin typeface="Consolas" panose="020B0609020204030204" pitchFamily="49" charset="0"/>
                        </a:rPr>
                        <a:t>Streaks</a:t>
                      </a:r>
                    </a:p>
                  </a:txBody>
                  <a:tcPr>
                    <a:solidFill>
                      <a:srgbClr val="000000"/>
                    </a:solidFill>
                  </a:tcPr>
                </a:tc>
                <a:tc>
                  <a:txBody>
                    <a:bodyPr/>
                    <a:lstStyle/>
                    <a:p>
                      <a:pPr rtl="0">
                        <a:defRPr sz="1100">
                          <a:solidFill>
                            <a:srgbClr val="FFFFFF"/>
                          </a:solidFill>
                          <a:latin typeface="Arial"/>
                        </a:defRPr>
                      </a:pPr>
                      <a:r>
                        <a:rPr lang="en-US" sz="1400" noProof="0" dirty="0">
                          <a:latin typeface="Consolas" panose="020B0609020204030204" pitchFamily="49" charset="0"/>
                        </a:rPr>
                        <a:t>-</a:t>
                      </a:r>
                    </a:p>
                  </a:txBody>
                  <a:tcPr>
                    <a:solidFill>
                      <a:srgbClr val="000000"/>
                    </a:solidFill>
                  </a:tcPr>
                </a:tc>
                <a:tc>
                  <a:txBody>
                    <a:bodyPr/>
                    <a:lstStyle/>
                    <a:p>
                      <a:pPr rtl="0">
                        <a:defRPr sz="1100">
                          <a:solidFill>
                            <a:srgbClr val="FFFFFF"/>
                          </a:solidFill>
                          <a:latin typeface="Arial"/>
                        </a:defRPr>
                      </a:pPr>
                      <a:r>
                        <a:rPr lang="en-US" sz="1400" noProof="0" dirty="0">
                          <a:latin typeface="Consolas" panose="020B0609020204030204" pitchFamily="49" charset="0"/>
                        </a:rPr>
                        <a:t>-</a:t>
                      </a:r>
                    </a:p>
                  </a:txBody>
                  <a:tcPr>
                    <a:solidFill>
                      <a:srgbClr val="000000"/>
                    </a:solidFill>
                  </a:tcPr>
                </a:tc>
                <a:tc>
                  <a:txBody>
                    <a:bodyPr/>
                    <a:lstStyle/>
                    <a:p>
                      <a:pPr rtl="0">
                        <a:defRPr sz="1100">
                          <a:solidFill>
                            <a:srgbClr val="FFFFFF"/>
                          </a:solidFill>
                          <a:latin typeface="Arial"/>
                        </a:defRPr>
                      </a:pPr>
                      <a:r>
                        <a:rPr lang="en-US" sz="1400" noProof="0" dirty="0">
                          <a:latin typeface="Consolas" panose="020B0609020204030204" pitchFamily="49" charset="0"/>
                        </a:rPr>
                        <a:t>-</a:t>
                      </a:r>
                    </a:p>
                  </a:txBody>
                  <a:tcPr>
                    <a:solidFill>
                      <a:srgbClr val="000000"/>
                    </a:solidFill>
                  </a:tcPr>
                </a:tc>
                <a:tc>
                  <a:txBody>
                    <a:bodyPr/>
                    <a:lstStyle/>
                    <a:p>
                      <a:pPr rtl="0">
                        <a:defRPr sz="1100">
                          <a:solidFill>
                            <a:srgbClr val="FFFFFF"/>
                          </a:solidFill>
                          <a:latin typeface="Arial"/>
                        </a:defRPr>
                      </a:pPr>
                      <a:r>
                        <a:rPr lang="en-US" sz="1400" noProof="0" dirty="0">
                          <a:latin typeface="Consolas" panose="020B0609020204030204" pitchFamily="49" charset="0"/>
                        </a:rPr>
                        <a:t>iOS Only</a:t>
                      </a:r>
                    </a:p>
                  </a:txBody>
                  <a:tcPr>
                    <a:solidFill>
                      <a:srgbClr val="000000"/>
                    </a:solidFill>
                  </a:tcPr>
                </a:tc>
                <a:extLst>
                  <a:ext uri="{0D108BD9-81ED-4DB2-BD59-A6C34878D82A}">
                    <a16:rowId xmlns:a16="http://schemas.microsoft.com/office/drawing/2014/main" val="10001"/>
                  </a:ext>
                </a:extLst>
              </a:tr>
              <a:tr h="457200">
                <a:tc>
                  <a:txBody>
                    <a:bodyPr/>
                    <a:lstStyle/>
                    <a:p>
                      <a:pPr rtl="0">
                        <a:defRPr sz="1100">
                          <a:solidFill>
                            <a:srgbClr val="FFFFFF"/>
                          </a:solidFill>
                          <a:latin typeface="Arial"/>
                        </a:defRPr>
                      </a:pPr>
                      <a:r>
                        <a:rPr lang="en-US" sz="1400" b="1" noProof="0" dirty="0" err="1">
                          <a:latin typeface="Consolas" panose="020B0609020204030204" pitchFamily="49" charset="0"/>
                        </a:rPr>
                        <a:t>Habitica</a:t>
                      </a:r>
                      <a:endParaRPr lang="en-US" sz="1400" b="1" noProof="0" dirty="0">
                        <a:latin typeface="Consolas" panose="020B0609020204030204" pitchFamily="49" charset="0"/>
                      </a:endParaRPr>
                    </a:p>
                  </a:txBody>
                  <a:tcPr>
                    <a:solidFill>
                      <a:srgbClr val="0A0A0A"/>
                    </a:solidFill>
                  </a:tcPr>
                </a:tc>
                <a:tc>
                  <a:txBody>
                    <a:bodyPr/>
                    <a:lstStyle/>
                    <a:p>
                      <a:pPr rtl="0">
                        <a:defRPr sz="1100">
                          <a:solidFill>
                            <a:srgbClr val="FFFFFF"/>
                          </a:solidFill>
                          <a:latin typeface="Arial"/>
                        </a:defRPr>
                      </a:pPr>
                      <a:r>
                        <a:rPr lang="en-US" sz="1400" noProof="0" dirty="0">
                          <a:latin typeface="Consolas" panose="020B0609020204030204" pitchFamily="49" charset="0"/>
                        </a:rPr>
                        <a:t>Generic</a:t>
                      </a:r>
                    </a:p>
                  </a:txBody>
                  <a:tcPr>
                    <a:solidFill>
                      <a:srgbClr val="0A0A0A"/>
                    </a:solidFill>
                  </a:tcPr>
                </a:tc>
                <a:tc>
                  <a:txBody>
                    <a:bodyPr/>
                    <a:lstStyle/>
                    <a:p>
                      <a:pPr rtl="0">
                        <a:defRPr sz="1100">
                          <a:solidFill>
                            <a:srgbClr val="FFFFFF"/>
                          </a:solidFill>
                          <a:latin typeface="Arial"/>
                        </a:defRPr>
                      </a:pPr>
                      <a:r>
                        <a:rPr lang="en-US" sz="1400" noProof="0" dirty="0">
                          <a:latin typeface="Consolas" panose="020B0609020204030204" pitchFamily="49" charset="0"/>
                        </a:rPr>
                        <a:t>Basic Stats</a:t>
                      </a:r>
                    </a:p>
                  </a:txBody>
                  <a:tcPr>
                    <a:solidFill>
                      <a:srgbClr val="0A0A0A"/>
                    </a:solidFill>
                  </a:tcPr>
                </a:tc>
                <a:tc>
                  <a:txBody>
                    <a:bodyPr/>
                    <a:lstStyle/>
                    <a:p>
                      <a:pPr rtl="0">
                        <a:defRPr sz="1100">
                          <a:solidFill>
                            <a:srgbClr val="FFFFFF"/>
                          </a:solidFill>
                          <a:latin typeface="Arial"/>
                        </a:defRPr>
                      </a:pPr>
                      <a:r>
                        <a:rPr lang="en-US" sz="1400" noProof="0" dirty="0">
                          <a:latin typeface="Consolas" panose="020B0609020204030204" pitchFamily="49" charset="0"/>
                        </a:rPr>
                        <a:t>-</a:t>
                      </a:r>
                    </a:p>
                  </a:txBody>
                  <a:tcPr>
                    <a:solidFill>
                      <a:srgbClr val="0A0A0A"/>
                    </a:solidFill>
                  </a:tcPr>
                </a:tc>
                <a:tc>
                  <a:txBody>
                    <a:bodyPr/>
                    <a:lstStyle/>
                    <a:p>
                      <a:pPr rtl="0">
                        <a:defRPr sz="1100">
                          <a:solidFill>
                            <a:srgbClr val="FFFFFF"/>
                          </a:solidFill>
                          <a:latin typeface="Arial"/>
                        </a:defRPr>
                      </a:pPr>
                      <a:r>
                        <a:rPr lang="en-US" sz="1400" noProof="0" dirty="0">
                          <a:latin typeface="Consolas" panose="020B0609020204030204" pitchFamily="49" charset="0"/>
                        </a:rPr>
                        <a:t>Yes</a:t>
                      </a:r>
                    </a:p>
                  </a:txBody>
                  <a:tcPr>
                    <a:solidFill>
                      <a:srgbClr val="0A0A0A"/>
                    </a:solidFill>
                  </a:tcPr>
                </a:tc>
                <a:extLst>
                  <a:ext uri="{0D108BD9-81ED-4DB2-BD59-A6C34878D82A}">
                    <a16:rowId xmlns:a16="http://schemas.microsoft.com/office/drawing/2014/main" val="10002"/>
                  </a:ext>
                </a:extLst>
              </a:tr>
              <a:tr h="457200">
                <a:tc>
                  <a:txBody>
                    <a:bodyPr/>
                    <a:lstStyle/>
                    <a:p>
                      <a:pPr rtl="0">
                        <a:defRPr sz="1100">
                          <a:solidFill>
                            <a:srgbClr val="FFFFFF"/>
                          </a:solidFill>
                          <a:latin typeface="Arial"/>
                        </a:defRPr>
                      </a:pPr>
                      <a:r>
                        <a:rPr lang="en-US" sz="1400" b="1" noProof="0" dirty="0">
                          <a:latin typeface="Consolas" panose="020B0609020204030204" pitchFamily="49" charset="0"/>
                        </a:rPr>
                        <a:t>Loop</a:t>
                      </a:r>
                    </a:p>
                  </a:txBody>
                  <a:tcPr>
                    <a:solidFill>
                      <a:srgbClr val="000000"/>
                    </a:solidFill>
                  </a:tcPr>
                </a:tc>
                <a:tc>
                  <a:txBody>
                    <a:bodyPr/>
                    <a:lstStyle/>
                    <a:p>
                      <a:pPr rtl="0">
                        <a:defRPr sz="1100">
                          <a:solidFill>
                            <a:srgbClr val="FFFFFF"/>
                          </a:solidFill>
                          <a:latin typeface="Arial"/>
                        </a:defRPr>
                      </a:pPr>
                      <a:r>
                        <a:rPr lang="en-US" sz="1400" noProof="0" dirty="0">
                          <a:latin typeface="Consolas" panose="020B0609020204030204" pitchFamily="49" charset="0"/>
                        </a:rPr>
                        <a:t>-</a:t>
                      </a:r>
                    </a:p>
                  </a:txBody>
                  <a:tcPr>
                    <a:solidFill>
                      <a:srgbClr val="000000"/>
                    </a:solidFill>
                  </a:tcPr>
                </a:tc>
                <a:tc>
                  <a:txBody>
                    <a:bodyPr/>
                    <a:lstStyle/>
                    <a:p>
                      <a:pPr rtl="0">
                        <a:defRPr sz="1100">
                          <a:solidFill>
                            <a:srgbClr val="FFFFFF"/>
                          </a:solidFill>
                          <a:latin typeface="Arial"/>
                        </a:defRPr>
                      </a:pPr>
                      <a:r>
                        <a:rPr lang="en-US" sz="1400" noProof="0" dirty="0">
                          <a:latin typeface="Consolas" panose="020B0609020204030204" pitchFamily="49" charset="0"/>
                        </a:rPr>
                        <a:t>Decent Analysis</a:t>
                      </a:r>
                    </a:p>
                  </a:txBody>
                  <a:tcPr>
                    <a:solidFill>
                      <a:srgbClr val="000000"/>
                    </a:solidFill>
                  </a:tcPr>
                </a:tc>
                <a:tc>
                  <a:txBody>
                    <a:bodyPr/>
                    <a:lstStyle/>
                    <a:p>
                      <a:pPr rtl="0">
                        <a:defRPr sz="1100">
                          <a:solidFill>
                            <a:srgbClr val="FFFFFF"/>
                          </a:solidFill>
                          <a:latin typeface="Arial"/>
                        </a:defRPr>
                      </a:pPr>
                      <a:r>
                        <a:rPr lang="en-US" sz="1400" noProof="0" dirty="0">
                          <a:latin typeface="Consolas" panose="020B0609020204030204" pitchFamily="49" charset="0"/>
                        </a:rPr>
                        <a:t>-</a:t>
                      </a:r>
                    </a:p>
                  </a:txBody>
                  <a:tcPr>
                    <a:solidFill>
                      <a:srgbClr val="000000"/>
                    </a:solidFill>
                  </a:tcPr>
                </a:tc>
                <a:tc>
                  <a:txBody>
                    <a:bodyPr/>
                    <a:lstStyle/>
                    <a:p>
                      <a:pPr rtl="0">
                        <a:defRPr sz="1100">
                          <a:solidFill>
                            <a:srgbClr val="FFFFFF"/>
                          </a:solidFill>
                          <a:latin typeface="Arial"/>
                        </a:defRPr>
                      </a:pPr>
                      <a:r>
                        <a:rPr lang="en-US" sz="1400" noProof="0" dirty="0">
                          <a:latin typeface="Consolas" panose="020B0609020204030204" pitchFamily="49" charset="0"/>
                        </a:rPr>
                        <a:t>Android</a:t>
                      </a:r>
                    </a:p>
                  </a:txBody>
                  <a:tcPr>
                    <a:solidFill>
                      <a:srgbClr val="000000"/>
                    </a:solidFill>
                  </a:tcPr>
                </a:tc>
                <a:extLst>
                  <a:ext uri="{0D108BD9-81ED-4DB2-BD59-A6C34878D82A}">
                    <a16:rowId xmlns:a16="http://schemas.microsoft.com/office/drawing/2014/main" val="10003"/>
                  </a:ext>
                </a:extLst>
              </a:tr>
              <a:tr h="457200">
                <a:tc>
                  <a:txBody>
                    <a:bodyPr/>
                    <a:lstStyle/>
                    <a:p>
                      <a:pPr rtl="0">
                        <a:defRPr sz="1100">
                          <a:solidFill>
                            <a:srgbClr val="FFFFFF"/>
                          </a:solidFill>
                          <a:latin typeface="Arial"/>
                        </a:defRPr>
                      </a:pPr>
                      <a:r>
                        <a:rPr lang="en-US" sz="1400" b="1" noProof="0" dirty="0" err="1">
                          <a:latin typeface="Consolas" panose="020B0609020204030204" pitchFamily="49" charset="0"/>
                        </a:rPr>
                        <a:t>Habitify</a:t>
                      </a:r>
                      <a:endParaRPr lang="en-US" sz="1400" b="1" noProof="0" dirty="0">
                        <a:latin typeface="Consolas" panose="020B0609020204030204" pitchFamily="49" charset="0"/>
                      </a:endParaRPr>
                    </a:p>
                  </a:txBody>
                  <a:tcPr>
                    <a:solidFill>
                      <a:srgbClr val="0A0A0A"/>
                    </a:solidFill>
                  </a:tcPr>
                </a:tc>
                <a:tc>
                  <a:txBody>
                    <a:bodyPr/>
                    <a:lstStyle/>
                    <a:p>
                      <a:pPr rtl="0">
                        <a:defRPr sz="1100">
                          <a:solidFill>
                            <a:srgbClr val="FFFFFF"/>
                          </a:solidFill>
                          <a:latin typeface="Arial"/>
                        </a:defRPr>
                      </a:pPr>
                      <a:r>
                        <a:rPr lang="en-US" sz="1400" noProof="0" dirty="0">
                          <a:latin typeface="Consolas" panose="020B0609020204030204" pitchFamily="49" charset="0"/>
                        </a:rPr>
                        <a:t>-</a:t>
                      </a:r>
                    </a:p>
                  </a:txBody>
                  <a:tcPr>
                    <a:solidFill>
                      <a:srgbClr val="0A0A0A"/>
                    </a:solidFill>
                  </a:tcPr>
                </a:tc>
                <a:tc>
                  <a:txBody>
                    <a:bodyPr/>
                    <a:lstStyle/>
                    <a:p>
                      <a:pPr rtl="0">
                        <a:defRPr sz="1100">
                          <a:solidFill>
                            <a:srgbClr val="FFFFFF"/>
                          </a:solidFill>
                          <a:latin typeface="Arial"/>
                        </a:defRPr>
                      </a:pPr>
                      <a:r>
                        <a:rPr lang="en-US" sz="1400" noProof="0" dirty="0">
                          <a:latin typeface="Consolas" panose="020B0609020204030204" pitchFamily="49" charset="0"/>
                        </a:rPr>
                        <a:t>Only Mood Tracking</a:t>
                      </a:r>
                    </a:p>
                  </a:txBody>
                  <a:tcPr>
                    <a:solidFill>
                      <a:srgbClr val="0A0A0A"/>
                    </a:solidFill>
                  </a:tcPr>
                </a:tc>
                <a:tc>
                  <a:txBody>
                    <a:bodyPr/>
                    <a:lstStyle/>
                    <a:p>
                      <a:pPr rtl="0">
                        <a:defRPr sz="1100">
                          <a:solidFill>
                            <a:srgbClr val="FFFFFF"/>
                          </a:solidFill>
                          <a:latin typeface="Arial"/>
                        </a:defRPr>
                      </a:pPr>
                      <a:r>
                        <a:rPr lang="en-US" sz="1400" noProof="0" dirty="0">
                          <a:latin typeface="Consolas" panose="020B0609020204030204" pitchFamily="49" charset="0"/>
                        </a:rPr>
                        <a:t>Notes per habit</a:t>
                      </a:r>
                    </a:p>
                  </a:txBody>
                  <a:tcPr>
                    <a:solidFill>
                      <a:srgbClr val="0A0A0A"/>
                    </a:solidFill>
                  </a:tcPr>
                </a:tc>
                <a:tc>
                  <a:txBody>
                    <a:bodyPr/>
                    <a:lstStyle/>
                    <a:p>
                      <a:pPr rtl="0">
                        <a:defRPr sz="1100">
                          <a:solidFill>
                            <a:srgbClr val="FFFFFF"/>
                          </a:solidFill>
                          <a:latin typeface="Arial"/>
                        </a:defRPr>
                      </a:pPr>
                      <a:r>
                        <a:rPr lang="en-US" sz="1400" noProof="0" dirty="0">
                          <a:latin typeface="Consolas" panose="020B0609020204030204" pitchFamily="49" charset="0"/>
                        </a:rPr>
                        <a:t>Yes</a:t>
                      </a:r>
                    </a:p>
                  </a:txBody>
                  <a:tcPr>
                    <a:solidFill>
                      <a:srgbClr val="0A0A0A"/>
                    </a:solidFill>
                  </a:tcPr>
                </a:tc>
                <a:extLst>
                  <a:ext uri="{0D108BD9-81ED-4DB2-BD59-A6C34878D82A}">
                    <a16:rowId xmlns:a16="http://schemas.microsoft.com/office/drawing/2014/main" val="10004"/>
                  </a:ext>
                </a:extLst>
              </a:tr>
            </a:tbl>
          </a:graphicData>
        </a:graphic>
      </p:graphicFrame>
      <p:grpSp>
        <p:nvGrpSpPr>
          <p:cNvPr id="4" name="Group 3">
            <a:extLst>
              <a:ext uri="{FF2B5EF4-FFF2-40B4-BE49-F238E27FC236}">
                <a16:creationId xmlns:a16="http://schemas.microsoft.com/office/drawing/2014/main" id="{E231089D-26B1-08D5-9CD4-E5ABF9027037}"/>
              </a:ext>
            </a:extLst>
          </p:cNvPr>
          <p:cNvGrpSpPr/>
          <p:nvPr/>
        </p:nvGrpSpPr>
        <p:grpSpPr>
          <a:xfrm>
            <a:off x="641628" y="4906955"/>
            <a:ext cx="5306700" cy="1262845"/>
            <a:chOff x="641628" y="4906955"/>
            <a:chExt cx="5306700" cy="1262845"/>
          </a:xfrm>
        </p:grpSpPr>
        <p:sp>
          <p:nvSpPr>
            <p:cNvPr id="9" name="Rectangle 8">
              <a:extLst>
                <a:ext uri="{FF2B5EF4-FFF2-40B4-BE49-F238E27FC236}">
                  <a16:creationId xmlns:a16="http://schemas.microsoft.com/office/drawing/2014/main" id="{3E41288D-2CA9-BD09-17C2-24688C5AED86}"/>
                </a:ext>
              </a:extLst>
            </p:cNvPr>
            <p:cNvSpPr>
              <a:spLocks/>
            </p:cNvSpPr>
            <p:nvPr/>
          </p:nvSpPr>
          <p:spPr>
            <a:xfrm>
              <a:off x="641628" y="4906955"/>
              <a:ext cx="5306700" cy="1262845"/>
            </a:xfrm>
            <a:prstGeom prst="rect">
              <a:avLst/>
            </a:prstGeom>
            <a:solidFill>
              <a:srgbClr val="00000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noProof="0" dirty="0">
                <a:solidFill>
                  <a:srgbClr val="A78BFA"/>
                </a:solidFill>
                <a:latin typeface="Consolas" panose="020B0609020204030204" pitchFamily="49" charset="0"/>
              </a:endParaRPr>
            </a:p>
          </p:txBody>
        </p:sp>
        <p:sp>
          <p:nvSpPr>
            <p:cNvPr id="11" name="TextBox 10">
              <a:extLst>
                <a:ext uri="{FF2B5EF4-FFF2-40B4-BE49-F238E27FC236}">
                  <a16:creationId xmlns:a16="http://schemas.microsoft.com/office/drawing/2014/main" id="{90B6A88E-2885-181C-1611-B498E444A772}"/>
                </a:ext>
              </a:extLst>
            </p:cNvPr>
            <p:cNvSpPr txBox="1">
              <a:spLocks/>
            </p:cNvSpPr>
            <p:nvPr/>
          </p:nvSpPr>
          <p:spPr>
            <a:xfrm>
              <a:off x="771205" y="4999768"/>
              <a:ext cx="5047546" cy="1077218"/>
            </a:xfrm>
            <a:prstGeom prst="rect">
              <a:avLst/>
            </a:prstGeom>
            <a:noFill/>
          </p:spPr>
          <p:txBody>
            <a:bodyPr wrap="square">
              <a:noAutofit/>
            </a:bodyPr>
            <a:lstStyle/>
            <a:p>
              <a:pPr algn="l"/>
              <a:r>
                <a:rPr lang="en-US" b="1" noProof="0" dirty="0">
                  <a:solidFill>
                    <a:schemeClr val="accent4"/>
                  </a:solidFill>
                  <a:latin typeface="Consolas" panose="020B0609020204030204" pitchFamily="49" charset="0"/>
                </a:rPr>
                <a:t>+50%</a:t>
              </a:r>
              <a:r>
                <a:rPr lang="en-US" sz="1600" b="1" noProof="0" dirty="0">
                  <a:solidFill>
                    <a:schemeClr val="accent4"/>
                  </a:solidFill>
                  <a:latin typeface="Consolas" panose="020B0609020204030204" pitchFamily="49" charset="0"/>
                </a:rPr>
                <a:t> </a:t>
              </a:r>
              <a:r>
                <a:rPr lang="en-US" sz="1400" b="1" noProof="0" dirty="0">
                  <a:solidFill>
                    <a:srgbClr val="FFFFFF"/>
                  </a:solidFill>
                  <a:latin typeface="Consolas" panose="020B0609020204030204" pitchFamily="49" charset="0"/>
                </a:rPr>
                <a:t>users discontinue app usage due to lack of personalization or overwhelming interface design </a:t>
              </a:r>
              <a:r>
                <a:rPr lang="en-US" b="1" noProof="0" dirty="0">
                  <a:solidFill>
                    <a:schemeClr val="accent4"/>
                  </a:solidFill>
                  <a:latin typeface="Consolas" panose="020B0609020204030204" pitchFamily="49" charset="0"/>
                </a:rPr>
                <a:t>44% </a:t>
              </a:r>
              <a:r>
                <a:rPr lang="en-US" sz="1400" b="1" noProof="0" dirty="0">
                  <a:solidFill>
                    <a:srgbClr val="FFFFFF"/>
                  </a:solidFill>
                  <a:latin typeface="Consolas" panose="020B0609020204030204" pitchFamily="49" charset="0"/>
                </a:rPr>
                <a:t>switch apps due to motivation drop-off after missing habit streaks</a:t>
              </a:r>
            </a:p>
          </p:txBody>
        </p:sp>
      </p:grpSp>
      <p:sp>
        <p:nvSpPr>
          <p:cNvPr id="16" name="TextBox 15">
            <a:extLst>
              <a:ext uri="{FF2B5EF4-FFF2-40B4-BE49-F238E27FC236}">
                <a16:creationId xmlns:a16="http://schemas.microsoft.com/office/drawing/2014/main" id="{D8B3AF9D-F1BE-8193-5D1B-2D8C28206993}"/>
              </a:ext>
            </a:extLst>
          </p:cNvPr>
          <p:cNvSpPr txBox="1"/>
          <p:nvPr/>
        </p:nvSpPr>
        <p:spPr>
          <a:xfrm>
            <a:off x="11687362" y="6356866"/>
            <a:ext cx="274320"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r>
              <a:rPr lang="en-US" b="0" noProof="0" dirty="0"/>
              <a:t>6</a:t>
            </a:r>
          </a:p>
        </p:txBody>
      </p:sp>
      <p:grpSp>
        <p:nvGrpSpPr>
          <p:cNvPr id="18" name="Group 17">
            <a:extLst>
              <a:ext uri="{FF2B5EF4-FFF2-40B4-BE49-F238E27FC236}">
                <a16:creationId xmlns:a16="http://schemas.microsoft.com/office/drawing/2014/main" id="{DF8E57DF-D534-0B28-D74C-2DCA4EE2EA7A}"/>
              </a:ext>
            </a:extLst>
          </p:cNvPr>
          <p:cNvGrpSpPr/>
          <p:nvPr/>
        </p:nvGrpSpPr>
        <p:grpSpPr>
          <a:xfrm>
            <a:off x="11321601" y="320040"/>
            <a:ext cx="640080" cy="640080"/>
            <a:chOff x="11094415" y="320040"/>
            <a:chExt cx="640080" cy="640080"/>
          </a:xfrm>
        </p:grpSpPr>
        <p:sp>
          <p:nvSpPr>
            <p:cNvPr id="19" name="Rounded Rectangle 1">
              <a:extLst>
                <a:ext uri="{FF2B5EF4-FFF2-40B4-BE49-F238E27FC236}">
                  <a16:creationId xmlns:a16="http://schemas.microsoft.com/office/drawing/2014/main" id="{672CF7F3-EB00-3C9A-5AE2-D04CC85BAF53}"/>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0" name="Rectangle 19">
              <a:extLst>
                <a:ext uri="{FF2B5EF4-FFF2-40B4-BE49-F238E27FC236}">
                  <a16:creationId xmlns:a16="http://schemas.microsoft.com/office/drawing/2014/main" id="{7D683979-8F3C-D2C1-9B9A-BA3C2A8258E5}"/>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1A1B9995-E07F-EBC9-3111-43D449D99893}"/>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E7A0F28D-1683-B941-9C2A-9B71AD579E14}"/>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24" name="TextBox 23">
            <a:extLst>
              <a:ext uri="{FF2B5EF4-FFF2-40B4-BE49-F238E27FC236}">
                <a16:creationId xmlns:a16="http://schemas.microsoft.com/office/drawing/2014/main" id="{244E0BC6-3AD6-91C2-97B7-15C5639F4D11}"/>
              </a:ext>
            </a:extLst>
          </p:cNvPr>
          <p:cNvSpPr txBox="1"/>
          <p:nvPr/>
        </p:nvSpPr>
        <p:spPr>
          <a:xfrm>
            <a:off x="548640" y="6356866"/>
            <a:ext cx="10804561" cy="276999"/>
          </a:xfrm>
          <a:prstGeom prst="rect">
            <a:avLst/>
          </a:prstGeom>
          <a:noFill/>
        </p:spPr>
        <p:txBody>
          <a:bodyPr wrap="none">
            <a:spAutoFit/>
          </a:bodyPr>
          <a:lstStyle/>
          <a:p>
            <a:r>
              <a:rPr lang="en-US" sz="1200" b="0" noProof="0" dirty="0">
                <a:solidFill>
                  <a:srgbClr val="FFFFFF"/>
                </a:solidFill>
                <a:latin typeface="Consolas" panose="020B0609020204030204" pitchFamily="49" charset="0"/>
              </a:rPr>
              <a:t>Source: </a:t>
            </a:r>
            <a:r>
              <a:rPr lang="en-US" sz="1200" b="0" noProof="0" dirty="0">
                <a:solidFill>
                  <a:schemeClr val="bg1"/>
                </a:solidFill>
                <a:latin typeface="Consolas" panose="020B0609020204030204" pitchFamily="49" charset="0"/>
              </a:rPr>
              <a:t>Habit Tracker Apps Websites, App Store User’s Reviews, </a:t>
            </a:r>
            <a:r>
              <a:rPr lang="en-US" sz="1200" noProof="0" dirty="0">
                <a:solidFill>
                  <a:schemeClr val="bg1"/>
                </a:solidFill>
                <a:latin typeface="Consolas" panose="020B0609020204030204" pitchFamily="49" charset="0"/>
                <a:hlinkClick r:id="rId7">
                  <a:extLst>
                    <a:ext uri="{A12FA001-AC4F-418D-AE19-62706E023703}">
                      <ahyp:hlinkClr xmlns:ahyp="http://schemas.microsoft.com/office/drawing/2018/hyperlinkcolor" val="tx"/>
                    </a:ext>
                  </a:extLst>
                </a:hlinkClick>
              </a:rPr>
              <a:t>Global Habit Tracking App Market Size - Global Growth Insights</a:t>
            </a:r>
            <a:endParaRPr lang="en-US" sz="1200" noProof="0" dirty="0">
              <a:solidFill>
                <a:schemeClr val="bg1"/>
              </a:solidFill>
              <a:latin typeface="Consolas" panose="020B0609020204030204" pitchFamily="49" charset="0"/>
            </a:endParaRPr>
          </a:p>
        </p:txBody>
      </p:sp>
      <p:grpSp>
        <p:nvGrpSpPr>
          <p:cNvPr id="5" name="Group 4">
            <a:extLst>
              <a:ext uri="{FF2B5EF4-FFF2-40B4-BE49-F238E27FC236}">
                <a16:creationId xmlns:a16="http://schemas.microsoft.com/office/drawing/2014/main" id="{9D8B93FC-5AE8-32B0-6B5C-4404B662EB9F}"/>
              </a:ext>
            </a:extLst>
          </p:cNvPr>
          <p:cNvGrpSpPr/>
          <p:nvPr/>
        </p:nvGrpSpPr>
        <p:grpSpPr>
          <a:xfrm>
            <a:off x="6380664" y="4906955"/>
            <a:ext cx="5306700" cy="1262845"/>
            <a:chOff x="6380664" y="4906955"/>
            <a:chExt cx="5306700" cy="1262845"/>
          </a:xfrm>
        </p:grpSpPr>
        <p:sp>
          <p:nvSpPr>
            <p:cNvPr id="2" name="Rectangle 1">
              <a:extLst>
                <a:ext uri="{FF2B5EF4-FFF2-40B4-BE49-F238E27FC236}">
                  <a16:creationId xmlns:a16="http://schemas.microsoft.com/office/drawing/2014/main" id="{460C2C46-79A6-D6CD-1AAE-B743E6C7497B}"/>
                </a:ext>
              </a:extLst>
            </p:cNvPr>
            <p:cNvSpPr>
              <a:spLocks/>
            </p:cNvSpPr>
            <p:nvPr/>
          </p:nvSpPr>
          <p:spPr>
            <a:xfrm>
              <a:off x="6380664" y="4906955"/>
              <a:ext cx="5306700" cy="1262845"/>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noProof="0" dirty="0">
                <a:solidFill>
                  <a:srgbClr val="A78BFA"/>
                </a:solidFill>
                <a:latin typeface="Consolas" panose="020B0609020204030204" pitchFamily="49" charset="0"/>
              </a:endParaRPr>
            </a:p>
          </p:txBody>
        </p:sp>
        <p:sp>
          <p:nvSpPr>
            <p:cNvPr id="3" name="TextBox 2">
              <a:extLst>
                <a:ext uri="{FF2B5EF4-FFF2-40B4-BE49-F238E27FC236}">
                  <a16:creationId xmlns:a16="http://schemas.microsoft.com/office/drawing/2014/main" id="{584483DF-F700-3DC0-99D0-B6D0ED22D329}"/>
                </a:ext>
              </a:extLst>
            </p:cNvPr>
            <p:cNvSpPr txBox="1">
              <a:spLocks/>
            </p:cNvSpPr>
            <p:nvPr/>
          </p:nvSpPr>
          <p:spPr>
            <a:xfrm>
              <a:off x="6510241" y="4922825"/>
              <a:ext cx="5047546" cy="1231106"/>
            </a:xfrm>
            <a:prstGeom prst="rect">
              <a:avLst/>
            </a:prstGeom>
            <a:noFill/>
          </p:spPr>
          <p:txBody>
            <a:bodyPr wrap="square">
              <a:noAutofit/>
            </a:bodyPr>
            <a:lstStyle/>
            <a:p>
              <a:r>
                <a:rPr lang="en-US" b="1" noProof="0" dirty="0">
                  <a:solidFill>
                    <a:srgbClr val="CCFF00"/>
                  </a:solidFill>
                  <a:latin typeface="Consolas" panose="020B0609020204030204" pitchFamily="49" charset="0"/>
                </a:rPr>
                <a:t>Axiom Forge</a:t>
              </a:r>
              <a:r>
                <a:rPr lang="en-US" sz="1400" b="1" noProof="0" dirty="0">
                  <a:solidFill>
                    <a:srgbClr val="FFFFFF"/>
                  </a:solidFill>
                  <a:latin typeface="Consolas" panose="020B0609020204030204" pitchFamily="49" charset="0"/>
                </a:rPr>
                <a:t> is designed to maximize long-term user retention, built around three pillars       —</a:t>
              </a:r>
              <a:r>
                <a:rPr lang="en-US" sz="1400" b="1" i="1" noProof="0" dirty="0">
                  <a:solidFill>
                    <a:srgbClr val="FFFFFF"/>
                  </a:solidFill>
                  <a:latin typeface="Consolas" panose="020B0609020204030204" pitchFamily="49" charset="0"/>
                </a:rPr>
                <a:t>Actionability</a:t>
              </a:r>
              <a:r>
                <a:rPr lang="en-US" sz="1400" b="1" noProof="0" dirty="0">
                  <a:solidFill>
                    <a:srgbClr val="FFFFFF"/>
                  </a:solidFill>
                  <a:latin typeface="Consolas" panose="020B0609020204030204" pitchFamily="49" charset="0"/>
                </a:rPr>
                <a:t>, </a:t>
              </a:r>
              <a:r>
                <a:rPr lang="en-US" sz="1400" b="1" i="1" noProof="0" dirty="0">
                  <a:solidFill>
                    <a:srgbClr val="FFFFFF"/>
                  </a:solidFill>
                  <a:latin typeface="Consolas" panose="020B0609020204030204" pitchFamily="49" charset="0"/>
                </a:rPr>
                <a:t>Understanding</a:t>
              </a:r>
              <a:r>
                <a:rPr lang="en-US" sz="1400" b="1" noProof="0" dirty="0">
                  <a:solidFill>
                    <a:srgbClr val="FFFFFF"/>
                  </a:solidFill>
                  <a:latin typeface="Consolas" panose="020B0609020204030204" pitchFamily="49" charset="0"/>
                </a:rPr>
                <a:t> and </a:t>
              </a:r>
              <a:r>
                <a:rPr lang="en-US" sz="1400" b="1" i="1" noProof="0" dirty="0">
                  <a:solidFill>
                    <a:srgbClr val="FFFFFF"/>
                  </a:solidFill>
                  <a:latin typeface="Consolas" panose="020B0609020204030204" pitchFamily="49" charset="0"/>
                </a:rPr>
                <a:t>Momentum</a:t>
              </a:r>
              <a:r>
                <a:rPr lang="en-US" sz="1400" b="1" noProof="0" dirty="0">
                  <a:solidFill>
                    <a:srgbClr val="FFFFFF"/>
                  </a:solidFill>
                  <a:latin typeface="Consolas" panose="020B0609020204030204" pitchFamily="49" charset="0"/>
                </a:rPr>
                <a:t>— and a strict </a:t>
              </a:r>
              <a:r>
                <a:rPr lang="en-US" sz="1400" b="1" i="1" noProof="0" dirty="0">
                  <a:solidFill>
                    <a:srgbClr val="FFFFFF"/>
                  </a:solidFill>
                  <a:latin typeface="Consolas" panose="020B0609020204030204" pitchFamily="49" charset="0"/>
                </a:rPr>
                <a:t>No-BS </a:t>
              </a:r>
              <a:r>
                <a:rPr lang="en-US" sz="1400" b="1" noProof="0" dirty="0">
                  <a:solidFill>
                    <a:srgbClr val="FFFFFF"/>
                  </a:solidFill>
                  <a:latin typeface="Consolas" panose="020B0609020204030204" pitchFamily="49" charset="0"/>
                </a:rPr>
                <a:t>philosophy reflected across its feature set, visual language, and user interface</a:t>
              </a:r>
            </a:p>
          </p:txBody>
        </p:sp>
      </p:grpSp>
    </p:spTree>
    <p:custDataLst>
      <p:tags r:id="rId1"/>
    </p:custDataLst>
    <p:extLst>
      <p:ext uri="{BB962C8B-B14F-4D97-AF65-F5344CB8AC3E}">
        <p14:creationId xmlns:p14="http://schemas.microsoft.com/office/powerpoint/2010/main" val="2698470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EC0F308E-4259-D381-17B6-6F53D5E7467A}"/>
              </a:ext>
            </a:extLst>
          </p:cNvPr>
          <p:cNvGraphicFramePr>
            <a:graphicFrameLocks noChangeAspect="1"/>
          </p:cNvGraphicFramePr>
          <p:nvPr>
            <p:custDataLst>
              <p:tags r:id="rId2"/>
            </p:custDataLst>
            <p:extLst>
              <p:ext uri="{D42A27DB-BD31-4B8C-83A1-F6EECF244321}">
                <p14:modId xmlns:p14="http://schemas.microsoft.com/office/powerpoint/2010/main" val="19374474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Box 5"/>
          <p:cNvSpPr txBox="1"/>
          <p:nvPr/>
        </p:nvSpPr>
        <p:spPr>
          <a:xfrm>
            <a:off x="548640" y="320040"/>
            <a:ext cx="1377300" cy="307777"/>
          </a:xfrm>
          <a:prstGeom prst="rect">
            <a:avLst/>
          </a:prstGeom>
          <a:noFill/>
        </p:spPr>
        <p:txBody>
          <a:bodyPr wrap="none">
            <a:spAutoFit/>
          </a:bodyPr>
          <a:lstStyle/>
          <a:p>
            <a:pPr algn="l"/>
            <a:r>
              <a:rPr lang="en-US" sz="1400" b="1" noProof="0" dirty="0">
                <a:solidFill>
                  <a:srgbClr val="A78BFA"/>
                </a:solidFill>
                <a:latin typeface="Consolas"/>
              </a:rPr>
              <a:t>// Prototype</a:t>
            </a:r>
          </a:p>
        </p:txBody>
      </p:sp>
      <p:sp>
        <p:nvSpPr>
          <p:cNvPr id="7" name="TextBox 6"/>
          <p:cNvSpPr txBox="1">
            <a:spLocks/>
          </p:cNvSpPr>
          <p:nvPr/>
        </p:nvSpPr>
        <p:spPr>
          <a:xfrm>
            <a:off x="548640" y="640074"/>
            <a:ext cx="10779361" cy="1077218"/>
          </a:xfrm>
          <a:prstGeom prst="rect">
            <a:avLst/>
          </a:prstGeom>
          <a:noFill/>
        </p:spPr>
        <p:txBody>
          <a:bodyPr wrap="square">
            <a:noAutofit/>
          </a:bodyPr>
          <a:lstStyle/>
          <a:p>
            <a:r>
              <a:rPr lang="en-US" sz="3200" b="1" noProof="0" dirty="0">
                <a:solidFill>
                  <a:srgbClr val="FFFFFF"/>
                </a:solidFill>
                <a:latin typeface="Segoe UI Black" panose="020B0A02040204020203" pitchFamily="34" charset="0"/>
                <a:ea typeface="Segoe UI Black" panose="020B0A02040204020203" pitchFamily="34" charset="0"/>
              </a:rPr>
              <a:t>AXIOM FORGE IS CURRENTLY A FULLY-FUNCTIONAL PROTOTYPE, VALIDATED BY EARLY USERS</a:t>
            </a:r>
          </a:p>
        </p:txBody>
      </p:sp>
      <p:sp>
        <p:nvSpPr>
          <p:cNvPr id="9" name="TextBox 8"/>
          <p:cNvSpPr txBox="1"/>
          <p:nvPr/>
        </p:nvSpPr>
        <p:spPr>
          <a:xfrm>
            <a:off x="548640" y="2457998"/>
            <a:ext cx="5272887" cy="3416320"/>
          </a:xfrm>
          <a:prstGeom prst="rect">
            <a:avLst/>
          </a:prstGeom>
          <a:noFill/>
        </p:spPr>
        <p:txBody>
          <a:bodyPr wrap="square">
            <a:spAutoFit/>
          </a:bodyPr>
          <a:lstStyle/>
          <a:p>
            <a:pPr marL="285750" indent="-285750" algn="l">
              <a:spcBef>
                <a:spcPts val="600"/>
              </a:spcBef>
              <a:spcAft>
                <a:spcPts val="600"/>
              </a:spcAft>
              <a:buClr>
                <a:srgbClr val="CCFF00"/>
              </a:buClr>
              <a:buFont typeface="Wingdings" panose="05000000000000000000" pitchFamily="2" charset="2"/>
              <a:buChar char="§"/>
              <a:defRPr sz="1400">
                <a:solidFill>
                  <a:srgbClr val="FFFFFF"/>
                </a:solidFill>
                <a:latin typeface="Arial"/>
              </a:defRPr>
            </a:pPr>
            <a:r>
              <a:rPr lang="en-US" sz="1600" b="1" noProof="0" dirty="0">
                <a:latin typeface="Consolas" panose="020B0609020204030204" pitchFamily="49" charset="0"/>
              </a:rPr>
              <a:t>PWA</a:t>
            </a:r>
            <a:r>
              <a:rPr lang="en-US" sz="1600" b="1" baseline="30000" noProof="0" dirty="0">
                <a:latin typeface="Consolas" panose="020B0609020204030204" pitchFamily="49" charset="0"/>
              </a:rPr>
              <a:t>1</a:t>
            </a:r>
            <a:r>
              <a:rPr lang="en-US" sz="1600" b="1" noProof="0" dirty="0">
                <a:latin typeface="Consolas" panose="020B0609020204030204" pitchFamily="49" charset="0"/>
              </a:rPr>
              <a:t> live </a:t>
            </a:r>
            <a:r>
              <a:rPr lang="en-US" sz="1600" noProof="0" dirty="0">
                <a:latin typeface="Consolas" panose="020B0609020204030204" pitchFamily="49" charset="0"/>
              </a:rPr>
              <a:t>with Firebase auth + cloud sync</a:t>
            </a:r>
          </a:p>
          <a:p>
            <a:pPr marL="285750" indent="-285750">
              <a:spcBef>
                <a:spcPts val="600"/>
              </a:spcBef>
              <a:spcAft>
                <a:spcPts val="600"/>
              </a:spcAft>
              <a:buClr>
                <a:srgbClr val="CCFF00"/>
              </a:buClr>
              <a:buFont typeface="Wingdings" panose="05000000000000000000" pitchFamily="2" charset="2"/>
              <a:buChar char="§"/>
              <a:defRPr sz="1400">
                <a:solidFill>
                  <a:srgbClr val="FFFFFF"/>
                </a:solidFill>
                <a:latin typeface="Arial"/>
              </a:defRPr>
            </a:pPr>
            <a:r>
              <a:rPr lang="en-US" sz="1600" b="1" noProof="0" dirty="0">
                <a:latin typeface="Consolas" panose="020B0609020204030204" pitchFamily="49" charset="0"/>
              </a:rPr>
              <a:t>Daily check-ins </a:t>
            </a:r>
            <a:r>
              <a:rPr lang="en-US" sz="1600" noProof="0" dirty="0">
                <a:latin typeface="Consolas" panose="020B0609020204030204" pitchFamily="49" charset="0"/>
              </a:rPr>
              <a:t>for 4 customizable pre-populated goal-based routines</a:t>
            </a:r>
            <a:endParaRPr lang="en-US" sz="1600" b="1" noProof="0" dirty="0">
              <a:latin typeface="Consolas" panose="020B0609020204030204" pitchFamily="49" charset="0"/>
            </a:endParaRPr>
          </a:p>
          <a:p>
            <a:pPr marL="285750" indent="-285750">
              <a:spcBef>
                <a:spcPts val="600"/>
              </a:spcBef>
              <a:spcAft>
                <a:spcPts val="600"/>
              </a:spcAft>
              <a:buClr>
                <a:srgbClr val="CCFF00"/>
              </a:buClr>
              <a:buFont typeface="Wingdings" panose="05000000000000000000" pitchFamily="2" charset="2"/>
              <a:buChar char="§"/>
              <a:defRPr sz="1400">
                <a:solidFill>
                  <a:srgbClr val="FFFFFF"/>
                </a:solidFill>
                <a:latin typeface="Arial"/>
              </a:defRPr>
            </a:pPr>
            <a:r>
              <a:rPr lang="en-US" sz="1600" b="1" noProof="0" dirty="0">
                <a:latin typeface="Consolas" panose="020B0609020204030204" pitchFamily="49" charset="0"/>
              </a:rPr>
              <a:t>Dashboard </a:t>
            </a:r>
            <a:r>
              <a:rPr lang="en-US" sz="1600" noProof="0" dirty="0">
                <a:latin typeface="Consolas" panose="020B0609020204030204" pitchFamily="49" charset="0"/>
              </a:rPr>
              <a:t>with completion rates trends, streaks, strength scores, calendar heatmap and weekly patterns</a:t>
            </a:r>
          </a:p>
          <a:p>
            <a:pPr marL="285750" indent="-285750" algn="l">
              <a:spcBef>
                <a:spcPts val="600"/>
              </a:spcBef>
              <a:spcAft>
                <a:spcPts val="600"/>
              </a:spcAft>
              <a:buClr>
                <a:srgbClr val="CCFF00"/>
              </a:buClr>
              <a:buFont typeface="Wingdings" panose="05000000000000000000" pitchFamily="2" charset="2"/>
              <a:buChar char="§"/>
              <a:defRPr sz="1400">
                <a:solidFill>
                  <a:srgbClr val="FFFFFF"/>
                </a:solidFill>
                <a:latin typeface="Arial"/>
              </a:defRPr>
            </a:pPr>
            <a:r>
              <a:rPr lang="en-US" sz="1600" b="1" noProof="0" dirty="0">
                <a:latin typeface="Consolas" panose="020B0609020204030204" pitchFamily="49" charset="0"/>
              </a:rPr>
              <a:t>Smart Insights engine </a:t>
            </a:r>
            <a:r>
              <a:rPr lang="en-US" sz="1600" noProof="0" dirty="0">
                <a:latin typeface="Consolas" panose="020B0609020204030204" pitchFamily="49" charset="0"/>
              </a:rPr>
              <a:t>(incl. correlation, trends, anomalies, sequences)</a:t>
            </a:r>
          </a:p>
          <a:p>
            <a:pPr marL="285750" indent="-285750" algn="l">
              <a:spcBef>
                <a:spcPts val="600"/>
              </a:spcBef>
              <a:spcAft>
                <a:spcPts val="600"/>
              </a:spcAft>
              <a:buClr>
                <a:srgbClr val="CCFF00"/>
              </a:buClr>
              <a:buFont typeface="Wingdings" panose="05000000000000000000" pitchFamily="2" charset="2"/>
              <a:buChar char="§"/>
              <a:defRPr sz="1400">
                <a:solidFill>
                  <a:srgbClr val="FFFFFF"/>
                </a:solidFill>
                <a:latin typeface="Arial"/>
              </a:defRPr>
            </a:pPr>
            <a:r>
              <a:rPr lang="en-US" sz="1600" b="1" noProof="0" dirty="0">
                <a:latin typeface="Consolas" panose="020B0609020204030204" pitchFamily="49" charset="0"/>
              </a:rPr>
              <a:t>Mindset pills </a:t>
            </a:r>
            <a:r>
              <a:rPr lang="en-US" sz="1600" noProof="0" dirty="0">
                <a:latin typeface="Consolas" panose="020B0609020204030204" pitchFamily="49" charset="0"/>
              </a:rPr>
              <a:t>showing quotes from top performers, complemented by rating &amp; personal reflections journal</a:t>
            </a:r>
          </a:p>
        </p:txBody>
      </p:sp>
      <p:sp>
        <p:nvSpPr>
          <p:cNvPr id="11" name="Rectangle 10"/>
          <p:cNvSpPr/>
          <p:nvPr/>
        </p:nvSpPr>
        <p:spPr>
          <a:xfrm>
            <a:off x="6227936" y="2457998"/>
            <a:ext cx="5272887" cy="1438730"/>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12" name="TextBox 11"/>
          <p:cNvSpPr txBox="1"/>
          <p:nvPr/>
        </p:nvSpPr>
        <p:spPr>
          <a:xfrm>
            <a:off x="6370167" y="2595158"/>
            <a:ext cx="3887603" cy="338554"/>
          </a:xfrm>
          <a:prstGeom prst="rect">
            <a:avLst/>
          </a:prstGeom>
          <a:noFill/>
        </p:spPr>
        <p:txBody>
          <a:bodyPr wrap="none">
            <a:spAutoFit/>
          </a:bodyPr>
          <a:lstStyle/>
          <a:p>
            <a:pPr algn="l"/>
            <a:r>
              <a:rPr lang="en-US" sz="1600" b="1" noProof="0" dirty="0">
                <a:solidFill>
                  <a:srgbClr val="FFFFFF"/>
                </a:solidFill>
                <a:latin typeface="Consolas" panose="020B0609020204030204" pitchFamily="49" charset="0"/>
              </a:rPr>
              <a:t>Validated by first early adopters</a:t>
            </a:r>
          </a:p>
        </p:txBody>
      </p:sp>
      <p:sp>
        <p:nvSpPr>
          <p:cNvPr id="13" name="TextBox 12"/>
          <p:cNvSpPr txBox="1">
            <a:spLocks/>
          </p:cNvSpPr>
          <p:nvPr/>
        </p:nvSpPr>
        <p:spPr>
          <a:xfrm>
            <a:off x="6370167" y="2960918"/>
            <a:ext cx="4860018" cy="738664"/>
          </a:xfrm>
          <a:prstGeom prst="rect">
            <a:avLst/>
          </a:prstGeom>
          <a:noFill/>
        </p:spPr>
        <p:txBody>
          <a:bodyPr wrap="square">
            <a:spAutoFit/>
          </a:bodyPr>
          <a:lstStyle/>
          <a:p>
            <a:r>
              <a:rPr lang="en-US" sz="1400" b="0" noProof="0" dirty="0">
                <a:solidFill>
                  <a:schemeClr val="bg1"/>
                </a:solidFill>
                <a:latin typeface="Consolas" panose="020B0609020204030204" pitchFamily="49" charset="0"/>
              </a:rPr>
              <a:t>Qualitative feedback confirms need for clarity, desire for deeper insights</a:t>
            </a:r>
            <a:r>
              <a:rPr lang="en-US" sz="1400" noProof="0" dirty="0">
                <a:solidFill>
                  <a:schemeClr val="bg1"/>
                </a:solidFill>
                <a:latin typeface="Consolas" panose="020B0609020204030204" pitchFamily="49" charset="0"/>
              </a:rPr>
              <a:t>, and love for mindset-boosting quotes</a:t>
            </a:r>
            <a:endParaRPr lang="en-US" sz="1400" b="0" noProof="0" dirty="0">
              <a:solidFill>
                <a:schemeClr val="bg1"/>
              </a:solidFill>
              <a:latin typeface="Consolas" panose="020B0609020204030204" pitchFamily="49" charset="0"/>
            </a:endParaRPr>
          </a:p>
        </p:txBody>
      </p:sp>
      <p:sp>
        <p:nvSpPr>
          <p:cNvPr id="14" name="Rectangle 13"/>
          <p:cNvSpPr/>
          <p:nvPr/>
        </p:nvSpPr>
        <p:spPr>
          <a:xfrm>
            <a:off x="6227936" y="4205582"/>
            <a:ext cx="5272887" cy="1176293"/>
          </a:xfrm>
          <a:prstGeom prst="rect">
            <a:avLst/>
          </a:prstGeom>
          <a:solidFill>
            <a:srgbClr val="00000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15" name="TextBox 14"/>
          <p:cNvSpPr txBox="1"/>
          <p:nvPr/>
        </p:nvSpPr>
        <p:spPr>
          <a:xfrm>
            <a:off x="6370167" y="4355212"/>
            <a:ext cx="2172390" cy="307777"/>
          </a:xfrm>
          <a:prstGeom prst="rect">
            <a:avLst/>
          </a:prstGeom>
          <a:noFill/>
        </p:spPr>
        <p:txBody>
          <a:bodyPr wrap="none">
            <a:spAutoFit/>
          </a:bodyPr>
          <a:lstStyle/>
          <a:p>
            <a:pPr algn="l"/>
            <a:r>
              <a:rPr lang="en-US" sz="1400" b="1" noProof="0" dirty="0">
                <a:solidFill>
                  <a:srgbClr val="FFFFFF"/>
                </a:solidFill>
                <a:latin typeface="Consolas" panose="020B0609020204030204" pitchFamily="49" charset="0"/>
              </a:rPr>
              <a:t>Next Validation Goal</a:t>
            </a:r>
          </a:p>
        </p:txBody>
      </p:sp>
      <p:sp>
        <p:nvSpPr>
          <p:cNvPr id="16" name="TextBox 15"/>
          <p:cNvSpPr txBox="1">
            <a:spLocks/>
          </p:cNvSpPr>
          <p:nvPr/>
        </p:nvSpPr>
        <p:spPr>
          <a:xfrm>
            <a:off x="6370167" y="4754223"/>
            <a:ext cx="4860018" cy="503635"/>
          </a:xfrm>
          <a:prstGeom prst="rect">
            <a:avLst/>
          </a:prstGeom>
          <a:noFill/>
        </p:spPr>
        <p:txBody>
          <a:bodyPr wrap="square">
            <a:noAutofit/>
          </a:bodyPr>
          <a:lstStyle/>
          <a:p>
            <a:pPr algn="l"/>
            <a:r>
              <a:rPr lang="en-US" sz="1400" b="0" noProof="0" dirty="0">
                <a:solidFill>
                  <a:schemeClr val="bg1"/>
                </a:solidFill>
                <a:latin typeface="Consolas" panose="020B0609020204030204" pitchFamily="49" charset="0"/>
              </a:rPr>
              <a:t>Run 40-60 user interviews + beta cohort to confirm retention and pricing</a:t>
            </a:r>
          </a:p>
        </p:txBody>
      </p:sp>
      <p:sp>
        <p:nvSpPr>
          <p:cNvPr id="20" name="TextBox 19">
            <a:extLst>
              <a:ext uri="{FF2B5EF4-FFF2-40B4-BE49-F238E27FC236}">
                <a16:creationId xmlns:a16="http://schemas.microsoft.com/office/drawing/2014/main" id="{BB267598-3CC4-7ADC-15AF-E99078671693}"/>
              </a:ext>
            </a:extLst>
          </p:cNvPr>
          <p:cNvSpPr txBox="1"/>
          <p:nvPr/>
        </p:nvSpPr>
        <p:spPr>
          <a:xfrm>
            <a:off x="11687362" y="6356866"/>
            <a:ext cx="274320"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r>
              <a:rPr lang="en-US" b="0" noProof="0" dirty="0"/>
              <a:t>7</a:t>
            </a:r>
          </a:p>
        </p:txBody>
      </p:sp>
      <p:sp>
        <p:nvSpPr>
          <p:cNvPr id="21" name="TextBox 20">
            <a:extLst>
              <a:ext uri="{FF2B5EF4-FFF2-40B4-BE49-F238E27FC236}">
                <a16:creationId xmlns:a16="http://schemas.microsoft.com/office/drawing/2014/main" id="{47B709CA-2B21-A190-4255-A49E2516F5B9}"/>
              </a:ext>
            </a:extLst>
          </p:cNvPr>
          <p:cNvSpPr txBox="1">
            <a:spLocks/>
          </p:cNvSpPr>
          <p:nvPr/>
        </p:nvSpPr>
        <p:spPr>
          <a:xfrm>
            <a:off x="548640" y="1955936"/>
            <a:ext cx="3614806" cy="365760"/>
          </a:xfrm>
          <a:prstGeom prst="rect">
            <a:avLst/>
          </a:prstGeom>
          <a:noFill/>
        </p:spPr>
        <p:txBody>
          <a:bodyPr wrap="none">
            <a:no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CURRENT STATE</a:t>
            </a:r>
          </a:p>
        </p:txBody>
      </p:sp>
      <p:sp>
        <p:nvSpPr>
          <p:cNvPr id="39" name="TextBox 38">
            <a:extLst>
              <a:ext uri="{FF2B5EF4-FFF2-40B4-BE49-F238E27FC236}">
                <a16:creationId xmlns:a16="http://schemas.microsoft.com/office/drawing/2014/main" id="{8303ECEE-F4A6-2904-BE67-D00B28B32B53}"/>
              </a:ext>
            </a:extLst>
          </p:cNvPr>
          <p:cNvSpPr txBox="1">
            <a:spLocks/>
          </p:cNvSpPr>
          <p:nvPr/>
        </p:nvSpPr>
        <p:spPr>
          <a:xfrm>
            <a:off x="6370167" y="1955936"/>
            <a:ext cx="3614806" cy="365760"/>
          </a:xfrm>
          <a:prstGeom prst="rect">
            <a:avLst/>
          </a:prstGeom>
          <a:noFill/>
        </p:spPr>
        <p:txBody>
          <a:bodyPr wrap="none">
            <a:no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VALIDATION</a:t>
            </a:r>
          </a:p>
        </p:txBody>
      </p:sp>
      <p:grpSp>
        <p:nvGrpSpPr>
          <p:cNvPr id="46" name="Group 45">
            <a:extLst>
              <a:ext uri="{FF2B5EF4-FFF2-40B4-BE49-F238E27FC236}">
                <a16:creationId xmlns:a16="http://schemas.microsoft.com/office/drawing/2014/main" id="{8922553D-F18D-120B-8A5D-EBC6F746F798}"/>
              </a:ext>
            </a:extLst>
          </p:cNvPr>
          <p:cNvGrpSpPr/>
          <p:nvPr/>
        </p:nvGrpSpPr>
        <p:grpSpPr>
          <a:xfrm>
            <a:off x="11321601" y="320040"/>
            <a:ext cx="640080" cy="640080"/>
            <a:chOff x="11094415" y="320040"/>
            <a:chExt cx="640080" cy="640080"/>
          </a:xfrm>
        </p:grpSpPr>
        <p:sp>
          <p:nvSpPr>
            <p:cNvPr id="47" name="Rounded Rectangle 1">
              <a:extLst>
                <a:ext uri="{FF2B5EF4-FFF2-40B4-BE49-F238E27FC236}">
                  <a16:creationId xmlns:a16="http://schemas.microsoft.com/office/drawing/2014/main" id="{3271F0C0-C321-722C-1535-793D69DAB81A}"/>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8" name="Rectangle 47">
              <a:extLst>
                <a:ext uri="{FF2B5EF4-FFF2-40B4-BE49-F238E27FC236}">
                  <a16:creationId xmlns:a16="http://schemas.microsoft.com/office/drawing/2014/main" id="{95F55C1A-0647-2BDA-202E-2ED51610DE21}"/>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9" name="Rectangle 48">
              <a:extLst>
                <a:ext uri="{FF2B5EF4-FFF2-40B4-BE49-F238E27FC236}">
                  <a16:creationId xmlns:a16="http://schemas.microsoft.com/office/drawing/2014/main" id="{75B488B9-619E-BF7C-96EF-7BACD129F28B}"/>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0" name="Rectangle 49">
              <a:extLst>
                <a:ext uri="{FF2B5EF4-FFF2-40B4-BE49-F238E27FC236}">
                  <a16:creationId xmlns:a16="http://schemas.microsoft.com/office/drawing/2014/main" id="{BB4EBBB4-6377-E9E5-AC62-EB5B73214ED5}"/>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2" name="TextBox 1">
            <a:extLst>
              <a:ext uri="{FF2B5EF4-FFF2-40B4-BE49-F238E27FC236}">
                <a16:creationId xmlns:a16="http://schemas.microsoft.com/office/drawing/2014/main" id="{127D0491-83F7-F12F-5A2A-021AC83BD09C}"/>
              </a:ext>
            </a:extLst>
          </p:cNvPr>
          <p:cNvSpPr txBox="1">
            <a:spLocks/>
          </p:cNvSpPr>
          <p:nvPr/>
        </p:nvSpPr>
        <p:spPr>
          <a:xfrm>
            <a:off x="548640" y="6172200"/>
            <a:ext cx="11150607" cy="461665"/>
          </a:xfrm>
          <a:prstGeom prst="rect">
            <a:avLst/>
          </a:prstGeom>
          <a:noFill/>
        </p:spPr>
        <p:txBody>
          <a:bodyPr wrap="square">
            <a:spAutoFit/>
          </a:bodyPr>
          <a:lstStyle/>
          <a:p>
            <a:r>
              <a:rPr lang="en-US" sz="1200" b="0" noProof="0" dirty="0">
                <a:solidFill>
                  <a:srgbClr val="FFFFFF"/>
                </a:solidFill>
                <a:latin typeface="Consolas" panose="020B0609020204030204" pitchFamily="49" charset="0"/>
              </a:rPr>
              <a:t>1. PWA: Progressive Web App: Web application that behaves much like a native mobile app (e.g., App Store app), offering features such as </a:t>
            </a:r>
            <a:r>
              <a:rPr lang="en-US" sz="1200" noProof="0" dirty="0">
                <a:solidFill>
                  <a:srgbClr val="FFFFFF"/>
                </a:solidFill>
                <a:latin typeface="Consolas" panose="020B0609020204030204" pitchFamily="49" charset="0"/>
              </a:rPr>
              <a:t>offline and low-connectivity support, fast loading, and push notifications. PWAs are also responsive and secure</a:t>
            </a:r>
            <a:r>
              <a:rPr lang="en-US" sz="1200" b="0" noProof="0" dirty="0">
                <a:solidFill>
                  <a:srgbClr val="FFFFFF"/>
                </a:solidFill>
                <a:latin typeface="Consolas" panose="020B0609020204030204" pitchFamily="49" charset="0"/>
              </a:rPr>
              <a:t> </a:t>
            </a:r>
            <a:endParaRPr lang="en-US" sz="1200" noProof="0" dirty="0">
              <a:solidFill>
                <a:schemeClr val="bg1"/>
              </a:solidFill>
              <a:latin typeface="Consolas" panose="020B0609020204030204" pitchFamily="49"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27" name="think-cell data - do not delete" hidden="1">
            <a:extLst>
              <a:ext uri="{FF2B5EF4-FFF2-40B4-BE49-F238E27FC236}">
                <a16:creationId xmlns:a16="http://schemas.microsoft.com/office/drawing/2014/main" id="{6DC37F31-353D-6A8B-48ED-62C3DFAF21FD}"/>
              </a:ext>
            </a:extLst>
          </p:cNvPr>
          <p:cNvGraphicFramePr>
            <a:graphicFrameLocks noChangeAspect="1"/>
          </p:cNvGraphicFramePr>
          <p:nvPr>
            <p:custDataLst>
              <p:tags r:id="rId2"/>
            </p:custDataLst>
            <p:extLst>
              <p:ext uri="{D42A27DB-BD31-4B8C-83A1-F6EECF244321}">
                <p14:modId xmlns:p14="http://schemas.microsoft.com/office/powerpoint/2010/main" val="1333886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4" name="Rectangle 13"/>
          <p:cNvSpPr>
            <a:spLocks/>
          </p:cNvSpPr>
          <p:nvPr/>
        </p:nvSpPr>
        <p:spPr>
          <a:xfrm>
            <a:off x="640381" y="3287959"/>
            <a:ext cx="2743200" cy="2676804"/>
          </a:xfrm>
          <a:prstGeom prst="rect">
            <a:avLst/>
          </a:prstGeom>
          <a:solidFill>
            <a:srgbClr val="000000"/>
          </a:solidFill>
          <a:ln w="2857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noProof="0" dirty="0">
              <a:solidFill>
                <a:schemeClr val="accent4"/>
              </a:solidFill>
            </a:endParaRPr>
          </a:p>
        </p:txBody>
      </p:sp>
      <p:sp>
        <p:nvSpPr>
          <p:cNvPr id="3" name="Rectangle 2">
            <a:extLst>
              <a:ext uri="{FF2B5EF4-FFF2-40B4-BE49-F238E27FC236}">
                <a16:creationId xmlns:a16="http://schemas.microsoft.com/office/drawing/2014/main" id="{F622E7DF-792F-A36F-8CCE-51E709C6E64C}"/>
              </a:ext>
            </a:extLst>
          </p:cNvPr>
          <p:cNvSpPr/>
          <p:nvPr/>
        </p:nvSpPr>
        <p:spPr>
          <a:xfrm>
            <a:off x="3376493" y="3287959"/>
            <a:ext cx="2743200" cy="2676804"/>
          </a:xfrm>
          <a:prstGeom prst="rect">
            <a:avLst/>
          </a:prstGeom>
          <a:solidFill>
            <a:srgbClr val="000000"/>
          </a:solidFill>
          <a:ln w="2857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chemeClr val="accent4"/>
              </a:solidFill>
            </a:endParaRPr>
          </a:p>
        </p:txBody>
      </p:sp>
      <p:sp>
        <p:nvSpPr>
          <p:cNvPr id="26" name="Rectangle 25">
            <a:extLst>
              <a:ext uri="{FF2B5EF4-FFF2-40B4-BE49-F238E27FC236}">
                <a16:creationId xmlns:a16="http://schemas.microsoft.com/office/drawing/2014/main" id="{2EDD1479-1133-5E90-728B-17B1F1A84A5E}"/>
              </a:ext>
            </a:extLst>
          </p:cNvPr>
          <p:cNvSpPr/>
          <p:nvPr/>
        </p:nvSpPr>
        <p:spPr>
          <a:xfrm>
            <a:off x="6119653" y="3287959"/>
            <a:ext cx="2743200" cy="2676804"/>
          </a:xfrm>
          <a:prstGeom prst="rect">
            <a:avLst/>
          </a:prstGeom>
          <a:solidFill>
            <a:srgbClr val="000000"/>
          </a:solidFill>
          <a:ln w="2857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chemeClr val="accent4"/>
              </a:solidFill>
            </a:endParaRPr>
          </a:p>
        </p:txBody>
      </p:sp>
      <p:sp>
        <p:nvSpPr>
          <p:cNvPr id="6" name="TextBox 5"/>
          <p:cNvSpPr txBox="1"/>
          <p:nvPr/>
        </p:nvSpPr>
        <p:spPr>
          <a:xfrm>
            <a:off x="548640" y="320040"/>
            <a:ext cx="1874231" cy="307777"/>
          </a:xfrm>
          <a:prstGeom prst="rect">
            <a:avLst/>
          </a:prstGeom>
          <a:noFill/>
        </p:spPr>
        <p:txBody>
          <a:bodyPr wrap="none">
            <a:spAutoFit/>
          </a:bodyPr>
          <a:lstStyle/>
          <a:p>
            <a:pPr algn="l"/>
            <a:r>
              <a:rPr lang="en-US" sz="1400" b="1" noProof="0" dirty="0">
                <a:solidFill>
                  <a:srgbClr val="A78BFA"/>
                </a:solidFill>
                <a:latin typeface="Consolas"/>
              </a:rPr>
              <a:t>// Business Model</a:t>
            </a:r>
          </a:p>
        </p:txBody>
      </p:sp>
      <p:sp>
        <p:nvSpPr>
          <p:cNvPr id="7" name="TextBox 6"/>
          <p:cNvSpPr txBox="1"/>
          <p:nvPr/>
        </p:nvSpPr>
        <p:spPr>
          <a:xfrm>
            <a:off x="548641" y="640074"/>
            <a:ext cx="10069829" cy="1077218"/>
          </a:xfrm>
          <a:prstGeom prst="rect">
            <a:avLst/>
          </a:prstGeom>
          <a:noFill/>
        </p:spPr>
        <p:txBody>
          <a:bodyPr wrap="square">
            <a:spAutoFit/>
          </a:bodyPr>
          <a:lstStyle/>
          <a:p>
            <a:pPr algn="l"/>
            <a:r>
              <a:rPr lang="en-US" sz="3200" b="1" noProof="0" dirty="0">
                <a:solidFill>
                  <a:schemeClr val="bg1"/>
                </a:solidFill>
                <a:latin typeface="Segoe UI Black" panose="020B0A02040204020203" pitchFamily="34" charset="0"/>
                <a:ea typeface="Segoe UI Black" panose="020B0A02040204020203" pitchFamily="34" charset="0"/>
              </a:rPr>
              <a:t>FREE CORE FEATURES COUPLED WITH PREMIUM PLANS AND BRANDS/INFLUENCERS CONTENT</a:t>
            </a:r>
          </a:p>
        </p:txBody>
      </p:sp>
      <p:grpSp>
        <p:nvGrpSpPr>
          <p:cNvPr id="31" name="Group 30">
            <a:extLst>
              <a:ext uri="{FF2B5EF4-FFF2-40B4-BE49-F238E27FC236}">
                <a16:creationId xmlns:a16="http://schemas.microsoft.com/office/drawing/2014/main" id="{BA8C983D-47B3-F352-CA90-228A13796B94}"/>
              </a:ext>
            </a:extLst>
          </p:cNvPr>
          <p:cNvGrpSpPr/>
          <p:nvPr/>
        </p:nvGrpSpPr>
        <p:grpSpPr>
          <a:xfrm>
            <a:off x="11321601" y="320040"/>
            <a:ext cx="640080" cy="640080"/>
            <a:chOff x="11094415" y="320040"/>
            <a:chExt cx="640080" cy="640080"/>
          </a:xfrm>
        </p:grpSpPr>
        <p:sp>
          <p:nvSpPr>
            <p:cNvPr id="32" name="Rounded Rectangle 1">
              <a:extLst>
                <a:ext uri="{FF2B5EF4-FFF2-40B4-BE49-F238E27FC236}">
                  <a16:creationId xmlns:a16="http://schemas.microsoft.com/office/drawing/2014/main" id="{875A39A7-56E4-AFC8-496E-447695CBCB40}"/>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3" name="Rectangle 32">
              <a:extLst>
                <a:ext uri="{FF2B5EF4-FFF2-40B4-BE49-F238E27FC236}">
                  <a16:creationId xmlns:a16="http://schemas.microsoft.com/office/drawing/2014/main" id="{3D5A7E9A-4137-C16C-74F0-C683D3D8E5B1}"/>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4" name="Rectangle 33">
              <a:extLst>
                <a:ext uri="{FF2B5EF4-FFF2-40B4-BE49-F238E27FC236}">
                  <a16:creationId xmlns:a16="http://schemas.microsoft.com/office/drawing/2014/main" id="{044C3CBD-0C36-BBA0-09EF-D01E71559BD6}"/>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90E38813-5344-EFCC-132A-376F8CCAB66B}"/>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8" name="Rectangle 7"/>
          <p:cNvSpPr>
            <a:spLocks/>
          </p:cNvSpPr>
          <p:nvPr/>
        </p:nvSpPr>
        <p:spPr>
          <a:xfrm>
            <a:off x="640380" y="2167186"/>
            <a:ext cx="10952184" cy="1092285"/>
          </a:xfrm>
          <a:prstGeom prst="rect">
            <a:avLst/>
          </a:prstGeom>
          <a:solidFill>
            <a:srgbClr val="000000"/>
          </a:solidFill>
          <a:ln w="28575">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noProof="0" dirty="0"/>
          </a:p>
        </p:txBody>
      </p:sp>
      <p:sp>
        <p:nvSpPr>
          <p:cNvPr id="9" name="TextBox 8"/>
          <p:cNvSpPr txBox="1"/>
          <p:nvPr/>
        </p:nvSpPr>
        <p:spPr>
          <a:xfrm>
            <a:off x="823261" y="2268838"/>
            <a:ext cx="3573414" cy="338554"/>
          </a:xfrm>
          <a:prstGeom prst="rect">
            <a:avLst/>
          </a:prstGeom>
          <a:noFill/>
        </p:spPr>
        <p:txBody>
          <a:bodyPr wrap="none">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FREEMIUM CORE (FREE FOREVER)</a:t>
            </a:r>
          </a:p>
        </p:txBody>
      </p:sp>
      <p:sp>
        <p:nvSpPr>
          <p:cNvPr id="10" name="TextBox 9"/>
          <p:cNvSpPr txBox="1"/>
          <p:nvPr/>
        </p:nvSpPr>
        <p:spPr>
          <a:xfrm>
            <a:off x="823261" y="2634598"/>
            <a:ext cx="10380545" cy="523220"/>
          </a:xfrm>
          <a:prstGeom prst="rect">
            <a:avLst/>
          </a:prstGeom>
          <a:noFill/>
        </p:spPr>
        <p:txBody>
          <a:bodyPr wrap="square">
            <a:spAutoFit/>
          </a:bodyPr>
          <a:lstStyle/>
          <a:p>
            <a:r>
              <a:rPr lang="en-US" sz="1400" b="0" noProof="0" dirty="0">
                <a:solidFill>
                  <a:schemeClr val="bg1"/>
                </a:solidFill>
                <a:latin typeface="Consolas" panose="020B0609020204030204" pitchFamily="49" charset="0"/>
              </a:rPr>
              <a:t>Daily tracking and visualization dashboard, mindset pills &amp; journaling, science-based routines, and basic personalized analytics (incl</a:t>
            </a:r>
            <a:r>
              <a:rPr lang="en-US" sz="1400" noProof="0" dirty="0">
                <a:solidFill>
                  <a:schemeClr val="bg1"/>
                </a:solidFill>
                <a:latin typeface="Consolas" panose="020B0609020204030204" pitchFamily="49" charset="0"/>
              </a:rPr>
              <a:t>. weekly patterns, strength alerts) </a:t>
            </a:r>
            <a:endParaRPr lang="en-US" sz="1400" b="0" noProof="0" dirty="0">
              <a:solidFill>
                <a:schemeClr val="bg1"/>
              </a:solidFill>
              <a:latin typeface="Consolas" panose="020B0609020204030204" pitchFamily="49" charset="0"/>
            </a:endParaRPr>
          </a:p>
        </p:txBody>
      </p:sp>
      <p:sp>
        <p:nvSpPr>
          <p:cNvPr id="15" name="TextBox 14"/>
          <p:cNvSpPr txBox="1"/>
          <p:nvPr/>
        </p:nvSpPr>
        <p:spPr>
          <a:xfrm>
            <a:off x="823261" y="3377460"/>
            <a:ext cx="1666225" cy="338554"/>
          </a:xfrm>
          <a:prstGeom prst="rect">
            <a:avLst/>
          </a:prstGeom>
          <a:noFill/>
        </p:spPr>
        <p:txBody>
          <a:bodyPr wrap="none">
            <a:sp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INSIGHTS PRO</a:t>
            </a:r>
          </a:p>
        </p:txBody>
      </p:sp>
      <p:sp>
        <p:nvSpPr>
          <p:cNvPr id="16" name="TextBox 15"/>
          <p:cNvSpPr txBox="1"/>
          <p:nvPr/>
        </p:nvSpPr>
        <p:spPr>
          <a:xfrm>
            <a:off x="823262" y="3994350"/>
            <a:ext cx="2495816" cy="954107"/>
          </a:xfrm>
          <a:prstGeom prst="rect">
            <a:avLst/>
          </a:prstGeom>
          <a:noFill/>
        </p:spPr>
        <p:txBody>
          <a:bodyPr wrap="square">
            <a:spAutoFit/>
          </a:bodyPr>
          <a:lstStyle/>
          <a:p>
            <a:pPr algn="l"/>
            <a:r>
              <a:rPr lang="en-US" sz="1400" noProof="0" dirty="0">
                <a:solidFill>
                  <a:schemeClr val="bg1"/>
                </a:solidFill>
                <a:latin typeface="Consolas" panose="020B0609020204030204" pitchFamily="49" charset="0"/>
              </a:rPr>
              <a:t>Advanced behavioral analytics (incl. c</a:t>
            </a:r>
            <a:r>
              <a:rPr lang="en-US" sz="1400" b="0" noProof="0" dirty="0">
                <a:solidFill>
                  <a:schemeClr val="bg1"/>
                </a:solidFill>
                <a:latin typeface="Consolas" panose="020B0609020204030204" pitchFamily="49" charset="0"/>
              </a:rPr>
              <a:t>orrelations, anomalies, sequences)</a:t>
            </a:r>
          </a:p>
        </p:txBody>
      </p:sp>
      <p:sp>
        <p:nvSpPr>
          <p:cNvPr id="4" name="TextBox 3">
            <a:extLst>
              <a:ext uri="{FF2B5EF4-FFF2-40B4-BE49-F238E27FC236}">
                <a16:creationId xmlns:a16="http://schemas.microsoft.com/office/drawing/2014/main" id="{EE73CD85-6DBE-82A3-5787-4B46B52E7700}"/>
              </a:ext>
            </a:extLst>
          </p:cNvPr>
          <p:cNvSpPr txBox="1"/>
          <p:nvPr/>
        </p:nvSpPr>
        <p:spPr>
          <a:xfrm>
            <a:off x="3559373" y="3377460"/>
            <a:ext cx="1912703" cy="338554"/>
          </a:xfrm>
          <a:prstGeom prst="rect">
            <a:avLst/>
          </a:prstGeom>
          <a:noFill/>
        </p:spPr>
        <p:txBody>
          <a:bodyPr wrap="none">
            <a:sp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AI COACH LAYER</a:t>
            </a:r>
          </a:p>
        </p:txBody>
      </p:sp>
      <p:sp>
        <p:nvSpPr>
          <p:cNvPr id="5" name="TextBox 4">
            <a:extLst>
              <a:ext uri="{FF2B5EF4-FFF2-40B4-BE49-F238E27FC236}">
                <a16:creationId xmlns:a16="http://schemas.microsoft.com/office/drawing/2014/main" id="{3785395D-34AE-7B32-522C-975E2F97E3A3}"/>
              </a:ext>
            </a:extLst>
          </p:cNvPr>
          <p:cNvSpPr txBox="1"/>
          <p:nvPr/>
        </p:nvSpPr>
        <p:spPr>
          <a:xfrm>
            <a:off x="3559374" y="3994350"/>
            <a:ext cx="2320023" cy="954107"/>
          </a:xfrm>
          <a:prstGeom prst="rect">
            <a:avLst/>
          </a:prstGeom>
          <a:noFill/>
        </p:spPr>
        <p:txBody>
          <a:bodyPr wrap="square">
            <a:spAutoFit/>
          </a:bodyPr>
          <a:lstStyle/>
          <a:p>
            <a:pPr algn="l"/>
            <a:r>
              <a:rPr lang="en-US" sz="1400" b="0" noProof="0" dirty="0">
                <a:solidFill>
                  <a:schemeClr val="bg1"/>
                </a:solidFill>
                <a:latin typeface="Consolas" panose="020B0609020204030204" pitchFamily="49" charset="0"/>
              </a:rPr>
              <a:t>AI summaries based on real data </a:t>
            </a:r>
            <a:r>
              <a:rPr lang="en-US" sz="1400" noProof="0" dirty="0">
                <a:solidFill>
                  <a:schemeClr val="bg1"/>
                </a:solidFill>
                <a:latin typeface="Consolas" panose="020B0609020204030204" pitchFamily="49" charset="0"/>
              </a:rPr>
              <a:t>&amp; personalized</a:t>
            </a:r>
            <a:r>
              <a:rPr lang="en-US" sz="1400" b="0" noProof="0" dirty="0">
                <a:solidFill>
                  <a:schemeClr val="bg1"/>
                </a:solidFill>
                <a:latin typeface="Consolas" panose="020B0609020204030204" pitchFamily="49" charset="0"/>
              </a:rPr>
              <a:t> habit recommendations</a:t>
            </a:r>
          </a:p>
        </p:txBody>
      </p:sp>
      <p:sp>
        <p:nvSpPr>
          <p:cNvPr id="36" name="TextBox 35">
            <a:extLst>
              <a:ext uri="{FF2B5EF4-FFF2-40B4-BE49-F238E27FC236}">
                <a16:creationId xmlns:a16="http://schemas.microsoft.com/office/drawing/2014/main" id="{E65275EB-4ADB-12F3-7BD6-37F145B4C8AC}"/>
              </a:ext>
            </a:extLst>
          </p:cNvPr>
          <p:cNvSpPr txBox="1"/>
          <p:nvPr/>
        </p:nvSpPr>
        <p:spPr>
          <a:xfrm>
            <a:off x="6302533" y="3377460"/>
            <a:ext cx="1912703" cy="338554"/>
          </a:xfrm>
          <a:prstGeom prst="rect">
            <a:avLst/>
          </a:prstGeom>
          <a:noFill/>
        </p:spPr>
        <p:txBody>
          <a:bodyPr wrap="none">
            <a:sp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CONTENT PACKS</a:t>
            </a:r>
          </a:p>
        </p:txBody>
      </p:sp>
      <p:sp>
        <p:nvSpPr>
          <p:cNvPr id="37" name="TextBox 36">
            <a:extLst>
              <a:ext uri="{FF2B5EF4-FFF2-40B4-BE49-F238E27FC236}">
                <a16:creationId xmlns:a16="http://schemas.microsoft.com/office/drawing/2014/main" id="{FF214C3B-5604-19AD-7CFB-280DD6427A5D}"/>
              </a:ext>
            </a:extLst>
          </p:cNvPr>
          <p:cNvSpPr txBox="1"/>
          <p:nvPr/>
        </p:nvSpPr>
        <p:spPr>
          <a:xfrm>
            <a:off x="6302534" y="3994350"/>
            <a:ext cx="2387054" cy="1169551"/>
          </a:xfrm>
          <a:prstGeom prst="rect">
            <a:avLst/>
          </a:prstGeom>
          <a:noFill/>
        </p:spPr>
        <p:txBody>
          <a:bodyPr wrap="square">
            <a:spAutoFit/>
          </a:bodyPr>
          <a:lstStyle/>
          <a:p>
            <a:pPr algn="l"/>
            <a:r>
              <a:rPr lang="en-US" sz="1400" b="0" noProof="0" dirty="0">
                <a:solidFill>
                  <a:schemeClr val="bg1"/>
                </a:solidFill>
                <a:latin typeface="Consolas" panose="020B0609020204030204" pitchFamily="49" charset="0"/>
              </a:rPr>
              <a:t>Premium routine templates (e.g., skincare, study focus) from influencers</a:t>
            </a:r>
            <a:r>
              <a:rPr lang="en-US" sz="1400" dirty="0">
                <a:solidFill>
                  <a:schemeClr val="bg1"/>
                </a:solidFill>
                <a:latin typeface="Consolas" panose="020B0609020204030204" pitchFamily="49" charset="0"/>
              </a:rPr>
              <a:t> and productivity </a:t>
            </a:r>
            <a:r>
              <a:rPr lang="en-US" sz="1400" b="0" noProof="0" dirty="0">
                <a:solidFill>
                  <a:schemeClr val="bg1"/>
                </a:solidFill>
                <a:latin typeface="Consolas" panose="020B0609020204030204" pitchFamily="49" charset="0"/>
              </a:rPr>
              <a:t>exper</a:t>
            </a:r>
            <a:r>
              <a:rPr lang="en-US" sz="1400" noProof="0" dirty="0">
                <a:solidFill>
                  <a:schemeClr val="bg1"/>
                </a:solidFill>
                <a:latin typeface="Consolas" panose="020B0609020204030204" pitchFamily="49" charset="0"/>
              </a:rPr>
              <a:t>ts</a:t>
            </a:r>
            <a:endParaRPr lang="en-US" sz="1400" b="0" noProof="0" dirty="0">
              <a:solidFill>
                <a:schemeClr val="bg1"/>
              </a:solidFill>
              <a:latin typeface="Consolas" panose="020B0609020204030204" pitchFamily="49" charset="0"/>
            </a:endParaRPr>
          </a:p>
        </p:txBody>
      </p:sp>
      <p:sp>
        <p:nvSpPr>
          <p:cNvPr id="38" name="Rectangle 37">
            <a:extLst>
              <a:ext uri="{FF2B5EF4-FFF2-40B4-BE49-F238E27FC236}">
                <a16:creationId xmlns:a16="http://schemas.microsoft.com/office/drawing/2014/main" id="{64ADC4D8-F3C7-33B0-0D42-76D9504B35F7}"/>
              </a:ext>
            </a:extLst>
          </p:cNvPr>
          <p:cNvSpPr/>
          <p:nvPr/>
        </p:nvSpPr>
        <p:spPr>
          <a:xfrm>
            <a:off x="8855765" y="3287959"/>
            <a:ext cx="2743200" cy="2676804"/>
          </a:xfrm>
          <a:prstGeom prst="rect">
            <a:avLst/>
          </a:prstGeom>
          <a:solidFill>
            <a:srgbClr val="000000"/>
          </a:solidFill>
          <a:ln w="2857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chemeClr val="accent4"/>
              </a:solidFill>
            </a:endParaRPr>
          </a:p>
        </p:txBody>
      </p:sp>
      <p:sp>
        <p:nvSpPr>
          <p:cNvPr id="39" name="TextBox 38">
            <a:extLst>
              <a:ext uri="{FF2B5EF4-FFF2-40B4-BE49-F238E27FC236}">
                <a16:creationId xmlns:a16="http://schemas.microsoft.com/office/drawing/2014/main" id="{EF3F5388-A9DA-AD30-A42D-1DF419D4112F}"/>
              </a:ext>
            </a:extLst>
          </p:cNvPr>
          <p:cNvSpPr txBox="1">
            <a:spLocks/>
          </p:cNvSpPr>
          <p:nvPr/>
        </p:nvSpPr>
        <p:spPr>
          <a:xfrm>
            <a:off x="9038645" y="3377460"/>
            <a:ext cx="2637129" cy="338554"/>
          </a:xfrm>
          <a:prstGeom prst="rect">
            <a:avLst/>
          </a:prstGeom>
          <a:noFill/>
        </p:spPr>
        <p:txBody>
          <a:bodyPr wrap="square">
            <a:no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SPONSORED/GROUP CHALLENGES</a:t>
            </a:r>
          </a:p>
        </p:txBody>
      </p:sp>
      <p:sp>
        <p:nvSpPr>
          <p:cNvPr id="40" name="TextBox 39">
            <a:extLst>
              <a:ext uri="{FF2B5EF4-FFF2-40B4-BE49-F238E27FC236}">
                <a16:creationId xmlns:a16="http://schemas.microsoft.com/office/drawing/2014/main" id="{8A3C5684-D984-0E70-9FC3-6DA6BD6CD1E0}"/>
              </a:ext>
            </a:extLst>
          </p:cNvPr>
          <p:cNvSpPr txBox="1"/>
          <p:nvPr/>
        </p:nvSpPr>
        <p:spPr>
          <a:xfrm>
            <a:off x="9038646" y="3994350"/>
            <a:ext cx="2462177" cy="954107"/>
          </a:xfrm>
          <a:prstGeom prst="rect">
            <a:avLst/>
          </a:prstGeom>
          <a:noFill/>
        </p:spPr>
        <p:txBody>
          <a:bodyPr wrap="square">
            <a:spAutoFit/>
          </a:bodyPr>
          <a:lstStyle/>
          <a:p>
            <a:pPr algn="l"/>
            <a:r>
              <a:rPr lang="en-US" sz="1400" b="0" noProof="0" dirty="0">
                <a:solidFill>
                  <a:schemeClr val="bg1"/>
                </a:solidFill>
                <a:latin typeface="Consolas" panose="020B0609020204030204" pitchFamily="49" charset="0"/>
              </a:rPr>
              <a:t>Brand-sponsored challenges with real rewards </a:t>
            </a:r>
            <a:r>
              <a:rPr lang="en-US" sz="1400" dirty="0">
                <a:solidFill>
                  <a:schemeClr val="bg1"/>
                </a:solidFill>
                <a:latin typeface="Consolas" panose="020B0609020204030204" pitchFamily="49" charset="0"/>
              </a:rPr>
              <a:t>(e.g., </a:t>
            </a:r>
            <a:r>
              <a:rPr lang="en-US" sz="1400" b="0" noProof="0" dirty="0">
                <a:solidFill>
                  <a:schemeClr val="bg1"/>
                </a:solidFill>
                <a:latin typeface="Consolas" panose="020B0609020204030204" pitchFamily="49" charset="0"/>
              </a:rPr>
              <a:t>discounts on products) </a:t>
            </a:r>
          </a:p>
        </p:txBody>
      </p:sp>
      <p:sp>
        <p:nvSpPr>
          <p:cNvPr id="44" name="TextBox 43">
            <a:extLst>
              <a:ext uri="{FF2B5EF4-FFF2-40B4-BE49-F238E27FC236}">
                <a16:creationId xmlns:a16="http://schemas.microsoft.com/office/drawing/2014/main" id="{8CA388B7-8900-24CF-0B03-F4F4C63E582C}"/>
              </a:ext>
            </a:extLst>
          </p:cNvPr>
          <p:cNvSpPr txBox="1"/>
          <p:nvPr/>
        </p:nvSpPr>
        <p:spPr>
          <a:xfrm>
            <a:off x="823261" y="5258194"/>
            <a:ext cx="2412840" cy="553998"/>
          </a:xfrm>
          <a:prstGeom prst="rect">
            <a:avLst/>
          </a:prstGeom>
          <a:noFill/>
        </p:spPr>
        <p:txBody>
          <a:bodyPr wrap="none">
            <a:spAutoFit/>
          </a:bodyPr>
          <a:lstStyle/>
          <a:p>
            <a:pPr algn="l"/>
            <a:r>
              <a:rPr lang="en-US" sz="1600" b="1" noProof="0" dirty="0">
                <a:solidFill>
                  <a:schemeClr val="accent4"/>
                </a:solidFill>
                <a:latin typeface="Segoe UI Black" panose="020B0A02040204020203" pitchFamily="34" charset="0"/>
                <a:ea typeface="Segoe UI Black" panose="020B0A02040204020203" pitchFamily="34" charset="0"/>
              </a:rPr>
              <a:t>$2.99/</a:t>
            </a:r>
            <a:r>
              <a:rPr lang="en-US" sz="1600" b="1" noProof="0" dirty="0" err="1">
                <a:solidFill>
                  <a:schemeClr val="accent4"/>
                </a:solidFill>
                <a:latin typeface="Segoe UI Black" panose="020B0A02040204020203" pitchFamily="34" charset="0"/>
                <a:ea typeface="Segoe UI Black" panose="020B0A02040204020203" pitchFamily="34" charset="0"/>
              </a:rPr>
              <a:t>mo</a:t>
            </a:r>
            <a:r>
              <a:rPr lang="en-US" sz="1600" b="1" noProof="0" dirty="0">
                <a:solidFill>
                  <a:schemeClr val="accent4"/>
                </a:solidFill>
                <a:latin typeface="Segoe UI Black" panose="020B0A02040204020203" pitchFamily="34" charset="0"/>
                <a:ea typeface="Segoe UI Black" panose="020B0A02040204020203" pitchFamily="34" charset="0"/>
              </a:rPr>
              <a:t> or $25/year</a:t>
            </a:r>
          </a:p>
          <a:p>
            <a:pPr algn="l"/>
            <a:r>
              <a:rPr lang="en-US" sz="1400" noProof="0" dirty="0">
                <a:solidFill>
                  <a:srgbClr val="C0C0C0"/>
                </a:solidFill>
                <a:latin typeface="Consolas" panose="020B0609020204030204" pitchFamily="49" charset="0"/>
              </a:rPr>
              <a:t>Axiom Forge’s engine</a:t>
            </a:r>
          </a:p>
        </p:txBody>
      </p:sp>
      <p:sp>
        <p:nvSpPr>
          <p:cNvPr id="41" name="TextBox 40">
            <a:extLst>
              <a:ext uri="{FF2B5EF4-FFF2-40B4-BE49-F238E27FC236}">
                <a16:creationId xmlns:a16="http://schemas.microsoft.com/office/drawing/2014/main" id="{F736A880-8359-82C3-9951-67720F137167}"/>
              </a:ext>
            </a:extLst>
          </p:cNvPr>
          <p:cNvSpPr txBox="1"/>
          <p:nvPr/>
        </p:nvSpPr>
        <p:spPr>
          <a:xfrm>
            <a:off x="548641" y="1731359"/>
            <a:ext cx="1374094" cy="276999"/>
          </a:xfrm>
          <a:prstGeom prst="rect">
            <a:avLst/>
          </a:prstGeom>
          <a:noFill/>
        </p:spPr>
        <p:txBody>
          <a:bodyPr wrap="none">
            <a:spAutoFit/>
          </a:bodyPr>
          <a:lstStyle/>
          <a:p>
            <a:pPr algn="l"/>
            <a:r>
              <a:rPr lang="en-US" sz="1200" b="1" i="1" noProof="0" dirty="0">
                <a:solidFill>
                  <a:srgbClr val="FFFFFF"/>
                </a:solidFill>
                <a:latin typeface="Consolas" panose="020B0609020204030204" pitchFamily="49" charset="0"/>
                <a:ea typeface="Segoe UI Black" panose="020B0A02040204020203" pitchFamily="34" charset="0"/>
              </a:rPr>
              <a:t>NON-EXHAUSTIVE</a:t>
            </a:r>
          </a:p>
        </p:txBody>
      </p:sp>
      <p:sp>
        <p:nvSpPr>
          <p:cNvPr id="43" name="TextBox 42">
            <a:extLst>
              <a:ext uri="{FF2B5EF4-FFF2-40B4-BE49-F238E27FC236}">
                <a16:creationId xmlns:a16="http://schemas.microsoft.com/office/drawing/2014/main" id="{727BF0D1-43F6-E9A2-88C9-180D9B47F1AB}"/>
              </a:ext>
            </a:extLst>
          </p:cNvPr>
          <p:cNvSpPr txBox="1"/>
          <p:nvPr/>
        </p:nvSpPr>
        <p:spPr>
          <a:xfrm>
            <a:off x="2309857" y="1731359"/>
            <a:ext cx="4687502" cy="276999"/>
          </a:xfrm>
          <a:prstGeom prst="rect">
            <a:avLst/>
          </a:prstGeom>
          <a:noFill/>
        </p:spPr>
        <p:txBody>
          <a:bodyPr wrap="none">
            <a:spAutoFit/>
          </a:bodyPr>
          <a:lstStyle/>
          <a:p>
            <a:pPr algn="l"/>
            <a:r>
              <a:rPr lang="en-US" sz="1200" b="1" i="1" noProof="0" dirty="0">
                <a:solidFill>
                  <a:srgbClr val="FFFFFF"/>
                </a:solidFill>
                <a:latin typeface="Consolas" panose="020B0609020204030204" pitchFamily="49" charset="0"/>
                <a:ea typeface="Segoe UI Black" panose="020B0A02040204020203" pitchFamily="34" charset="0"/>
              </a:rPr>
              <a:t>PENDING TO BE TESTED WITH USERS &amp; POTENTIAL PARTNERS </a:t>
            </a:r>
          </a:p>
        </p:txBody>
      </p:sp>
      <p:sp>
        <p:nvSpPr>
          <p:cNvPr id="45" name="TextBox 44">
            <a:extLst>
              <a:ext uri="{FF2B5EF4-FFF2-40B4-BE49-F238E27FC236}">
                <a16:creationId xmlns:a16="http://schemas.microsoft.com/office/drawing/2014/main" id="{DCA8515E-F33B-EC9D-9CD3-112C146D88A9}"/>
              </a:ext>
            </a:extLst>
          </p:cNvPr>
          <p:cNvSpPr txBox="1"/>
          <p:nvPr/>
        </p:nvSpPr>
        <p:spPr>
          <a:xfrm>
            <a:off x="3623837" y="5258194"/>
            <a:ext cx="2416046" cy="553998"/>
          </a:xfrm>
          <a:prstGeom prst="rect">
            <a:avLst/>
          </a:prstGeom>
          <a:noFill/>
        </p:spPr>
        <p:txBody>
          <a:bodyPr wrap="none">
            <a:spAutoFit/>
          </a:bodyPr>
          <a:lstStyle/>
          <a:p>
            <a:pPr algn="l"/>
            <a:r>
              <a:rPr lang="en-US" sz="1600" b="1" noProof="0" dirty="0">
                <a:solidFill>
                  <a:schemeClr val="accent4"/>
                </a:solidFill>
                <a:latin typeface="Segoe UI Black" panose="020B0A02040204020203" pitchFamily="34" charset="0"/>
                <a:ea typeface="Segoe UI Black" panose="020B0A02040204020203" pitchFamily="34" charset="0"/>
              </a:rPr>
              <a:t>$4.99/</a:t>
            </a:r>
            <a:r>
              <a:rPr lang="en-US" sz="1600" b="1" noProof="0" dirty="0" err="1">
                <a:solidFill>
                  <a:schemeClr val="accent4"/>
                </a:solidFill>
                <a:latin typeface="Segoe UI Black" panose="020B0A02040204020203" pitchFamily="34" charset="0"/>
                <a:ea typeface="Segoe UI Black" panose="020B0A02040204020203" pitchFamily="34" charset="0"/>
              </a:rPr>
              <a:t>mo</a:t>
            </a:r>
            <a:r>
              <a:rPr lang="en-US" sz="1600" b="1" noProof="0" dirty="0">
                <a:solidFill>
                  <a:schemeClr val="accent4"/>
                </a:solidFill>
                <a:latin typeface="Segoe UI Black" panose="020B0A02040204020203" pitchFamily="34" charset="0"/>
                <a:ea typeface="Segoe UI Black" panose="020B0A02040204020203" pitchFamily="34" charset="0"/>
              </a:rPr>
              <a:t> or $39/year</a:t>
            </a:r>
          </a:p>
          <a:p>
            <a:r>
              <a:rPr lang="en-US" sz="1400" noProof="0" dirty="0">
                <a:solidFill>
                  <a:srgbClr val="C0C0C0"/>
                </a:solidFill>
                <a:latin typeface="Consolas" panose="020B0609020204030204" pitchFamily="49" charset="0"/>
              </a:rPr>
              <a:t>LLM-generated</a:t>
            </a:r>
          </a:p>
        </p:txBody>
      </p:sp>
      <p:sp>
        <p:nvSpPr>
          <p:cNvPr id="46" name="TextBox 45">
            <a:extLst>
              <a:ext uri="{FF2B5EF4-FFF2-40B4-BE49-F238E27FC236}">
                <a16:creationId xmlns:a16="http://schemas.microsoft.com/office/drawing/2014/main" id="{88151E35-704F-0E10-1ED4-E6A6EEE17269}"/>
              </a:ext>
            </a:extLst>
          </p:cNvPr>
          <p:cNvSpPr txBox="1"/>
          <p:nvPr/>
        </p:nvSpPr>
        <p:spPr>
          <a:xfrm>
            <a:off x="6302534" y="5258194"/>
            <a:ext cx="2569934" cy="553998"/>
          </a:xfrm>
          <a:prstGeom prst="rect">
            <a:avLst/>
          </a:prstGeom>
          <a:noFill/>
        </p:spPr>
        <p:txBody>
          <a:bodyPr wrap="none">
            <a:spAutoFit/>
          </a:bodyPr>
          <a:lstStyle/>
          <a:p>
            <a:pPr algn="l"/>
            <a:r>
              <a:rPr lang="en-US" sz="1600" b="1" noProof="0" dirty="0">
                <a:solidFill>
                  <a:schemeClr val="accent4"/>
                </a:solidFill>
                <a:latin typeface="Segoe UI Black" panose="020B0A02040204020203" pitchFamily="34" charset="0"/>
                <a:ea typeface="Segoe UI Black" panose="020B0A02040204020203" pitchFamily="34" charset="0"/>
              </a:rPr>
              <a:t>$2.99/pack</a:t>
            </a:r>
          </a:p>
          <a:p>
            <a:r>
              <a:rPr lang="en-US" sz="1400" noProof="0" dirty="0">
                <a:solidFill>
                  <a:srgbClr val="C0C0C0"/>
                </a:solidFill>
                <a:latin typeface="Consolas" panose="020B0609020204030204" pitchFamily="49" charset="0"/>
              </a:rPr>
              <a:t>Influencers partnerships</a:t>
            </a:r>
          </a:p>
        </p:txBody>
      </p:sp>
      <p:sp>
        <p:nvSpPr>
          <p:cNvPr id="47" name="TextBox 46">
            <a:extLst>
              <a:ext uri="{FF2B5EF4-FFF2-40B4-BE49-F238E27FC236}">
                <a16:creationId xmlns:a16="http://schemas.microsoft.com/office/drawing/2014/main" id="{316DF52C-2CDB-7CAF-0F2F-836AD8BEA6ED}"/>
              </a:ext>
            </a:extLst>
          </p:cNvPr>
          <p:cNvSpPr txBox="1"/>
          <p:nvPr/>
        </p:nvSpPr>
        <p:spPr>
          <a:xfrm>
            <a:off x="9038645" y="5258194"/>
            <a:ext cx="2371162" cy="553998"/>
          </a:xfrm>
          <a:prstGeom prst="rect">
            <a:avLst/>
          </a:prstGeom>
          <a:noFill/>
        </p:spPr>
        <p:txBody>
          <a:bodyPr wrap="none">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FREE</a:t>
            </a:r>
            <a:r>
              <a:rPr lang="en-US" sz="1600" b="1" noProof="0" dirty="0">
                <a:solidFill>
                  <a:schemeClr val="accent4"/>
                </a:solidFill>
                <a:latin typeface="Segoe UI Black" panose="020B0A02040204020203" pitchFamily="34" charset="0"/>
                <a:ea typeface="Segoe UI Black" panose="020B0A02040204020203" pitchFamily="34" charset="0"/>
              </a:rPr>
              <a:t> </a:t>
            </a:r>
          </a:p>
          <a:p>
            <a:pPr algn="l"/>
            <a:r>
              <a:rPr lang="en-US" sz="1400" noProof="0" dirty="0">
                <a:solidFill>
                  <a:srgbClr val="C0C0C0"/>
                </a:solidFill>
                <a:latin typeface="Consolas" panose="020B0609020204030204" pitchFamily="49" charset="0"/>
              </a:rPr>
              <a:t>Brands pay $0.5-2/user</a:t>
            </a:r>
          </a:p>
        </p:txBody>
      </p:sp>
      <p:sp>
        <p:nvSpPr>
          <p:cNvPr id="2" name="Rectangle 1">
            <a:extLst>
              <a:ext uri="{FF2B5EF4-FFF2-40B4-BE49-F238E27FC236}">
                <a16:creationId xmlns:a16="http://schemas.microsoft.com/office/drawing/2014/main" id="{A936183E-0D8D-0443-42C1-36FE158B1B14}"/>
              </a:ext>
            </a:extLst>
          </p:cNvPr>
          <p:cNvSpPr>
            <a:spLocks/>
          </p:cNvSpPr>
          <p:nvPr/>
        </p:nvSpPr>
        <p:spPr>
          <a:xfrm>
            <a:off x="633803" y="5977264"/>
            <a:ext cx="2743200" cy="277000"/>
          </a:xfrm>
          <a:prstGeom prst="rect">
            <a:avLst/>
          </a:prstGeom>
          <a:solidFill>
            <a:srgbClr val="0A0A0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400" i="1" noProof="0" dirty="0">
                <a:solidFill>
                  <a:srgbClr val="C0C0C0"/>
                </a:solidFill>
                <a:latin typeface="Consolas" panose="020B0609020204030204" pitchFamily="49" charset="0"/>
              </a:rPr>
              <a:t>Currently available</a:t>
            </a:r>
          </a:p>
        </p:txBody>
      </p:sp>
      <p:sp>
        <p:nvSpPr>
          <p:cNvPr id="11" name="Rectangle 10">
            <a:extLst>
              <a:ext uri="{FF2B5EF4-FFF2-40B4-BE49-F238E27FC236}">
                <a16:creationId xmlns:a16="http://schemas.microsoft.com/office/drawing/2014/main" id="{88CB0958-CDFE-0773-FFA0-2CDCC11B3BB7}"/>
              </a:ext>
            </a:extLst>
          </p:cNvPr>
          <p:cNvSpPr>
            <a:spLocks/>
          </p:cNvSpPr>
          <p:nvPr/>
        </p:nvSpPr>
        <p:spPr>
          <a:xfrm>
            <a:off x="3383581" y="5977264"/>
            <a:ext cx="8215384" cy="277000"/>
          </a:xfrm>
          <a:prstGeom prst="rect">
            <a:avLst/>
          </a:prstGeom>
          <a:solidFill>
            <a:srgbClr val="0A0A0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400" i="1" noProof="0" dirty="0">
                <a:solidFill>
                  <a:srgbClr val="C0C0C0"/>
                </a:solidFill>
                <a:latin typeface="Consolas" panose="020B0609020204030204" pitchFamily="49" charset="0"/>
              </a:rPr>
              <a:t>To be developed</a:t>
            </a:r>
          </a:p>
        </p:txBody>
      </p:sp>
      <p:sp>
        <p:nvSpPr>
          <p:cNvPr id="13" name="TextBox 12">
            <a:extLst>
              <a:ext uri="{FF2B5EF4-FFF2-40B4-BE49-F238E27FC236}">
                <a16:creationId xmlns:a16="http://schemas.microsoft.com/office/drawing/2014/main" id="{2DED3158-DFA6-68F0-5291-04DC16BA1350}"/>
              </a:ext>
            </a:extLst>
          </p:cNvPr>
          <p:cNvSpPr txBox="1"/>
          <p:nvPr/>
        </p:nvSpPr>
        <p:spPr>
          <a:xfrm>
            <a:off x="11687362" y="6356866"/>
            <a:ext cx="274320"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r>
              <a:rPr lang="en-US" b="0" noProof="0" dirty="0"/>
              <a:t>8</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756F742-603B-AF0C-D615-825F225236C0}"/>
            </a:ext>
          </a:extLst>
        </p:cNvPr>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62ED4553-51BC-299B-FD07-4687C92F655A}"/>
              </a:ext>
            </a:extLst>
          </p:cNvPr>
          <p:cNvGraphicFramePr>
            <a:graphicFrameLocks noChangeAspect="1"/>
          </p:cNvGraphicFramePr>
          <p:nvPr>
            <p:custDataLst>
              <p:tags r:id="rId2"/>
            </p:custDataLst>
            <p:extLst>
              <p:ext uri="{D42A27DB-BD31-4B8C-83A1-F6EECF244321}">
                <p14:modId xmlns:p14="http://schemas.microsoft.com/office/powerpoint/2010/main" val="26553713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33" name="think-cell data - do not delete" hidden="1">
                        <a:extLst>
                          <a:ext uri="{FF2B5EF4-FFF2-40B4-BE49-F238E27FC236}">
                            <a16:creationId xmlns:a16="http://schemas.microsoft.com/office/drawing/2014/main" id="{62ED4553-51BC-299B-FD07-4687C92F655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A575BA9C-7525-2D85-3A3D-F2FDDBC2A191}"/>
              </a:ext>
            </a:extLst>
          </p:cNvPr>
          <p:cNvSpPr txBox="1"/>
          <p:nvPr/>
        </p:nvSpPr>
        <p:spPr>
          <a:xfrm>
            <a:off x="548640" y="320040"/>
            <a:ext cx="1675459" cy="307777"/>
          </a:xfrm>
          <a:prstGeom prst="rect">
            <a:avLst/>
          </a:prstGeom>
          <a:noFill/>
        </p:spPr>
        <p:txBody>
          <a:bodyPr wrap="none">
            <a:spAutoFit/>
          </a:bodyPr>
          <a:lstStyle/>
          <a:p>
            <a:pPr algn="l"/>
            <a:r>
              <a:rPr lang="en-US" sz="1400" b="1" noProof="0" dirty="0">
                <a:solidFill>
                  <a:srgbClr val="A78BFA"/>
                </a:solidFill>
                <a:latin typeface="Consolas"/>
              </a:rPr>
              <a:t>// Go-To-Market</a:t>
            </a:r>
          </a:p>
        </p:txBody>
      </p:sp>
      <p:sp>
        <p:nvSpPr>
          <p:cNvPr id="16" name="TextBox 15">
            <a:extLst>
              <a:ext uri="{FF2B5EF4-FFF2-40B4-BE49-F238E27FC236}">
                <a16:creationId xmlns:a16="http://schemas.microsoft.com/office/drawing/2014/main" id="{D0D0209A-5D67-9F68-3EA8-9A5554693691}"/>
              </a:ext>
            </a:extLst>
          </p:cNvPr>
          <p:cNvSpPr txBox="1"/>
          <p:nvPr/>
        </p:nvSpPr>
        <p:spPr>
          <a:xfrm>
            <a:off x="548640" y="640074"/>
            <a:ext cx="10402389" cy="1077218"/>
          </a:xfrm>
          <a:prstGeom prst="rect">
            <a:avLst/>
          </a:prstGeom>
          <a:noFill/>
        </p:spPr>
        <p:txBody>
          <a:bodyPr wrap="square">
            <a:spAutoFit/>
          </a:bodyPr>
          <a:lstStyle/>
          <a:p>
            <a:pPr algn="l"/>
            <a:r>
              <a:rPr lang="en-US" sz="3200" b="1" noProof="0" dirty="0">
                <a:solidFill>
                  <a:srgbClr val="FFFFFF"/>
                </a:solidFill>
                <a:latin typeface="Segoe UI Black" panose="020B0A02040204020203" pitchFamily="34" charset="0"/>
                <a:ea typeface="Segoe UI Black" panose="020B0A02040204020203" pitchFamily="34" charset="0"/>
              </a:rPr>
              <a:t>MIT-TO-MARKET STRATEGY: VALIDATE ON CAMPUS, THEN EXPAND WITH PROVEN MODEL</a:t>
            </a:r>
          </a:p>
        </p:txBody>
      </p:sp>
      <p:grpSp>
        <p:nvGrpSpPr>
          <p:cNvPr id="19" name="Group 18">
            <a:extLst>
              <a:ext uri="{FF2B5EF4-FFF2-40B4-BE49-F238E27FC236}">
                <a16:creationId xmlns:a16="http://schemas.microsoft.com/office/drawing/2014/main" id="{58AA94E5-0213-E684-371E-4F8211217140}"/>
              </a:ext>
            </a:extLst>
          </p:cNvPr>
          <p:cNvGrpSpPr/>
          <p:nvPr/>
        </p:nvGrpSpPr>
        <p:grpSpPr>
          <a:xfrm>
            <a:off x="11321601" y="320040"/>
            <a:ext cx="640080" cy="640080"/>
            <a:chOff x="11094415" y="320040"/>
            <a:chExt cx="640080" cy="640080"/>
          </a:xfrm>
        </p:grpSpPr>
        <p:sp>
          <p:nvSpPr>
            <p:cNvPr id="20" name="Rounded Rectangle 1">
              <a:extLst>
                <a:ext uri="{FF2B5EF4-FFF2-40B4-BE49-F238E27FC236}">
                  <a16:creationId xmlns:a16="http://schemas.microsoft.com/office/drawing/2014/main" id="{1C379E9C-6FF9-2723-AA0E-B27517309537}"/>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4AD19946-A19E-50F4-754A-0DD370FDB55A}"/>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FDCDE593-C41B-3741-D9A9-47001FA58EA8}"/>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3" name="Rectangle 22">
              <a:extLst>
                <a:ext uri="{FF2B5EF4-FFF2-40B4-BE49-F238E27FC236}">
                  <a16:creationId xmlns:a16="http://schemas.microsoft.com/office/drawing/2014/main" id="{1AFA403E-2440-CCE0-5727-EBFB14297187}"/>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24" name="TextBox 23">
            <a:extLst>
              <a:ext uri="{FF2B5EF4-FFF2-40B4-BE49-F238E27FC236}">
                <a16:creationId xmlns:a16="http://schemas.microsoft.com/office/drawing/2014/main" id="{A89700D2-9777-FE88-D232-38E54FF64434}"/>
              </a:ext>
            </a:extLst>
          </p:cNvPr>
          <p:cNvSpPr txBox="1"/>
          <p:nvPr/>
        </p:nvSpPr>
        <p:spPr>
          <a:xfrm>
            <a:off x="11687362" y="6356866"/>
            <a:ext cx="274320"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r>
              <a:rPr lang="en-US" b="0" noProof="0" dirty="0"/>
              <a:t>9</a:t>
            </a:r>
          </a:p>
        </p:txBody>
      </p:sp>
      <p:sp>
        <p:nvSpPr>
          <p:cNvPr id="15" name="Rectangle 14">
            <a:extLst>
              <a:ext uri="{FF2B5EF4-FFF2-40B4-BE49-F238E27FC236}">
                <a16:creationId xmlns:a16="http://schemas.microsoft.com/office/drawing/2014/main" id="{C1A07112-C0B1-556C-39A0-85770FDEDE65}"/>
              </a:ext>
            </a:extLst>
          </p:cNvPr>
          <p:cNvSpPr/>
          <p:nvPr/>
        </p:nvSpPr>
        <p:spPr>
          <a:xfrm>
            <a:off x="4368698" y="2164079"/>
            <a:ext cx="3454298" cy="3977029"/>
          </a:xfrm>
          <a:prstGeom prst="rect">
            <a:avLst/>
          </a:prstGeom>
          <a:no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9" name="TextBox 28">
            <a:extLst>
              <a:ext uri="{FF2B5EF4-FFF2-40B4-BE49-F238E27FC236}">
                <a16:creationId xmlns:a16="http://schemas.microsoft.com/office/drawing/2014/main" id="{AA88435D-3FE4-F704-170A-76EF97BFF64E}"/>
              </a:ext>
            </a:extLst>
          </p:cNvPr>
          <p:cNvSpPr txBox="1"/>
          <p:nvPr/>
        </p:nvSpPr>
        <p:spPr>
          <a:xfrm>
            <a:off x="4688210" y="2346960"/>
            <a:ext cx="2978214" cy="584775"/>
          </a:xfrm>
          <a:prstGeom prst="rect">
            <a:avLst/>
          </a:prstGeom>
        </p:spPr>
        <p:txBody>
          <a:bodyPr wrap="square" lIns="0">
            <a:sp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PHASE 2: BOSTON COLLEGES EXPANSION</a:t>
            </a:r>
          </a:p>
        </p:txBody>
      </p:sp>
      <p:sp>
        <p:nvSpPr>
          <p:cNvPr id="32" name="TextBox 31">
            <a:extLst>
              <a:ext uri="{FF2B5EF4-FFF2-40B4-BE49-F238E27FC236}">
                <a16:creationId xmlns:a16="http://schemas.microsoft.com/office/drawing/2014/main" id="{5CA5C0EB-601D-C86C-17F2-BCB3E09C29CE}"/>
              </a:ext>
            </a:extLst>
          </p:cNvPr>
          <p:cNvSpPr txBox="1">
            <a:spLocks/>
          </p:cNvSpPr>
          <p:nvPr/>
        </p:nvSpPr>
        <p:spPr>
          <a:xfrm>
            <a:off x="4688210" y="2978332"/>
            <a:ext cx="2926080" cy="307777"/>
          </a:xfrm>
          <a:prstGeom prst="rect">
            <a:avLst/>
          </a:prstGeom>
          <a:noFill/>
        </p:spPr>
        <p:txBody>
          <a:bodyPr wrap="square" lIns="0">
            <a:noAutofit/>
          </a:bodyPr>
          <a:lstStyle/>
          <a:p>
            <a:pPr algn="l"/>
            <a:r>
              <a:rPr lang="en-US" sz="1400" b="0" noProof="0" dirty="0">
                <a:solidFill>
                  <a:srgbClr val="C0C0C0"/>
                </a:solidFill>
                <a:latin typeface="Consolas" panose="020B0609020204030204" pitchFamily="49" charset="0"/>
              </a:rPr>
              <a:t>Weeks 4-5</a:t>
            </a:r>
          </a:p>
        </p:txBody>
      </p:sp>
      <p:sp>
        <p:nvSpPr>
          <p:cNvPr id="38" name="TextBox 37">
            <a:extLst>
              <a:ext uri="{FF2B5EF4-FFF2-40B4-BE49-F238E27FC236}">
                <a16:creationId xmlns:a16="http://schemas.microsoft.com/office/drawing/2014/main" id="{86C17C89-168E-497F-9B87-1ED4457292B2}"/>
              </a:ext>
            </a:extLst>
          </p:cNvPr>
          <p:cNvSpPr txBox="1">
            <a:spLocks/>
          </p:cNvSpPr>
          <p:nvPr/>
        </p:nvSpPr>
        <p:spPr>
          <a:xfrm>
            <a:off x="4688210" y="3603172"/>
            <a:ext cx="2926080" cy="1184940"/>
          </a:xfrm>
          <a:prstGeom prst="rect">
            <a:avLst/>
          </a:prstGeom>
          <a:noFill/>
        </p:spPr>
        <p:txBody>
          <a:bodyPr wrap="square" lIns="0">
            <a:noAutofit/>
          </a:bodyPr>
          <a:lstStyle/>
          <a:p>
            <a:pPr marL="285750" indent="-285750">
              <a:spcBef>
                <a:spcPts val="600"/>
              </a:spcBef>
              <a:buClr>
                <a:srgbClr val="CCFF00"/>
              </a:buClr>
              <a:buFont typeface="Wingdings" panose="05000000000000000000" pitchFamily="2" charset="2"/>
              <a:buChar char="§"/>
              <a:defRPr sz="1100">
                <a:solidFill>
                  <a:srgbClr val="C0C0C0"/>
                </a:solidFill>
                <a:latin typeface="Arial"/>
              </a:defRPr>
            </a:pPr>
            <a:r>
              <a:rPr lang="en-US" sz="1400" dirty="0">
                <a:solidFill>
                  <a:schemeClr val="bg1"/>
                </a:solidFill>
                <a:latin typeface="Consolas" panose="020B0609020204030204" pitchFamily="49" charset="0"/>
              </a:rPr>
              <a:t>Boston universities (e.g., </a:t>
            </a:r>
            <a:r>
              <a:rPr lang="en-US" sz="1400" noProof="0" dirty="0">
                <a:solidFill>
                  <a:schemeClr val="bg1"/>
                </a:solidFill>
                <a:latin typeface="Consolas" panose="020B0609020204030204" pitchFamily="49" charset="0"/>
              </a:rPr>
              <a:t>Harvard, BU, Northeastern)</a:t>
            </a:r>
          </a:p>
          <a:p>
            <a:pPr marL="285750" indent="-285750">
              <a:spcBef>
                <a:spcPts val="600"/>
              </a:spcBef>
              <a:buClr>
                <a:srgbClr val="CCFF00"/>
              </a:buClr>
              <a:buFont typeface="Wingdings" panose="05000000000000000000" pitchFamily="2" charset="2"/>
              <a:buChar char="§"/>
              <a:defRPr sz="1100">
                <a:solidFill>
                  <a:srgbClr val="C0C0C0"/>
                </a:solidFill>
                <a:latin typeface="Arial"/>
              </a:defRPr>
            </a:pPr>
            <a:r>
              <a:rPr lang="en-US" sz="1400" noProof="0" dirty="0">
                <a:solidFill>
                  <a:schemeClr val="bg1"/>
                </a:solidFill>
                <a:latin typeface="Consolas" panose="020B0609020204030204" pitchFamily="49" charset="0"/>
              </a:rPr>
              <a:t>Student ambassador program</a:t>
            </a:r>
          </a:p>
          <a:p>
            <a:pPr marL="285750" indent="-285750">
              <a:spcBef>
                <a:spcPts val="600"/>
              </a:spcBef>
              <a:buClr>
                <a:srgbClr val="CCFF00"/>
              </a:buClr>
              <a:buFont typeface="Wingdings" panose="05000000000000000000" pitchFamily="2" charset="2"/>
              <a:buChar char="§"/>
              <a:defRPr sz="1100">
                <a:solidFill>
                  <a:srgbClr val="C0C0C0"/>
                </a:solidFill>
                <a:latin typeface="Arial"/>
              </a:defRPr>
            </a:pPr>
            <a:r>
              <a:rPr lang="en-US" sz="1400" noProof="0" dirty="0">
                <a:solidFill>
                  <a:schemeClr val="bg1"/>
                </a:solidFill>
                <a:latin typeface="Consolas" panose="020B0609020204030204" pitchFamily="49" charset="0"/>
              </a:rPr>
              <a:t>Posts on college subreddits</a:t>
            </a:r>
          </a:p>
        </p:txBody>
      </p:sp>
      <p:sp>
        <p:nvSpPr>
          <p:cNvPr id="44" name="TextBox 43">
            <a:extLst>
              <a:ext uri="{FF2B5EF4-FFF2-40B4-BE49-F238E27FC236}">
                <a16:creationId xmlns:a16="http://schemas.microsoft.com/office/drawing/2014/main" id="{D8E69B4D-2C54-1043-F5CD-F5E1971C670E}"/>
              </a:ext>
            </a:extLst>
          </p:cNvPr>
          <p:cNvSpPr txBox="1"/>
          <p:nvPr/>
        </p:nvSpPr>
        <p:spPr>
          <a:xfrm>
            <a:off x="4688210" y="5487757"/>
            <a:ext cx="3179978" cy="338554"/>
          </a:xfrm>
          <a:prstGeom prst="rect">
            <a:avLst/>
          </a:prstGeom>
          <a:noFill/>
        </p:spPr>
        <p:txBody>
          <a:bodyPr wrap="square" lIns="0">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Target: 25-30 users</a:t>
            </a:r>
          </a:p>
        </p:txBody>
      </p:sp>
      <p:sp>
        <p:nvSpPr>
          <p:cNvPr id="17" name="TextBox 16">
            <a:extLst>
              <a:ext uri="{FF2B5EF4-FFF2-40B4-BE49-F238E27FC236}">
                <a16:creationId xmlns:a16="http://schemas.microsoft.com/office/drawing/2014/main" id="{9AE9327C-FA86-7C47-5728-5898EBCD5EAB}"/>
              </a:ext>
            </a:extLst>
          </p:cNvPr>
          <p:cNvSpPr txBox="1"/>
          <p:nvPr/>
        </p:nvSpPr>
        <p:spPr>
          <a:xfrm>
            <a:off x="777540" y="2346960"/>
            <a:ext cx="3179978" cy="584775"/>
          </a:xfrm>
          <a:prstGeom prst="rect">
            <a:avLst/>
          </a:prstGeom>
        </p:spPr>
        <p:txBody>
          <a:bodyPr wrap="square">
            <a:sp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PHASE 1: MIT LAUNCH + FAMILY &amp; FRIENDS</a:t>
            </a:r>
          </a:p>
        </p:txBody>
      </p:sp>
      <p:sp>
        <p:nvSpPr>
          <p:cNvPr id="18" name="TextBox 17">
            <a:extLst>
              <a:ext uri="{FF2B5EF4-FFF2-40B4-BE49-F238E27FC236}">
                <a16:creationId xmlns:a16="http://schemas.microsoft.com/office/drawing/2014/main" id="{22B7A456-1C12-3817-A20A-D4C7A1B7171C}"/>
              </a:ext>
            </a:extLst>
          </p:cNvPr>
          <p:cNvSpPr txBox="1">
            <a:spLocks/>
          </p:cNvSpPr>
          <p:nvPr/>
        </p:nvSpPr>
        <p:spPr>
          <a:xfrm>
            <a:off x="868981" y="2914254"/>
            <a:ext cx="2926080" cy="307777"/>
          </a:xfrm>
          <a:prstGeom prst="rect">
            <a:avLst/>
          </a:prstGeom>
          <a:noFill/>
        </p:spPr>
        <p:txBody>
          <a:bodyPr wrap="square" lIns="0">
            <a:noAutofit/>
          </a:bodyPr>
          <a:lstStyle/>
          <a:p>
            <a:pPr algn="l"/>
            <a:r>
              <a:rPr lang="en-US" sz="1600" b="0" noProof="0" dirty="0">
                <a:solidFill>
                  <a:srgbClr val="C0C0C0"/>
                </a:solidFill>
                <a:latin typeface="Consolas" panose="020B0609020204030204" pitchFamily="49" charset="0"/>
              </a:rPr>
              <a:t>Weeks 1-3</a:t>
            </a:r>
          </a:p>
        </p:txBody>
      </p:sp>
      <p:sp>
        <p:nvSpPr>
          <p:cNvPr id="25" name="TextBox 24">
            <a:extLst>
              <a:ext uri="{FF2B5EF4-FFF2-40B4-BE49-F238E27FC236}">
                <a16:creationId xmlns:a16="http://schemas.microsoft.com/office/drawing/2014/main" id="{B12A7E15-1F5A-2BD0-1BE9-7021D02A45E1}"/>
              </a:ext>
            </a:extLst>
          </p:cNvPr>
          <p:cNvSpPr txBox="1">
            <a:spLocks/>
          </p:cNvSpPr>
          <p:nvPr/>
        </p:nvSpPr>
        <p:spPr>
          <a:xfrm>
            <a:off x="777540" y="3603172"/>
            <a:ext cx="2926080" cy="1754326"/>
          </a:xfrm>
          <a:prstGeom prst="rect">
            <a:avLst/>
          </a:prstGeom>
          <a:noFill/>
        </p:spPr>
        <p:txBody>
          <a:bodyPr wrap="square">
            <a:spAutoFit/>
          </a:bodyPr>
          <a:lstStyle/>
          <a:p>
            <a:pPr marL="285750" indent="-285750">
              <a:spcBef>
                <a:spcPts val="600"/>
              </a:spcBef>
              <a:buFont typeface="Wingdings" panose="05000000000000000000" pitchFamily="2" charset="2"/>
              <a:buChar char="§"/>
              <a:defRPr sz="1100">
                <a:solidFill>
                  <a:srgbClr val="C0C0C0"/>
                </a:solidFill>
                <a:latin typeface="Arial"/>
              </a:defRPr>
            </a:pPr>
            <a:r>
              <a:rPr lang="en-US" sz="1400" noProof="0" dirty="0">
                <a:solidFill>
                  <a:schemeClr val="bg1"/>
                </a:solidFill>
                <a:latin typeface="Consolas" panose="020B0609020204030204" pitchFamily="49" charset="0"/>
              </a:rPr>
              <a:t>Emails/messages to MIT communities (e.g., </a:t>
            </a:r>
            <a:r>
              <a:rPr lang="en-US" sz="1400" dirty="0">
                <a:solidFill>
                  <a:schemeClr val="bg1"/>
                </a:solidFill>
                <a:latin typeface="Consolas" panose="020B0609020204030204" pitchFamily="49" charset="0"/>
              </a:rPr>
              <a:t>entrepreneurship) </a:t>
            </a:r>
            <a:r>
              <a:rPr lang="en-US" sz="1400" noProof="0" dirty="0">
                <a:solidFill>
                  <a:schemeClr val="bg1"/>
                </a:solidFill>
                <a:latin typeface="Consolas" panose="020B0609020204030204" pitchFamily="49" charset="0"/>
              </a:rPr>
              <a:t>and to personal network</a:t>
            </a:r>
          </a:p>
          <a:p>
            <a:pPr marL="285750" indent="-285750">
              <a:spcBef>
                <a:spcPts val="600"/>
              </a:spcBef>
              <a:buFont typeface="Wingdings" panose="05000000000000000000" pitchFamily="2" charset="2"/>
              <a:buChar char="§"/>
              <a:defRPr sz="1100">
                <a:solidFill>
                  <a:srgbClr val="C0C0C0"/>
                </a:solidFill>
                <a:latin typeface="Arial"/>
              </a:defRPr>
            </a:pPr>
            <a:r>
              <a:rPr lang="en-US" sz="1400" noProof="0" dirty="0">
                <a:solidFill>
                  <a:schemeClr val="bg1"/>
                </a:solidFill>
                <a:latin typeface="Consolas" panose="020B0609020204030204" pitchFamily="49" charset="0"/>
              </a:rPr>
              <a:t>Student group demos</a:t>
            </a:r>
          </a:p>
          <a:p>
            <a:pPr marL="285750" indent="-285750">
              <a:spcBef>
                <a:spcPts val="600"/>
              </a:spcBef>
              <a:buFont typeface="Wingdings" panose="05000000000000000000" pitchFamily="2" charset="2"/>
              <a:buChar char="§"/>
              <a:defRPr sz="1100">
                <a:solidFill>
                  <a:srgbClr val="C0C0C0"/>
                </a:solidFill>
                <a:latin typeface="Arial"/>
              </a:defRPr>
            </a:pPr>
            <a:r>
              <a:rPr lang="en-US" sz="1400" noProof="0" dirty="0">
                <a:solidFill>
                  <a:schemeClr val="bg1"/>
                </a:solidFill>
                <a:latin typeface="Consolas" panose="020B0609020204030204" pitchFamily="49" charset="0"/>
              </a:rPr>
              <a:t>Referral program with incentives</a:t>
            </a:r>
          </a:p>
        </p:txBody>
      </p:sp>
      <p:sp>
        <p:nvSpPr>
          <p:cNvPr id="27" name="TextBox 26">
            <a:extLst>
              <a:ext uri="{FF2B5EF4-FFF2-40B4-BE49-F238E27FC236}">
                <a16:creationId xmlns:a16="http://schemas.microsoft.com/office/drawing/2014/main" id="{42A56463-5E02-DB2D-6F63-33666799891F}"/>
              </a:ext>
            </a:extLst>
          </p:cNvPr>
          <p:cNvSpPr txBox="1"/>
          <p:nvPr/>
        </p:nvSpPr>
        <p:spPr>
          <a:xfrm>
            <a:off x="868981" y="5487757"/>
            <a:ext cx="3179978" cy="338554"/>
          </a:xfrm>
          <a:prstGeom prst="rect">
            <a:avLst/>
          </a:prstGeom>
          <a:noFill/>
        </p:spPr>
        <p:txBody>
          <a:bodyPr wrap="square" lIns="0">
            <a:spAutoFit/>
          </a:bodyPr>
          <a:lstStyle/>
          <a:p>
            <a:pPr algn="l"/>
            <a:r>
              <a:rPr lang="en-US" sz="1600" b="1" noProof="0" dirty="0">
                <a:solidFill>
                  <a:schemeClr val="bg1"/>
                </a:solidFill>
                <a:latin typeface="Segoe UI Black" panose="020B0A02040204020203" pitchFamily="34" charset="0"/>
                <a:ea typeface="Segoe UI Black" panose="020B0A02040204020203" pitchFamily="34" charset="0"/>
              </a:rPr>
              <a:t>Target: 25-30 users</a:t>
            </a:r>
          </a:p>
        </p:txBody>
      </p:sp>
      <p:sp>
        <p:nvSpPr>
          <p:cNvPr id="45" name="Rectangle 44">
            <a:extLst>
              <a:ext uri="{FF2B5EF4-FFF2-40B4-BE49-F238E27FC236}">
                <a16:creationId xmlns:a16="http://schemas.microsoft.com/office/drawing/2014/main" id="{737B64F5-7CD5-19B0-5698-1B42329CF3DB}"/>
              </a:ext>
            </a:extLst>
          </p:cNvPr>
          <p:cNvSpPr/>
          <p:nvPr/>
        </p:nvSpPr>
        <p:spPr>
          <a:xfrm>
            <a:off x="640380" y="2164079"/>
            <a:ext cx="3454298" cy="3977029"/>
          </a:xfrm>
          <a:prstGeom prst="rect">
            <a:avLst/>
          </a:prstGeom>
          <a:no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cxnSp>
        <p:nvCxnSpPr>
          <p:cNvPr id="55" name="Straight Connector 54">
            <a:extLst>
              <a:ext uri="{FF2B5EF4-FFF2-40B4-BE49-F238E27FC236}">
                <a16:creationId xmlns:a16="http://schemas.microsoft.com/office/drawing/2014/main" id="{46E90AC8-D18E-FCF0-3B1A-95B36FAF74E8}"/>
              </a:ext>
            </a:extLst>
          </p:cNvPr>
          <p:cNvCxnSpPr>
            <a:cxnSpLocks/>
          </p:cNvCxnSpPr>
          <p:nvPr/>
        </p:nvCxnSpPr>
        <p:spPr>
          <a:xfrm>
            <a:off x="868980" y="3312559"/>
            <a:ext cx="292608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AB566001-82FC-4A4A-A821-3F3C5C42D1E6}"/>
              </a:ext>
            </a:extLst>
          </p:cNvPr>
          <p:cNvCxnSpPr>
            <a:cxnSpLocks/>
          </p:cNvCxnSpPr>
          <p:nvPr/>
        </p:nvCxnSpPr>
        <p:spPr>
          <a:xfrm>
            <a:off x="4688210" y="3312559"/>
            <a:ext cx="292608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23B2830F-AD9A-6916-E4FF-1A44A7F1FD55}"/>
              </a:ext>
            </a:extLst>
          </p:cNvPr>
          <p:cNvSpPr/>
          <p:nvPr/>
        </p:nvSpPr>
        <p:spPr>
          <a:xfrm>
            <a:off x="8138266" y="2164079"/>
            <a:ext cx="3454298" cy="3977029"/>
          </a:xfrm>
          <a:prstGeom prst="rect">
            <a:avLst/>
          </a:prstGeom>
          <a:solidFill>
            <a:srgbClr val="100E19"/>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8" name="TextBox 47">
            <a:extLst>
              <a:ext uri="{FF2B5EF4-FFF2-40B4-BE49-F238E27FC236}">
                <a16:creationId xmlns:a16="http://schemas.microsoft.com/office/drawing/2014/main" id="{1E9B8D41-6091-1562-3193-A2E5BCF7FBD9}"/>
              </a:ext>
            </a:extLst>
          </p:cNvPr>
          <p:cNvSpPr txBox="1">
            <a:spLocks/>
          </p:cNvSpPr>
          <p:nvPr/>
        </p:nvSpPr>
        <p:spPr>
          <a:xfrm>
            <a:off x="8402375" y="2346960"/>
            <a:ext cx="3047958" cy="584775"/>
          </a:xfrm>
          <a:prstGeom prst="rect">
            <a:avLst/>
          </a:prstGeom>
        </p:spPr>
        <p:txBody>
          <a:bodyPr wrap="square" lIns="0">
            <a:no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PHASE 3: SOCIAL MEDIA + INFLUENCERS</a:t>
            </a:r>
          </a:p>
        </p:txBody>
      </p:sp>
      <p:sp>
        <p:nvSpPr>
          <p:cNvPr id="51" name="TextBox 50">
            <a:extLst>
              <a:ext uri="{FF2B5EF4-FFF2-40B4-BE49-F238E27FC236}">
                <a16:creationId xmlns:a16="http://schemas.microsoft.com/office/drawing/2014/main" id="{B657DC39-E3A7-0B08-796C-FCD591EB30A5}"/>
              </a:ext>
            </a:extLst>
          </p:cNvPr>
          <p:cNvSpPr txBox="1">
            <a:spLocks/>
          </p:cNvSpPr>
          <p:nvPr/>
        </p:nvSpPr>
        <p:spPr>
          <a:xfrm>
            <a:off x="8402375" y="2978332"/>
            <a:ext cx="2926080" cy="307777"/>
          </a:xfrm>
          <a:prstGeom prst="rect">
            <a:avLst/>
          </a:prstGeom>
          <a:noFill/>
        </p:spPr>
        <p:txBody>
          <a:bodyPr wrap="square" lIns="0">
            <a:noAutofit/>
          </a:bodyPr>
          <a:lstStyle/>
          <a:p>
            <a:pPr algn="l"/>
            <a:r>
              <a:rPr lang="en-US" sz="1400" b="0" noProof="0" dirty="0">
                <a:solidFill>
                  <a:srgbClr val="C0C0C0"/>
                </a:solidFill>
                <a:latin typeface="Consolas" panose="020B0609020204030204" pitchFamily="49" charset="0"/>
              </a:rPr>
              <a:t>Weeks 6+</a:t>
            </a:r>
          </a:p>
        </p:txBody>
      </p:sp>
      <p:sp>
        <p:nvSpPr>
          <p:cNvPr id="52" name="TextBox 51">
            <a:extLst>
              <a:ext uri="{FF2B5EF4-FFF2-40B4-BE49-F238E27FC236}">
                <a16:creationId xmlns:a16="http://schemas.microsoft.com/office/drawing/2014/main" id="{892E6965-45D7-9CA9-24FC-33A8E4A6E480}"/>
              </a:ext>
            </a:extLst>
          </p:cNvPr>
          <p:cNvSpPr txBox="1">
            <a:spLocks/>
          </p:cNvSpPr>
          <p:nvPr/>
        </p:nvSpPr>
        <p:spPr>
          <a:xfrm>
            <a:off x="8402375" y="3603172"/>
            <a:ext cx="2926080" cy="1184940"/>
          </a:xfrm>
          <a:prstGeom prst="rect">
            <a:avLst/>
          </a:prstGeom>
          <a:noFill/>
        </p:spPr>
        <p:txBody>
          <a:bodyPr wrap="square" lIns="0">
            <a:noAutofit/>
          </a:bodyPr>
          <a:lstStyle/>
          <a:p>
            <a:pPr marL="285750" indent="-285750">
              <a:spcBef>
                <a:spcPts val="600"/>
              </a:spcBef>
              <a:buClr>
                <a:srgbClr val="A78BFA"/>
              </a:buClr>
              <a:buFont typeface="Wingdings" panose="05000000000000000000" pitchFamily="2" charset="2"/>
              <a:buChar char="§"/>
              <a:defRPr sz="1100">
                <a:solidFill>
                  <a:srgbClr val="C0C0C0"/>
                </a:solidFill>
                <a:latin typeface="Arial"/>
              </a:defRPr>
            </a:pPr>
            <a:r>
              <a:rPr lang="en-US" sz="1400" noProof="0" dirty="0">
                <a:solidFill>
                  <a:schemeClr val="bg1"/>
                </a:solidFill>
                <a:latin typeface="Consolas" panose="020B0609020204030204" pitchFamily="49" charset="0"/>
              </a:rPr>
              <a:t>Reddit productivity channels</a:t>
            </a:r>
          </a:p>
          <a:p>
            <a:pPr marL="285750" indent="-285750">
              <a:spcBef>
                <a:spcPts val="600"/>
              </a:spcBef>
              <a:buClr>
                <a:srgbClr val="A78BFA"/>
              </a:buClr>
              <a:buFont typeface="Wingdings" panose="05000000000000000000" pitchFamily="2" charset="2"/>
              <a:buChar char="§"/>
              <a:defRPr sz="1100">
                <a:solidFill>
                  <a:srgbClr val="C0C0C0"/>
                </a:solidFill>
                <a:latin typeface="Arial"/>
              </a:defRPr>
            </a:pPr>
            <a:r>
              <a:rPr lang="en-US" sz="1400" dirty="0">
                <a:solidFill>
                  <a:schemeClr val="bg1"/>
                </a:solidFill>
                <a:latin typeface="Consolas" panose="020B0609020204030204" pitchFamily="49" charset="0"/>
              </a:rPr>
              <a:t>Content marketing (e.g., </a:t>
            </a:r>
            <a:r>
              <a:rPr lang="en-US" sz="1400" noProof="0" dirty="0">
                <a:solidFill>
                  <a:schemeClr val="bg1"/>
                </a:solidFill>
                <a:latin typeface="Consolas" panose="020B0609020204030204" pitchFamily="49" charset="0"/>
              </a:rPr>
              <a:t>2-3 </a:t>
            </a:r>
            <a:r>
              <a:rPr lang="en-US" sz="1400" noProof="0" dirty="0" err="1">
                <a:solidFill>
                  <a:schemeClr val="bg1"/>
                </a:solidFill>
                <a:latin typeface="Consolas" panose="020B0609020204030204" pitchFamily="49" charset="0"/>
              </a:rPr>
              <a:t>TikToks</a:t>
            </a:r>
            <a:r>
              <a:rPr lang="en-US" sz="1400" noProof="0" dirty="0">
                <a:solidFill>
                  <a:schemeClr val="bg1"/>
                </a:solidFill>
                <a:latin typeface="Consolas" panose="020B0609020204030204" pitchFamily="49" charset="0"/>
              </a:rPr>
              <a:t>/</a:t>
            </a:r>
            <a:r>
              <a:rPr lang="en-US" sz="1400" dirty="0">
                <a:solidFill>
                  <a:schemeClr val="bg1"/>
                </a:solidFill>
                <a:latin typeface="Consolas" panose="020B0609020204030204" pitchFamily="49" charset="0"/>
              </a:rPr>
              <a:t>YouTube shorts per </a:t>
            </a:r>
            <a:r>
              <a:rPr lang="en-US" sz="1400" noProof="0" dirty="0">
                <a:solidFill>
                  <a:schemeClr val="bg1"/>
                </a:solidFill>
                <a:latin typeface="Consolas" panose="020B0609020204030204" pitchFamily="49" charset="0"/>
              </a:rPr>
              <a:t>week)</a:t>
            </a:r>
          </a:p>
          <a:p>
            <a:pPr marL="285750" indent="-285750">
              <a:spcBef>
                <a:spcPts val="600"/>
              </a:spcBef>
              <a:buClr>
                <a:srgbClr val="A78BFA"/>
              </a:buClr>
              <a:buFont typeface="Wingdings" panose="05000000000000000000" pitchFamily="2" charset="2"/>
              <a:buChar char="§"/>
              <a:defRPr sz="1100">
                <a:solidFill>
                  <a:srgbClr val="C0C0C0"/>
                </a:solidFill>
                <a:latin typeface="Arial"/>
              </a:defRPr>
            </a:pPr>
            <a:r>
              <a:rPr lang="en-US" sz="1400" noProof="0" dirty="0">
                <a:solidFill>
                  <a:schemeClr val="bg1"/>
                </a:solidFill>
                <a:latin typeface="Consolas" panose="020B0609020204030204" pitchFamily="49" charset="0"/>
              </a:rPr>
              <a:t>Reach out to 20 routine influencers</a:t>
            </a:r>
          </a:p>
        </p:txBody>
      </p:sp>
      <p:sp>
        <p:nvSpPr>
          <p:cNvPr id="54" name="TextBox 53">
            <a:extLst>
              <a:ext uri="{FF2B5EF4-FFF2-40B4-BE49-F238E27FC236}">
                <a16:creationId xmlns:a16="http://schemas.microsoft.com/office/drawing/2014/main" id="{EDC31139-9267-135C-7139-8BF12C653020}"/>
              </a:ext>
            </a:extLst>
          </p:cNvPr>
          <p:cNvSpPr txBox="1"/>
          <p:nvPr/>
        </p:nvSpPr>
        <p:spPr>
          <a:xfrm>
            <a:off x="8402375" y="5487757"/>
            <a:ext cx="3179978" cy="338554"/>
          </a:xfrm>
          <a:prstGeom prst="rect">
            <a:avLst/>
          </a:prstGeom>
          <a:noFill/>
        </p:spPr>
        <p:txBody>
          <a:bodyPr wrap="square" lIns="0">
            <a:spAutoFit/>
          </a:bodyPr>
          <a:lstStyle>
            <a:defPPr>
              <a:defRPr lang="en-US"/>
            </a:defPPr>
            <a:lvl1pPr>
              <a:defRPr sz="1600" b="1">
                <a:solidFill>
                  <a:srgbClr val="CCFF00"/>
                </a:solidFill>
                <a:latin typeface="Segoe UI Black" panose="020B0A02040204020203" pitchFamily="34" charset="0"/>
                <a:ea typeface="Segoe UI Black" panose="020B0A02040204020203" pitchFamily="34" charset="0"/>
              </a:defRPr>
            </a:lvl1pPr>
          </a:lstStyle>
          <a:p>
            <a:r>
              <a:rPr lang="en-US" noProof="0" dirty="0">
                <a:solidFill>
                  <a:srgbClr val="A78BFA"/>
                </a:solidFill>
              </a:rPr>
              <a:t>Target: </a:t>
            </a:r>
            <a:r>
              <a:rPr lang="en-US" dirty="0">
                <a:solidFill>
                  <a:srgbClr val="A78BFA"/>
                </a:solidFill>
              </a:rPr>
              <a:t>10</a:t>
            </a:r>
            <a:r>
              <a:rPr lang="en-US" noProof="0" dirty="0">
                <a:solidFill>
                  <a:srgbClr val="A78BFA"/>
                </a:solidFill>
              </a:rPr>
              <a:t>0+ users</a:t>
            </a:r>
          </a:p>
        </p:txBody>
      </p:sp>
      <p:cxnSp>
        <p:nvCxnSpPr>
          <p:cNvPr id="59" name="Straight Connector 58">
            <a:extLst>
              <a:ext uri="{FF2B5EF4-FFF2-40B4-BE49-F238E27FC236}">
                <a16:creationId xmlns:a16="http://schemas.microsoft.com/office/drawing/2014/main" id="{2AFA12EF-A9E6-44A9-CE50-AB6CBC67D0D1}"/>
              </a:ext>
            </a:extLst>
          </p:cNvPr>
          <p:cNvCxnSpPr>
            <a:cxnSpLocks/>
          </p:cNvCxnSpPr>
          <p:nvPr/>
        </p:nvCxnSpPr>
        <p:spPr>
          <a:xfrm>
            <a:off x="8402375" y="3312559"/>
            <a:ext cx="292608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264560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3D09A63-E8B9-7088-6AD7-E1091FF8B13D}"/>
            </a:ext>
          </a:extLst>
        </p:cNvPr>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D6DA88E6-E07B-00F4-44C7-25E0C65537D3}"/>
              </a:ext>
            </a:extLst>
          </p:cNvPr>
          <p:cNvGraphicFramePr>
            <a:graphicFrameLocks noChangeAspect="1"/>
          </p:cNvGraphicFramePr>
          <p:nvPr>
            <p:custDataLst>
              <p:tags r:id="rId2"/>
            </p:custDataLst>
            <p:extLst>
              <p:ext uri="{D42A27DB-BD31-4B8C-83A1-F6EECF244321}">
                <p14:modId xmlns:p14="http://schemas.microsoft.com/office/powerpoint/2010/main" val="27722907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33" name="think-cell data - do not delete" hidden="1">
                        <a:extLst>
                          <a:ext uri="{FF2B5EF4-FFF2-40B4-BE49-F238E27FC236}">
                            <a16:creationId xmlns:a16="http://schemas.microsoft.com/office/drawing/2014/main" id="{62ED4553-51BC-299B-FD07-4687C92F655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84856727-5AEF-209B-9794-BB6B277E899F}"/>
              </a:ext>
            </a:extLst>
          </p:cNvPr>
          <p:cNvGrpSpPr/>
          <p:nvPr/>
        </p:nvGrpSpPr>
        <p:grpSpPr>
          <a:xfrm>
            <a:off x="8461070" y="2216668"/>
            <a:ext cx="3122963" cy="3561907"/>
            <a:chOff x="8461070" y="1987978"/>
            <a:chExt cx="3122963" cy="3561907"/>
          </a:xfrm>
        </p:grpSpPr>
        <p:sp>
          <p:nvSpPr>
            <p:cNvPr id="7" name="Rectangle 6">
              <a:extLst>
                <a:ext uri="{FF2B5EF4-FFF2-40B4-BE49-F238E27FC236}">
                  <a16:creationId xmlns:a16="http://schemas.microsoft.com/office/drawing/2014/main" id="{87C53DF7-BA06-D503-98E6-54662B3DBCBA}"/>
                </a:ext>
              </a:extLst>
            </p:cNvPr>
            <p:cNvSpPr/>
            <p:nvPr/>
          </p:nvSpPr>
          <p:spPr>
            <a:xfrm>
              <a:off x="8461070" y="1987978"/>
              <a:ext cx="3122963" cy="3561907"/>
            </a:xfrm>
            <a:prstGeom prst="rect">
              <a:avLst/>
            </a:prstGeom>
            <a:solidFill>
              <a:srgbClr val="141A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D15EF565-10E5-7CCF-3769-95083A5A3B4D}"/>
                </a:ext>
              </a:extLst>
            </p:cNvPr>
            <p:cNvSpPr txBox="1"/>
            <p:nvPr/>
          </p:nvSpPr>
          <p:spPr>
            <a:xfrm>
              <a:off x="8654612" y="2522577"/>
              <a:ext cx="2735878" cy="400110"/>
            </a:xfrm>
            <a:prstGeom prst="rect">
              <a:avLst/>
            </a:prstGeom>
            <a:noFill/>
          </p:spPr>
          <p:txBody>
            <a:bodyPr wrap="none">
              <a:spAutoFit/>
            </a:bodyPr>
            <a:lstStyle/>
            <a:p>
              <a:pPr algn="ctr"/>
              <a:r>
                <a:rPr lang="en-US" sz="2000" b="1" noProof="0" dirty="0">
                  <a:solidFill>
                    <a:srgbClr val="CCFF00"/>
                  </a:solidFill>
                  <a:latin typeface="Arial Black"/>
                </a:rPr>
                <a:t>TRY IT YOURSELF</a:t>
              </a:r>
            </a:p>
          </p:txBody>
        </p:sp>
        <p:sp>
          <p:nvSpPr>
            <p:cNvPr id="9" name="Rectangle 8">
              <a:hlinkClick r:id="rId7"/>
              <a:extLst>
                <a:ext uri="{FF2B5EF4-FFF2-40B4-BE49-F238E27FC236}">
                  <a16:creationId xmlns:a16="http://schemas.microsoft.com/office/drawing/2014/main" id="{FA4E78C7-B05A-C30A-4AB9-E0D128D06775}"/>
                </a:ext>
              </a:extLst>
            </p:cNvPr>
            <p:cNvSpPr/>
            <p:nvPr/>
          </p:nvSpPr>
          <p:spPr>
            <a:xfrm>
              <a:off x="9067670" y="4613858"/>
              <a:ext cx="1909762" cy="553256"/>
            </a:xfrm>
            <a:prstGeom prst="rect">
              <a:avLst/>
            </a:prstGeom>
            <a:solidFill>
              <a:srgbClr val="CCFF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noProof="0" dirty="0">
                  <a:solidFill>
                    <a:srgbClr val="000000"/>
                  </a:solidFill>
                  <a:latin typeface="Segoe UI Black" panose="020B0A02040204020203" pitchFamily="34" charset="0"/>
                  <a:ea typeface="Segoe UI Black" panose="020B0A02040204020203" pitchFamily="34" charset="0"/>
                </a:rPr>
                <a:t>LAUNCH       AXIOM FORGE</a:t>
              </a:r>
            </a:p>
          </p:txBody>
        </p:sp>
        <p:sp>
          <p:nvSpPr>
            <p:cNvPr id="12" name="TextBox 11">
              <a:extLst>
                <a:ext uri="{FF2B5EF4-FFF2-40B4-BE49-F238E27FC236}">
                  <a16:creationId xmlns:a16="http://schemas.microsoft.com/office/drawing/2014/main" id="{CF04878A-7D07-4932-1711-E76C59052657}"/>
                </a:ext>
              </a:extLst>
            </p:cNvPr>
            <p:cNvSpPr txBox="1"/>
            <p:nvPr/>
          </p:nvSpPr>
          <p:spPr>
            <a:xfrm>
              <a:off x="8685434" y="3168108"/>
              <a:ext cx="2674234" cy="1200329"/>
            </a:xfrm>
            <a:prstGeom prst="rect">
              <a:avLst/>
            </a:prstGeom>
            <a:noFill/>
          </p:spPr>
          <p:txBody>
            <a:bodyPr wrap="square">
              <a:spAutoFit/>
            </a:bodyPr>
            <a:lstStyle/>
            <a:p>
              <a:pPr algn="ctr"/>
              <a:r>
                <a:rPr lang="en-US" b="1" noProof="0" dirty="0">
                  <a:solidFill>
                    <a:schemeClr val="bg1"/>
                  </a:solidFill>
                  <a:latin typeface="Consolas" panose="020B0609020204030204" pitchFamily="49" charset="0"/>
                </a:rPr>
                <a:t>No download required</a:t>
              </a:r>
              <a:r>
                <a:rPr lang="en-US" b="0" noProof="0" dirty="0">
                  <a:solidFill>
                    <a:schemeClr val="bg1"/>
                  </a:solidFill>
                  <a:latin typeface="Consolas" panose="020B0609020204030204" pitchFamily="49" charset="0"/>
                </a:rPr>
                <a:t> - works in your </a:t>
              </a:r>
              <a:r>
                <a:rPr lang="en-US" noProof="0" dirty="0">
                  <a:solidFill>
                    <a:schemeClr val="bg1"/>
                  </a:solidFill>
                  <a:latin typeface="Consolas" panose="020B0609020204030204" pitchFamily="49" charset="0"/>
                </a:rPr>
                <a:t>desktop and mobile </a:t>
              </a:r>
              <a:r>
                <a:rPr lang="en-US" b="0" noProof="0" dirty="0">
                  <a:solidFill>
                    <a:schemeClr val="bg1"/>
                  </a:solidFill>
                  <a:latin typeface="Consolas" panose="020B0609020204030204" pitchFamily="49" charset="0"/>
                </a:rPr>
                <a:t>browsers</a:t>
              </a:r>
            </a:p>
          </p:txBody>
        </p:sp>
      </p:grpSp>
      <p:sp>
        <p:nvSpPr>
          <p:cNvPr id="13" name="TextBox 12">
            <a:extLst>
              <a:ext uri="{FF2B5EF4-FFF2-40B4-BE49-F238E27FC236}">
                <a16:creationId xmlns:a16="http://schemas.microsoft.com/office/drawing/2014/main" id="{A64C1E73-99C5-11A3-D839-FB5BBDEF9DED}"/>
              </a:ext>
            </a:extLst>
          </p:cNvPr>
          <p:cNvSpPr txBox="1"/>
          <p:nvPr/>
        </p:nvSpPr>
        <p:spPr>
          <a:xfrm>
            <a:off x="548640" y="320040"/>
            <a:ext cx="1874231" cy="307777"/>
          </a:xfrm>
          <a:prstGeom prst="rect">
            <a:avLst/>
          </a:prstGeom>
          <a:noFill/>
        </p:spPr>
        <p:txBody>
          <a:bodyPr wrap="none">
            <a:spAutoFit/>
          </a:bodyPr>
          <a:lstStyle/>
          <a:p>
            <a:pPr algn="l"/>
            <a:r>
              <a:rPr lang="en-US" sz="1400" b="1" noProof="0" dirty="0">
                <a:solidFill>
                  <a:srgbClr val="A78BFA"/>
                </a:solidFill>
                <a:latin typeface="Consolas"/>
              </a:rPr>
              <a:t>// Prototype Demo</a:t>
            </a:r>
          </a:p>
        </p:txBody>
      </p:sp>
      <p:sp>
        <p:nvSpPr>
          <p:cNvPr id="16" name="TextBox 15">
            <a:extLst>
              <a:ext uri="{FF2B5EF4-FFF2-40B4-BE49-F238E27FC236}">
                <a16:creationId xmlns:a16="http://schemas.microsoft.com/office/drawing/2014/main" id="{1821D22B-7A03-6BBF-6348-6D60D096CE8B}"/>
              </a:ext>
            </a:extLst>
          </p:cNvPr>
          <p:cNvSpPr txBox="1"/>
          <p:nvPr/>
        </p:nvSpPr>
        <p:spPr>
          <a:xfrm>
            <a:off x="548640" y="640074"/>
            <a:ext cx="7122463" cy="584775"/>
          </a:xfrm>
          <a:prstGeom prst="rect">
            <a:avLst/>
          </a:prstGeom>
          <a:noFill/>
        </p:spPr>
        <p:txBody>
          <a:bodyPr wrap="none">
            <a:spAutoFit/>
          </a:bodyPr>
          <a:lstStyle/>
          <a:p>
            <a:pPr algn="l"/>
            <a:r>
              <a:rPr lang="en-US" sz="3200" b="1" noProof="0" dirty="0">
                <a:solidFill>
                  <a:srgbClr val="FFFFFF"/>
                </a:solidFill>
                <a:latin typeface="Segoe UI Black" panose="020B0A02040204020203" pitchFamily="34" charset="0"/>
                <a:ea typeface="Segoe UI Black" panose="020B0A02040204020203" pitchFamily="34" charset="0"/>
              </a:rPr>
              <a:t>WATCH AXIOM FORGE IN ACTION</a:t>
            </a:r>
          </a:p>
        </p:txBody>
      </p:sp>
      <p:grpSp>
        <p:nvGrpSpPr>
          <p:cNvPr id="19" name="Group 18">
            <a:extLst>
              <a:ext uri="{FF2B5EF4-FFF2-40B4-BE49-F238E27FC236}">
                <a16:creationId xmlns:a16="http://schemas.microsoft.com/office/drawing/2014/main" id="{06CAEBE2-11E3-CB08-AB6C-C3367AAE5A22}"/>
              </a:ext>
            </a:extLst>
          </p:cNvPr>
          <p:cNvGrpSpPr/>
          <p:nvPr/>
        </p:nvGrpSpPr>
        <p:grpSpPr>
          <a:xfrm>
            <a:off x="11321601" y="320040"/>
            <a:ext cx="640080" cy="640080"/>
            <a:chOff x="11094415" y="320040"/>
            <a:chExt cx="640080" cy="640080"/>
          </a:xfrm>
        </p:grpSpPr>
        <p:sp>
          <p:nvSpPr>
            <p:cNvPr id="20" name="Rounded Rectangle 1">
              <a:extLst>
                <a:ext uri="{FF2B5EF4-FFF2-40B4-BE49-F238E27FC236}">
                  <a16:creationId xmlns:a16="http://schemas.microsoft.com/office/drawing/2014/main" id="{7AD995E3-F81D-5ECB-3556-1CA546B7901D}"/>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2298F434-CB76-3673-55B4-801705B9A763}"/>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56C8DE6B-C8DC-50B1-46DA-494A3351D66D}"/>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3" name="Rectangle 22">
              <a:extLst>
                <a:ext uri="{FF2B5EF4-FFF2-40B4-BE49-F238E27FC236}">
                  <a16:creationId xmlns:a16="http://schemas.microsoft.com/office/drawing/2014/main" id="{E5E2D230-6AC5-ECCC-42B6-2E58B6AFA344}"/>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24" name="TextBox 23">
            <a:extLst>
              <a:ext uri="{FF2B5EF4-FFF2-40B4-BE49-F238E27FC236}">
                <a16:creationId xmlns:a16="http://schemas.microsoft.com/office/drawing/2014/main" id="{C45EBAD3-D2F6-28A2-6DD2-0D1D0C4928DC}"/>
              </a:ext>
            </a:extLst>
          </p:cNvPr>
          <p:cNvSpPr txBox="1"/>
          <p:nvPr/>
        </p:nvSpPr>
        <p:spPr>
          <a:xfrm>
            <a:off x="11584033" y="6356866"/>
            <a:ext cx="377649"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pPr algn="r"/>
            <a:r>
              <a:rPr lang="en-US" b="0" noProof="0" dirty="0"/>
              <a:t>10</a:t>
            </a:r>
          </a:p>
        </p:txBody>
      </p:sp>
      <p:sp>
        <p:nvSpPr>
          <p:cNvPr id="3" name="TextBox 2">
            <a:extLst>
              <a:ext uri="{FF2B5EF4-FFF2-40B4-BE49-F238E27FC236}">
                <a16:creationId xmlns:a16="http://schemas.microsoft.com/office/drawing/2014/main" id="{1250E777-117C-BCF8-98F1-59B512123CF0}"/>
              </a:ext>
            </a:extLst>
          </p:cNvPr>
          <p:cNvSpPr txBox="1"/>
          <p:nvPr/>
        </p:nvSpPr>
        <p:spPr>
          <a:xfrm>
            <a:off x="548640" y="6356866"/>
            <a:ext cx="4432624" cy="276999"/>
          </a:xfrm>
          <a:prstGeom prst="rect">
            <a:avLst/>
          </a:prstGeom>
          <a:noFill/>
        </p:spPr>
        <p:txBody>
          <a:bodyPr wrap="none">
            <a:spAutoFit/>
          </a:bodyPr>
          <a:lstStyle/>
          <a:p>
            <a:pPr algn="l"/>
            <a:r>
              <a:rPr lang="en-US" sz="1200" noProof="0" dirty="0">
                <a:solidFill>
                  <a:srgbClr val="FFFFFF"/>
                </a:solidFill>
                <a:latin typeface="Consolas" panose="020B0609020204030204" pitchFamily="49" charset="0"/>
              </a:rPr>
              <a:t>1. Includes Freemium Core &amp; Insights Pro features</a:t>
            </a:r>
            <a:endParaRPr lang="en-US" sz="1200" b="0" noProof="0" dirty="0">
              <a:solidFill>
                <a:schemeClr val="bg1"/>
              </a:solidFill>
              <a:latin typeface="Consolas" panose="020B0609020204030204" pitchFamily="49" charset="0"/>
            </a:endParaRPr>
          </a:p>
        </p:txBody>
      </p:sp>
      <p:grpSp>
        <p:nvGrpSpPr>
          <p:cNvPr id="10" name="Group 9">
            <a:extLst>
              <a:ext uri="{FF2B5EF4-FFF2-40B4-BE49-F238E27FC236}">
                <a16:creationId xmlns:a16="http://schemas.microsoft.com/office/drawing/2014/main" id="{E7F2719E-6A50-48F4-397C-2729A7299025}"/>
              </a:ext>
            </a:extLst>
          </p:cNvPr>
          <p:cNvGrpSpPr/>
          <p:nvPr/>
        </p:nvGrpSpPr>
        <p:grpSpPr>
          <a:xfrm>
            <a:off x="5464117" y="2267352"/>
            <a:ext cx="2241343" cy="3433103"/>
            <a:chOff x="708736" y="1922827"/>
            <a:chExt cx="2508283" cy="3841980"/>
          </a:xfrm>
        </p:grpSpPr>
        <p:pic>
          <p:nvPicPr>
            <p:cNvPr id="36" name="5B8DC94B-C1C2-44F4-BCFA-C9EFCA0A87CC" descr="IMG_3300.PNG">
              <a:extLst>
                <a:ext uri="{FF2B5EF4-FFF2-40B4-BE49-F238E27FC236}">
                  <a16:creationId xmlns:a16="http://schemas.microsoft.com/office/drawing/2014/main" id="{D42A0EED-2340-5534-6A5F-4A3137A8266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64254" b="34883"/>
            <a:stretch>
              <a:fillRect/>
            </a:stretch>
          </p:blipFill>
          <p:spPr bwMode="auto">
            <a:xfrm>
              <a:off x="708736" y="5719088"/>
              <a:ext cx="2508283" cy="45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 name="Group 33">
              <a:extLst>
                <a:ext uri="{FF2B5EF4-FFF2-40B4-BE49-F238E27FC236}">
                  <a16:creationId xmlns:a16="http://schemas.microsoft.com/office/drawing/2014/main" id="{4EDE41A2-FB9C-E9BA-ED65-D82095A41A15}"/>
                </a:ext>
              </a:extLst>
            </p:cNvPr>
            <p:cNvGrpSpPr>
              <a:grpSpLocks/>
            </p:cNvGrpSpPr>
            <p:nvPr/>
          </p:nvGrpSpPr>
          <p:grpSpPr>
            <a:xfrm>
              <a:off x="708736" y="1967939"/>
              <a:ext cx="2508283" cy="3762098"/>
              <a:chOff x="-631825" y="-649906"/>
              <a:chExt cx="3803650" cy="5704980"/>
            </a:xfrm>
          </p:grpSpPr>
          <p:pic>
            <p:nvPicPr>
              <p:cNvPr id="1026" name="5B8DC94B-C1C2-44F4-BCFA-C9EFCA0A87CC" descr="IMG_3300.PNG">
                <a:extLst>
                  <a:ext uri="{FF2B5EF4-FFF2-40B4-BE49-F238E27FC236}">
                    <a16:creationId xmlns:a16="http://schemas.microsoft.com/office/drawing/2014/main" id="{9A62356D-6EF5-E182-E6A5-4F85E2D723A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8549" b="26588"/>
              <a:stretch>
                <a:fillRect/>
              </a:stretch>
            </p:blipFill>
            <p:spPr bwMode="auto">
              <a:xfrm>
                <a:off x="-631825" y="-649906"/>
                <a:ext cx="3803650" cy="5210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5B8DC94B-C1C2-44F4-BCFA-C9EFCA0A87CC" descr="IMG_3300.PNG">
                <a:extLst>
                  <a:ext uri="{FF2B5EF4-FFF2-40B4-BE49-F238E27FC236}">
                    <a16:creationId xmlns:a16="http://schemas.microsoft.com/office/drawing/2014/main" id="{014A1FCE-7B9A-37C2-B520-485109816B3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90716" b="1780"/>
              <a:stretch>
                <a:fillRect/>
              </a:stretch>
            </p:blipFill>
            <p:spPr bwMode="auto">
              <a:xfrm>
                <a:off x="-631825" y="4452282"/>
                <a:ext cx="3803650" cy="60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5" name="5B8DC94B-C1C2-44F4-BCFA-C9EFCA0A87CC" descr="IMG_3300.PNG">
              <a:extLst>
                <a:ext uri="{FF2B5EF4-FFF2-40B4-BE49-F238E27FC236}">
                  <a16:creationId xmlns:a16="http://schemas.microsoft.com/office/drawing/2014/main" id="{CF8A34AC-069F-17C8-51D0-BE93608CAD5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64254" b="34883"/>
            <a:stretch>
              <a:fillRect/>
            </a:stretch>
          </p:blipFill>
          <p:spPr bwMode="auto">
            <a:xfrm>
              <a:off x="708736" y="1922827"/>
              <a:ext cx="2508283" cy="45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Rounded Rectangle 11">
            <a:extLst>
              <a:ext uri="{FF2B5EF4-FFF2-40B4-BE49-F238E27FC236}">
                <a16:creationId xmlns:a16="http://schemas.microsoft.com/office/drawing/2014/main" id="{2422ABD2-FDE9-6B64-6BEA-E0AF121A8443}"/>
              </a:ext>
            </a:extLst>
          </p:cNvPr>
          <p:cNvSpPr/>
          <p:nvPr/>
        </p:nvSpPr>
        <p:spPr>
          <a:xfrm>
            <a:off x="5355835" y="1903408"/>
            <a:ext cx="2451259" cy="4188426"/>
          </a:xfrm>
          <a:prstGeom prst="roundRect">
            <a:avLst/>
          </a:prstGeom>
          <a:noFill/>
          <a:ln w="19050">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0" name="Rounded Rectangle 12">
            <a:extLst>
              <a:ext uri="{FF2B5EF4-FFF2-40B4-BE49-F238E27FC236}">
                <a16:creationId xmlns:a16="http://schemas.microsoft.com/office/drawing/2014/main" id="{391BFDD0-8AC2-474F-D09C-DCA78BAC246D}"/>
              </a:ext>
            </a:extLst>
          </p:cNvPr>
          <p:cNvSpPr/>
          <p:nvPr/>
        </p:nvSpPr>
        <p:spPr>
          <a:xfrm>
            <a:off x="5453885" y="2001459"/>
            <a:ext cx="2255158" cy="3987381"/>
          </a:xfrm>
          <a:prstGeom prst="roundRect">
            <a:avLst/>
          </a:prstGeom>
          <a:noFill/>
          <a:ln w="317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61" name="Group 60">
            <a:extLst>
              <a:ext uri="{FF2B5EF4-FFF2-40B4-BE49-F238E27FC236}">
                <a16:creationId xmlns:a16="http://schemas.microsoft.com/office/drawing/2014/main" id="{363383E5-98C3-C4F1-6B75-2CE8058E4AA0}"/>
              </a:ext>
            </a:extLst>
          </p:cNvPr>
          <p:cNvGrpSpPr/>
          <p:nvPr/>
        </p:nvGrpSpPr>
        <p:grpSpPr>
          <a:xfrm>
            <a:off x="6175537" y="3591693"/>
            <a:ext cx="811856" cy="811856"/>
            <a:chOff x="8089269" y="3333751"/>
            <a:chExt cx="908547" cy="908547"/>
          </a:xfrm>
        </p:grpSpPr>
        <p:sp>
          <p:nvSpPr>
            <p:cNvPr id="39" name="Oval 38">
              <a:extLst>
                <a:ext uri="{FF2B5EF4-FFF2-40B4-BE49-F238E27FC236}">
                  <a16:creationId xmlns:a16="http://schemas.microsoft.com/office/drawing/2014/main" id="{03BC29C7-2784-62A3-D2FC-B1A162C5E8A1}"/>
                </a:ext>
              </a:extLst>
            </p:cNvPr>
            <p:cNvSpPr/>
            <p:nvPr/>
          </p:nvSpPr>
          <p:spPr>
            <a:xfrm>
              <a:off x="8089269" y="3333751"/>
              <a:ext cx="908547" cy="908547"/>
            </a:xfrm>
            <a:prstGeom prst="ellipse">
              <a:avLst/>
            </a:prstGeom>
            <a:solidFill>
              <a:schemeClr val="tx1">
                <a:lumMod val="85000"/>
                <a:lumOff val="15000"/>
                <a:alpha val="66000"/>
              </a:schemeClr>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0" name="Isosceles Triangle 39">
              <a:hlinkClick r:id="rId9"/>
              <a:extLst>
                <a:ext uri="{FF2B5EF4-FFF2-40B4-BE49-F238E27FC236}">
                  <a16:creationId xmlns:a16="http://schemas.microsoft.com/office/drawing/2014/main" id="{0DB4BD3B-7FD9-3DF0-C6CA-2A6E112B49BE}"/>
                </a:ext>
              </a:extLst>
            </p:cNvPr>
            <p:cNvSpPr/>
            <p:nvPr/>
          </p:nvSpPr>
          <p:spPr>
            <a:xfrm rot="5400000">
              <a:off x="8402543" y="3605144"/>
              <a:ext cx="365760" cy="365760"/>
            </a:xfrm>
            <a:prstGeom prst="triangl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42" name="TextBox 41">
            <a:extLst>
              <a:ext uri="{FF2B5EF4-FFF2-40B4-BE49-F238E27FC236}">
                <a16:creationId xmlns:a16="http://schemas.microsoft.com/office/drawing/2014/main" id="{6149BCE5-668B-951A-A2EF-5D7B0823E002}"/>
              </a:ext>
            </a:extLst>
          </p:cNvPr>
          <p:cNvSpPr txBox="1"/>
          <p:nvPr/>
        </p:nvSpPr>
        <p:spPr>
          <a:xfrm>
            <a:off x="5743735" y="5669844"/>
            <a:ext cx="1675459" cy="307777"/>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C0C0"/>
                </a:solidFill>
                <a:effectLst/>
                <a:uLnTx/>
                <a:uFillTx/>
                <a:latin typeface="Consolas" panose="020B0609020204030204" pitchFamily="49" charset="0"/>
                <a:ea typeface="+mn-ea"/>
                <a:cs typeface="+mn-cs"/>
              </a:rPr>
              <a:t>Length:</a:t>
            </a:r>
            <a:r>
              <a:rPr kumimoji="0" lang="en-US" sz="1400" b="0" i="0" u="none" strike="noStrike" kern="1200" cap="none" spc="0" normalizeH="0" baseline="0" noProof="0" dirty="0">
                <a:ln>
                  <a:noFill/>
                </a:ln>
                <a:solidFill>
                  <a:srgbClr val="C0C0C0"/>
                </a:solidFill>
                <a:effectLst/>
                <a:uLnTx/>
                <a:uFillTx/>
                <a:latin typeface="Consolas" panose="020B0609020204030204" pitchFamily="49" charset="0"/>
                <a:ea typeface="+mn-ea"/>
                <a:cs typeface="+mn-cs"/>
              </a:rPr>
              <a:t> </a:t>
            </a:r>
            <a:r>
              <a:rPr kumimoji="0" lang="en-US" sz="1400" b="0" i="0" u="none" strike="noStrike" kern="1200" cap="none" spc="0" normalizeH="0" baseline="0" noProof="0" dirty="0">
                <a:ln>
                  <a:noFill/>
                </a:ln>
                <a:solidFill>
                  <a:srgbClr val="A78BFA"/>
                </a:solidFill>
                <a:effectLst/>
                <a:uLnTx/>
                <a:uFillTx/>
                <a:latin typeface="Consolas" panose="020B0609020204030204" pitchFamily="49" charset="0"/>
                <a:ea typeface="+mn-ea"/>
                <a:cs typeface="+mn-cs"/>
              </a:rPr>
              <a:t>~3 mins</a:t>
            </a:r>
          </a:p>
        </p:txBody>
      </p:sp>
      <p:sp>
        <p:nvSpPr>
          <p:cNvPr id="43" name="TextBox 42">
            <a:extLst>
              <a:ext uri="{FF2B5EF4-FFF2-40B4-BE49-F238E27FC236}">
                <a16:creationId xmlns:a16="http://schemas.microsoft.com/office/drawing/2014/main" id="{99612EBE-E5CD-080D-B310-5E9BC2C8E2D0}"/>
              </a:ext>
            </a:extLst>
          </p:cNvPr>
          <p:cNvSpPr txBox="1"/>
          <p:nvPr/>
        </p:nvSpPr>
        <p:spPr>
          <a:xfrm>
            <a:off x="5584236" y="1446029"/>
            <a:ext cx="1994457" cy="369332"/>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A78BFA"/>
                </a:solidFill>
                <a:effectLst/>
                <a:uLnTx/>
                <a:uFillTx/>
                <a:latin typeface="Segoe UI Black" panose="020B0A02040204020203" pitchFamily="34" charset="0"/>
                <a:ea typeface="Segoe UI Black" panose="020B0A02040204020203" pitchFamily="34" charset="0"/>
              </a:rPr>
              <a:t>APP FEATURES</a:t>
            </a:r>
            <a:r>
              <a:rPr kumimoji="0" lang="en-US" sz="1800" b="1" i="0" u="none" strike="noStrike" kern="1200" cap="none" spc="0" normalizeH="0" baseline="30000" noProof="0" dirty="0">
                <a:ln>
                  <a:noFill/>
                </a:ln>
                <a:solidFill>
                  <a:srgbClr val="A78BFA"/>
                </a:solidFill>
                <a:effectLst/>
                <a:uLnTx/>
                <a:uFillTx/>
                <a:latin typeface="Segoe UI Black" panose="020B0A02040204020203" pitchFamily="34" charset="0"/>
                <a:ea typeface="Segoe UI Black" panose="020B0A02040204020203" pitchFamily="34" charset="0"/>
              </a:rPr>
              <a:t>1</a:t>
            </a:r>
          </a:p>
        </p:txBody>
      </p:sp>
      <p:sp>
        <p:nvSpPr>
          <p:cNvPr id="58" name="TextBox 57">
            <a:extLst>
              <a:ext uri="{FF2B5EF4-FFF2-40B4-BE49-F238E27FC236}">
                <a16:creationId xmlns:a16="http://schemas.microsoft.com/office/drawing/2014/main" id="{EC32AE86-EC94-64ED-EEAD-D377DF0EA989}"/>
              </a:ext>
            </a:extLst>
          </p:cNvPr>
          <p:cNvSpPr txBox="1"/>
          <p:nvPr/>
        </p:nvSpPr>
        <p:spPr>
          <a:xfrm>
            <a:off x="1098293" y="1446029"/>
            <a:ext cx="1888658" cy="369332"/>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CFF00"/>
                </a:solidFill>
                <a:effectLst/>
                <a:uLnTx/>
                <a:uFillTx/>
                <a:latin typeface="Segoe UI Black" panose="020B0A02040204020203" pitchFamily="34" charset="0"/>
                <a:ea typeface="Segoe UI Black" panose="020B0A02040204020203" pitchFamily="34" charset="0"/>
              </a:rPr>
              <a:t>ONBOARDING</a:t>
            </a:r>
          </a:p>
        </p:txBody>
      </p:sp>
      <p:sp>
        <p:nvSpPr>
          <p:cNvPr id="49" name="Rounded Rectangle 11">
            <a:extLst>
              <a:ext uri="{FF2B5EF4-FFF2-40B4-BE49-F238E27FC236}">
                <a16:creationId xmlns:a16="http://schemas.microsoft.com/office/drawing/2014/main" id="{EB35A0C3-D8D5-1420-E59C-5100F4B431A8}"/>
              </a:ext>
            </a:extLst>
          </p:cNvPr>
          <p:cNvSpPr/>
          <p:nvPr/>
        </p:nvSpPr>
        <p:spPr>
          <a:xfrm>
            <a:off x="816993" y="1903408"/>
            <a:ext cx="2451259" cy="4188426"/>
          </a:xfrm>
          <a:prstGeom prst="roundRect">
            <a:avLst/>
          </a:prstGeom>
          <a:noFill/>
          <a:ln w="19050">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0" name="Rounded Rectangle 12">
            <a:extLst>
              <a:ext uri="{FF2B5EF4-FFF2-40B4-BE49-F238E27FC236}">
                <a16:creationId xmlns:a16="http://schemas.microsoft.com/office/drawing/2014/main" id="{AF797247-76F4-5071-7A72-C82F5B6E33E2}"/>
              </a:ext>
            </a:extLst>
          </p:cNvPr>
          <p:cNvSpPr/>
          <p:nvPr/>
        </p:nvSpPr>
        <p:spPr>
          <a:xfrm>
            <a:off x="915043" y="2001459"/>
            <a:ext cx="2255158" cy="3987381"/>
          </a:xfrm>
          <a:prstGeom prst="roundRect">
            <a:avLst/>
          </a:prstGeom>
          <a:noFill/>
          <a:ln w="3175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6" name="TextBox 55">
            <a:extLst>
              <a:ext uri="{FF2B5EF4-FFF2-40B4-BE49-F238E27FC236}">
                <a16:creationId xmlns:a16="http://schemas.microsoft.com/office/drawing/2014/main" id="{BAF111BF-198E-3E9D-C428-580B084C3103}"/>
              </a:ext>
            </a:extLst>
          </p:cNvPr>
          <p:cNvSpPr txBox="1"/>
          <p:nvPr/>
        </p:nvSpPr>
        <p:spPr>
          <a:xfrm>
            <a:off x="1204894" y="5669844"/>
            <a:ext cx="1675459" cy="307777"/>
          </a:xfrm>
          <a:prstGeom prst="rect">
            <a:avLst/>
          </a:prstGeom>
          <a:noFill/>
        </p:spPr>
        <p:txBody>
          <a:bodyPr wrap="none">
            <a:spAutoFit/>
          </a:bodyPr>
          <a:lstStyle>
            <a:defPPr>
              <a:defRPr lang="en-US"/>
            </a:defPPr>
            <a:lvl1pPr algn="ctr">
              <a:defRPr sz="1400" b="1">
                <a:solidFill>
                  <a:srgbClr val="C0C0C0"/>
                </a:solidFill>
                <a:latin typeface="Consolas" panose="020B0609020204030204" pitchFamily="49" charset="0"/>
              </a:defRPr>
            </a:lvl1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C0C0"/>
                </a:solidFill>
                <a:effectLst/>
                <a:uLnTx/>
                <a:uFillTx/>
                <a:latin typeface="Consolas" panose="020B0609020204030204" pitchFamily="49" charset="0"/>
                <a:ea typeface="+mn-ea"/>
                <a:cs typeface="+mn-cs"/>
              </a:rPr>
              <a:t>Length: </a:t>
            </a:r>
            <a:r>
              <a:rPr lang="en-US" noProof="0" dirty="0">
                <a:solidFill>
                  <a:srgbClr val="CCFF00"/>
                </a:solidFill>
              </a:rPr>
              <a:t>~2</a:t>
            </a:r>
            <a:r>
              <a:rPr kumimoji="0" lang="en-US" sz="1400" b="1" i="0" u="none" strike="noStrike" kern="1200" cap="none" spc="0" normalizeH="0" baseline="0" noProof="0" dirty="0">
                <a:ln>
                  <a:noFill/>
                </a:ln>
                <a:solidFill>
                  <a:srgbClr val="CCFF00"/>
                </a:solidFill>
                <a:effectLst/>
                <a:uLnTx/>
                <a:uFillTx/>
                <a:latin typeface="Consolas" panose="020B0609020204030204" pitchFamily="49" charset="0"/>
                <a:ea typeface="+mn-ea"/>
                <a:cs typeface="+mn-cs"/>
              </a:rPr>
              <a:t> min</a:t>
            </a:r>
            <a:r>
              <a:rPr lang="en-US" noProof="0" dirty="0">
                <a:solidFill>
                  <a:srgbClr val="CCFF00"/>
                </a:solidFill>
              </a:rPr>
              <a:t>s</a:t>
            </a:r>
            <a:endParaRPr kumimoji="0" lang="en-US" sz="1400" b="1" i="0" u="none" strike="noStrike" kern="1200" cap="none" spc="0" normalizeH="0" baseline="0" noProof="0" dirty="0">
              <a:ln>
                <a:noFill/>
              </a:ln>
              <a:solidFill>
                <a:srgbClr val="CCFF00"/>
              </a:solidFill>
              <a:effectLst/>
              <a:uLnTx/>
              <a:uFillTx/>
              <a:latin typeface="Consolas" panose="020B0609020204030204" pitchFamily="49" charset="0"/>
              <a:ea typeface="+mn-ea"/>
              <a:cs typeface="+mn-cs"/>
            </a:endParaRPr>
          </a:p>
        </p:txBody>
      </p:sp>
      <p:pic>
        <p:nvPicPr>
          <p:cNvPr id="2050" name="B7B7E094-FD05-45C5-AC4E-4BE5FC55BCAB" descr="IMG_3301.PNG">
            <a:extLst>
              <a:ext uri="{FF2B5EF4-FFF2-40B4-BE49-F238E27FC236}">
                <a16:creationId xmlns:a16="http://schemas.microsoft.com/office/drawing/2014/main" id="{1144B0E2-3A7E-BE6D-B9F3-8EC82D7EF554}"/>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8665" t="11866" r="9336" b="23323"/>
          <a:stretch>
            <a:fillRect/>
          </a:stretch>
        </p:blipFill>
        <p:spPr bwMode="auto">
          <a:xfrm>
            <a:off x="979551" y="2201139"/>
            <a:ext cx="2126143" cy="3548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Oval 45">
            <a:hlinkClick r:id="rId11"/>
            <a:extLst>
              <a:ext uri="{FF2B5EF4-FFF2-40B4-BE49-F238E27FC236}">
                <a16:creationId xmlns:a16="http://schemas.microsoft.com/office/drawing/2014/main" id="{CC6D5844-FF4C-3A9F-9B76-602D00EBABCD}"/>
              </a:ext>
            </a:extLst>
          </p:cNvPr>
          <p:cNvSpPr/>
          <p:nvPr/>
        </p:nvSpPr>
        <p:spPr>
          <a:xfrm>
            <a:off x="1636694" y="3591693"/>
            <a:ext cx="811856" cy="811856"/>
          </a:xfrm>
          <a:prstGeom prst="ellipse">
            <a:avLst/>
          </a:prstGeom>
          <a:solidFill>
            <a:schemeClr val="tx1">
              <a:lumMod val="85000"/>
              <a:lumOff val="15000"/>
              <a:alpha val="66000"/>
            </a:schemeClr>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7" name="Isosceles Triangle 46">
            <a:extLst>
              <a:ext uri="{FF2B5EF4-FFF2-40B4-BE49-F238E27FC236}">
                <a16:creationId xmlns:a16="http://schemas.microsoft.com/office/drawing/2014/main" id="{42D45430-0DEC-F178-9E1C-1270176CADA0}"/>
              </a:ext>
            </a:extLst>
          </p:cNvPr>
          <p:cNvSpPr/>
          <p:nvPr/>
        </p:nvSpPr>
        <p:spPr>
          <a:xfrm rot="5400000">
            <a:off x="1916628" y="3834204"/>
            <a:ext cx="326834" cy="326834"/>
          </a:xfrm>
          <a:prstGeom prst="triangle">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Speech Bubble: Rectangle with Corners Rounded 1">
            <a:extLst>
              <a:ext uri="{FF2B5EF4-FFF2-40B4-BE49-F238E27FC236}">
                <a16:creationId xmlns:a16="http://schemas.microsoft.com/office/drawing/2014/main" id="{570CAE77-8386-FF2E-DF39-65B03FA6BF77}"/>
              </a:ext>
            </a:extLst>
          </p:cNvPr>
          <p:cNvSpPr/>
          <p:nvPr/>
        </p:nvSpPr>
        <p:spPr>
          <a:xfrm>
            <a:off x="3651496" y="3641339"/>
            <a:ext cx="1321094" cy="707619"/>
          </a:xfrm>
          <a:prstGeom prst="wedgeRoundRectCallout">
            <a:avLst>
              <a:gd name="adj1" fmla="val 130326"/>
              <a:gd name="adj2" fmla="val 5800"/>
              <a:gd name="adj3" fmla="val 16667"/>
            </a:avLst>
          </a:prstGeom>
          <a:solidFill>
            <a:schemeClr val="bg1">
              <a:lumMod val="85000"/>
              <a:alpha val="79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latin typeface="Consolas" panose="020B0609020204030204" pitchFamily="49" charset="0"/>
              </a:rPr>
              <a:t>Click </a:t>
            </a:r>
            <a:r>
              <a:rPr lang="en-US" sz="1400" b="1" i="1" dirty="0">
                <a:solidFill>
                  <a:schemeClr val="tx1"/>
                </a:solidFill>
                <a:latin typeface="Consolas" panose="020B0609020204030204" pitchFamily="49" charset="0"/>
              </a:rPr>
              <a:t>Play</a:t>
            </a:r>
            <a:r>
              <a:rPr lang="en-US" sz="1400" b="1" dirty="0">
                <a:solidFill>
                  <a:schemeClr val="tx1"/>
                </a:solidFill>
                <a:latin typeface="Consolas" panose="020B0609020204030204" pitchFamily="49" charset="0"/>
              </a:rPr>
              <a:t> </a:t>
            </a:r>
            <a:r>
              <a:rPr lang="en-US" sz="1400" b="1" i="1" dirty="0">
                <a:solidFill>
                  <a:schemeClr val="tx1"/>
                </a:solidFill>
                <a:latin typeface="Consolas" panose="020B0609020204030204" pitchFamily="49" charset="0"/>
              </a:rPr>
              <a:t>Button</a:t>
            </a:r>
            <a:r>
              <a:rPr lang="en-US" sz="1400" b="1" dirty="0">
                <a:solidFill>
                  <a:schemeClr val="tx1"/>
                </a:solidFill>
                <a:latin typeface="Consolas" panose="020B0609020204030204" pitchFamily="49" charset="0"/>
              </a:rPr>
              <a:t> to Watch</a:t>
            </a:r>
          </a:p>
        </p:txBody>
      </p:sp>
      <p:sp>
        <p:nvSpPr>
          <p:cNvPr id="6" name="Speech Bubble: Rectangle with Corners Rounded 5">
            <a:extLst>
              <a:ext uri="{FF2B5EF4-FFF2-40B4-BE49-F238E27FC236}">
                <a16:creationId xmlns:a16="http://schemas.microsoft.com/office/drawing/2014/main" id="{9ABF0E45-70C9-54D6-6046-143B27ED5C6B}"/>
              </a:ext>
            </a:extLst>
          </p:cNvPr>
          <p:cNvSpPr/>
          <p:nvPr/>
        </p:nvSpPr>
        <p:spPr>
          <a:xfrm>
            <a:off x="3651496" y="3641339"/>
            <a:ext cx="1321094" cy="707619"/>
          </a:xfrm>
          <a:prstGeom prst="wedgeRoundRectCallout">
            <a:avLst>
              <a:gd name="adj1" fmla="val -139012"/>
              <a:gd name="adj2" fmla="val 181"/>
              <a:gd name="adj3" fmla="val 16667"/>
            </a:avLst>
          </a:prstGeom>
          <a:solidFill>
            <a:schemeClr val="bg1">
              <a:lumMod val="85000"/>
              <a:alpha val="79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chemeClr val="tx1"/>
                </a:solidFill>
                <a:latin typeface="Consolas" panose="020B0609020204030204" pitchFamily="49" charset="0"/>
              </a:rPr>
              <a:t>Click </a:t>
            </a:r>
            <a:r>
              <a:rPr lang="en-US" sz="1400" b="1" i="1" noProof="0" dirty="0">
                <a:solidFill>
                  <a:schemeClr val="tx1"/>
                </a:solidFill>
                <a:latin typeface="Consolas" panose="020B0609020204030204" pitchFamily="49" charset="0"/>
              </a:rPr>
              <a:t>Play</a:t>
            </a:r>
            <a:r>
              <a:rPr lang="en-US" sz="1400" b="1" noProof="0" dirty="0">
                <a:solidFill>
                  <a:schemeClr val="tx1"/>
                </a:solidFill>
                <a:latin typeface="Consolas" panose="020B0609020204030204" pitchFamily="49" charset="0"/>
              </a:rPr>
              <a:t> </a:t>
            </a:r>
            <a:r>
              <a:rPr lang="en-US" sz="1400" b="1" i="1" noProof="0" dirty="0">
                <a:solidFill>
                  <a:schemeClr val="tx1"/>
                </a:solidFill>
                <a:latin typeface="Consolas" panose="020B0609020204030204" pitchFamily="49" charset="0"/>
              </a:rPr>
              <a:t>Button</a:t>
            </a:r>
            <a:r>
              <a:rPr lang="en-US" sz="1400" b="1" noProof="0" dirty="0">
                <a:solidFill>
                  <a:schemeClr val="tx1"/>
                </a:solidFill>
                <a:latin typeface="Consolas" panose="020B0609020204030204" pitchFamily="49" charset="0"/>
              </a:rPr>
              <a:t> to Watch</a:t>
            </a:r>
          </a:p>
        </p:txBody>
      </p:sp>
    </p:spTree>
    <p:custDataLst>
      <p:tags r:id="rId1"/>
    </p:custDataLst>
    <p:extLst>
      <p:ext uri="{BB962C8B-B14F-4D97-AF65-F5344CB8AC3E}">
        <p14:creationId xmlns:p14="http://schemas.microsoft.com/office/powerpoint/2010/main" val="2035767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D2AD0D3A-403B-9A78-38D0-02EAAB812E90}"/>
              </a:ext>
            </a:extLst>
          </p:cNvPr>
          <p:cNvGraphicFramePr>
            <a:graphicFrameLocks noChangeAspect="1"/>
          </p:cNvGraphicFramePr>
          <p:nvPr>
            <p:custDataLst>
              <p:tags r:id="rId2"/>
            </p:custDataLst>
            <p:extLst>
              <p:ext uri="{D42A27DB-BD31-4B8C-83A1-F6EECF244321}">
                <p14:modId xmlns:p14="http://schemas.microsoft.com/office/powerpoint/2010/main" val="2272023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Rectangle 15"/>
          <p:cNvSpPr/>
          <p:nvPr/>
        </p:nvSpPr>
        <p:spPr>
          <a:xfrm>
            <a:off x="7800536" y="2071033"/>
            <a:ext cx="3783496" cy="2830438"/>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6" name="TextBox 5"/>
          <p:cNvSpPr txBox="1"/>
          <p:nvPr/>
        </p:nvSpPr>
        <p:spPr>
          <a:xfrm>
            <a:off x="548640" y="320040"/>
            <a:ext cx="1178528" cy="307777"/>
          </a:xfrm>
          <a:prstGeom prst="rect">
            <a:avLst/>
          </a:prstGeom>
          <a:noFill/>
        </p:spPr>
        <p:txBody>
          <a:bodyPr wrap="none">
            <a:spAutoFit/>
          </a:bodyPr>
          <a:lstStyle/>
          <a:p>
            <a:pPr algn="l"/>
            <a:r>
              <a:rPr lang="en-US" sz="1400" b="1" noProof="0" dirty="0">
                <a:solidFill>
                  <a:srgbClr val="A78BFA"/>
                </a:solidFill>
                <a:latin typeface="Consolas"/>
              </a:rPr>
              <a:t>// Roadmap</a:t>
            </a:r>
          </a:p>
        </p:txBody>
      </p:sp>
      <p:sp>
        <p:nvSpPr>
          <p:cNvPr id="7" name="TextBox 6"/>
          <p:cNvSpPr txBox="1"/>
          <p:nvPr/>
        </p:nvSpPr>
        <p:spPr>
          <a:xfrm>
            <a:off x="548641" y="640074"/>
            <a:ext cx="8847608" cy="1077218"/>
          </a:xfrm>
          <a:prstGeom prst="rect">
            <a:avLst/>
          </a:prstGeom>
          <a:noFill/>
        </p:spPr>
        <p:txBody>
          <a:bodyPr wrap="square">
            <a:spAutoFit/>
          </a:bodyPr>
          <a:lstStyle/>
          <a:p>
            <a:pPr algn="l"/>
            <a:r>
              <a:rPr lang="en-US" sz="3200" b="1" noProof="0" dirty="0">
                <a:solidFill>
                  <a:srgbClr val="FFFFFF"/>
                </a:solidFill>
                <a:latin typeface="Segoe UI Black" panose="020B0A02040204020203" pitchFamily="34" charset="0"/>
                <a:ea typeface="Segoe UI Black" panose="020B0A02040204020203" pitchFamily="34" charset="0"/>
              </a:rPr>
              <a:t>90-DAY SPRINT TO GO FROM VALIDATION TO APP STORE LAUNCH</a:t>
            </a:r>
          </a:p>
        </p:txBody>
      </p:sp>
      <p:sp>
        <p:nvSpPr>
          <p:cNvPr id="8" name="Rectangle 7"/>
          <p:cNvSpPr/>
          <p:nvPr/>
        </p:nvSpPr>
        <p:spPr>
          <a:xfrm>
            <a:off x="548640" y="2071033"/>
            <a:ext cx="3544132" cy="2830438"/>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TextBox 8"/>
          <p:cNvSpPr txBox="1"/>
          <p:nvPr/>
        </p:nvSpPr>
        <p:spPr>
          <a:xfrm>
            <a:off x="731520" y="2162473"/>
            <a:ext cx="684803" cy="646331"/>
          </a:xfrm>
          <a:prstGeom prst="rect">
            <a:avLst/>
          </a:prstGeom>
          <a:noFill/>
        </p:spPr>
        <p:txBody>
          <a:bodyPr wrap="none">
            <a:spAutoFit/>
          </a:bodyPr>
          <a:lstStyle/>
          <a:p>
            <a:pPr algn="l"/>
            <a:r>
              <a:rPr lang="en-US" sz="3600" b="1" noProof="0" dirty="0">
                <a:solidFill>
                  <a:srgbClr val="CCFF00"/>
                </a:solidFill>
                <a:latin typeface="Segoe UI Black" panose="020B0A02040204020203" pitchFamily="34" charset="0"/>
                <a:ea typeface="Segoe UI Black" panose="020B0A02040204020203" pitchFamily="34" charset="0"/>
              </a:rPr>
              <a:t>01</a:t>
            </a:r>
          </a:p>
        </p:txBody>
      </p:sp>
      <p:sp>
        <p:nvSpPr>
          <p:cNvPr id="10" name="TextBox 9"/>
          <p:cNvSpPr txBox="1"/>
          <p:nvPr/>
        </p:nvSpPr>
        <p:spPr>
          <a:xfrm>
            <a:off x="731520" y="2711113"/>
            <a:ext cx="2226892" cy="338554"/>
          </a:xfrm>
          <a:prstGeom prst="rect">
            <a:avLst/>
          </a:prstGeom>
          <a:noFill/>
        </p:spPr>
        <p:txBody>
          <a:bodyPr wrap="none">
            <a:sp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FURTHER VALIDATE</a:t>
            </a:r>
          </a:p>
        </p:txBody>
      </p:sp>
      <p:sp>
        <p:nvSpPr>
          <p:cNvPr id="11" name="TextBox 10"/>
          <p:cNvSpPr txBox="1"/>
          <p:nvPr/>
        </p:nvSpPr>
        <p:spPr>
          <a:xfrm>
            <a:off x="731520" y="3076873"/>
            <a:ext cx="3332378" cy="1477328"/>
          </a:xfrm>
          <a:prstGeom prst="rect">
            <a:avLst/>
          </a:prstGeom>
          <a:noFill/>
        </p:spPr>
        <p:txBody>
          <a:bodyPr wrap="square">
            <a:spAutoFit/>
          </a:bodyPr>
          <a:lstStyle/>
          <a:p>
            <a:pPr marL="171450" indent="-171450" algn="l">
              <a:spcBef>
                <a:spcPts val="600"/>
              </a:spcBef>
              <a:spcAft>
                <a:spcPts val="600"/>
              </a:spcAft>
              <a:buClr>
                <a:srgbClr val="CCFF00"/>
              </a:buClr>
              <a:buFont typeface="Wingdings" panose="05000000000000000000" pitchFamily="2" charset="2"/>
              <a:buChar char="§"/>
              <a:defRPr sz="1200">
                <a:solidFill>
                  <a:srgbClr val="C0C0C0"/>
                </a:solidFill>
                <a:latin typeface="Arial"/>
              </a:defRPr>
            </a:pPr>
            <a:r>
              <a:rPr lang="en-US" sz="1400" noProof="0" dirty="0">
                <a:solidFill>
                  <a:schemeClr val="bg1"/>
                </a:solidFill>
                <a:latin typeface="Consolas" panose="020B0609020204030204" pitchFamily="49" charset="0"/>
              </a:rPr>
              <a:t>Run 40-60 user interviews</a:t>
            </a:r>
          </a:p>
          <a:p>
            <a:pPr marL="171450" indent="-171450" algn="l">
              <a:spcBef>
                <a:spcPts val="600"/>
              </a:spcBef>
              <a:spcAft>
                <a:spcPts val="600"/>
              </a:spcAft>
              <a:buClr>
                <a:srgbClr val="CCFF00"/>
              </a:buClr>
              <a:buFont typeface="Wingdings" panose="05000000000000000000" pitchFamily="2" charset="2"/>
              <a:buChar char="§"/>
              <a:defRPr sz="1200">
                <a:solidFill>
                  <a:srgbClr val="C0C0C0"/>
                </a:solidFill>
                <a:latin typeface="Arial"/>
              </a:defRPr>
            </a:pPr>
            <a:r>
              <a:rPr lang="en-US" sz="1400" noProof="0" dirty="0">
                <a:solidFill>
                  <a:schemeClr val="bg1"/>
                </a:solidFill>
                <a:latin typeface="Consolas" panose="020B0609020204030204" pitchFamily="49" charset="0"/>
              </a:rPr>
              <a:t>Build beta cohort with retention tracking</a:t>
            </a:r>
          </a:p>
          <a:p>
            <a:pPr marL="171450" indent="-171450" algn="l">
              <a:spcBef>
                <a:spcPts val="600"/>
              </a:spcBef>
              <a:spcAft>
                <a:spcPts val="600"/>
              </a:spcAft>
              <a:buClr>
                <a:srgbClr val="CCFF00"/>
              </a:buClr>
              <a:buFont typeface="Wingdings" panose="05000000000000000000" pitchFamily="2" charset="2"/>
              <a:buChar char="§"/>
              <a:defRPr sz="1200">
                <a:solidFill>
                  <a:srgbClr val="C0C0C0"/>
                </a:solidFill>
                <a:latin typeface="Arial"/>
              </a:defRPr>
            </a:pPr>
            <a:r>
              <a:rPr lang="en-US" sz="1400" noProof="0" dirty="0">
                <a:solidFill>
                  <a:schemeClr val="bg1"/>
                </a:solidFill>
                <a:latin typeface="Consolas" panose="020B0609020204030204" pitchFamily="49" charset="0"/>
              </a:rPr>
              <a:t>Test pricing &amp; monetization paths </a:t>
            </a:r>
          </a:p>
        </p:txBody>
      </p:sp>
      <p:sp>
        <p:nvSpPr>
          <p:cNvPr id="12" name="Rectangle 11"/>
          <p:cNvSpPr/>
          <p:nvPr/>
        </p:nvSpPr>
        <p:spPr>
          <a:xfrm>
            <a:off x="4092774" y="2071033"/>
            <a:ext cx="3707764" cy="2830438"/>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TextBox 12"/>
          <p:cNvSpPr txBox="1"/>
          <p:nvPr/>
        </p:nvSpPr>
        <p:spPr>
          <a:xfrm>
            <a:off x="4429658" y="2162473"/>
            <a:ext cx="739305" cy="646331"/>
          </a:xfrm>
          <a:prstGeom prst="rect">
            <a:avLst/>
          </a:prstGeom>
          <a:noFill/>
        </p:spPr>
        <p:txBody>
          <a:bodyPr wrap="none">
            <a:spAutoFit/>
          </a:bodyPr>
          <a:lstStyle/>
          <a:p>
            <a:pPr algn="l"/>
            <a:r>
              <a:rPr lang="en-US" sz="3600" b="1" noProof="0" dirty="0">
                <a:solidFill>
                  <a:srgbClr val="CCFF00"/>
                </a:solidFill>
                <a:latin typeface="Segoe UI Black" panose="020B0A02040204020203" pitchFamily="34" charset="0"/>
                <a:ea typeface="Segoe UI Black" panose="020B0A02040204020203" pitchFamily="34" charset="0"/>
              </a:rPr>
              <a:t>02</a:t>
            </a:r>
          </a:p>
        </p:txBody>
      </p:sp>
      <p:sp>
        <p:nvSpPr>
          <p:cNvPr id="14" name="TextBox 13"/>
          <p:cNvSpPr txBox="1"/>
          <p:nvPr/>
        </p:nvSpPr>
        <p:spPr>
          <a:xfrm>
            <a:off x="4429658" y="2711113"/>
            <a:ext cx="941283" cy="338554"/>
          </a:xfrm>
          <a:prstGeom prst="rect">
            <a:avLst/>
          </a:prstGeom>
          <a:noFill/>
        </p:spPr>
        <p:txBody>
          <a:bodyPr wrap="none">
            <a:sp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POLISH</a:t>
            </a:r>
          </a:p>
        </p:txBody>
      </p:sp>
      <p:sp>
        <p:nvSpPr>
          <p:cNvPr id="15" name="TextBox 14"/>
          <p:cNvSpPr txBox="1"/>
          <p:nvPr/>
        </p:nvSpPr>
        <p:spPr>
          <a:xfrm>
            <a:off x="4429658" y="3076873"/>
            <a:ext cx="3332378" cy="1477328"/>
          </a:xfrm>
          <a:prstGeom prst="rect">
            <a:avLst/>
          </a:prstGeom>
          <a:noFill/>
        </p:spPr>
        <p:txBody>
          <a:bodyPr wrap="square">
            <a:spAutoFit/>
          </a:bodyPr>
          <a:lstStyle/>
          <a:p>
            <a:pPr marL="171450" indent="-171450" algn="l">
              <a:spcBef>
                <a:spcPts val="600"/>
              </a:spcBef>
              <a:spcAft>
                <a:spcPts val="600"/>
              </a:spcAft>
              <a:buClr>
                <a:srgbClr val="CCFF00"/>
              </a:buClr>
              <a:buFont typeface="Wingdings" panose="05000000000000000000" pitchFamily="2" charset="2"/>
              <a:buChar char="§"/>
              <a:defRPr sz="1200">
                <a:solidFill>
                  <a:srgbClr val="C0C0C0"/>
                </a:solidFill>
                <a:latin typeface="Arial"/>
              </a:defRPr>
            </a:pPr>
            <a:r>
              <a:rPr lang="en-US" sz="1400" noProof="0" dirty="0">
                <a:solidFill>
                  <a:schemeClr val="bg1"/>
                </a:solidFill>
                <a:latin typeface="Consolas" panose="020B0609020204030204" pitchFamily="49" charset="0"/>
              </a:rPr>
              <a:t>Refine features &amp; UI/UX </a:t>
            </a:r>
          </a:p>
          <a:p>
            <a:pPr marL="171450" indent="-171450" algn="l">
              <a:spcBef>
                <a:spcPts val="600"/>
              </a:spcBef>
              <a:spcAft>
                <a:spcPts val="600"/>
              </a:spcAft>
              <a:buClr>
                <a:srgbClr val="CCFF00"/>
              </a:buClr>
              <a:buFont typeface="Wingdings" panose="05000000000000000000" pitchFamily="2" charset="2"/>
              <a:buChar char="§"/>
              <a:defRPr sz="1200">
                <a:solidFill>
                  <a:srgbClr val="C0C0C0"/>
                </a:solidFill>
                <a:latin typeface="Arial"/>
              </a:defRPr>
            </a:pPr>
            <a:r>
              <a:rPr lang="en-US" sz="1400" noProof="0" dirty="0">
                <a:solidFill>
                  <a:schemeClr val="bg1"/>
                </a:solidFill>
                <a:latin typeface="Consolas" panose="020B0609020204030204" pitchFamily="49" charset="0"/>
              </a:rPr>
              <a:t>Enhance performance + onboarding experience</a:t>
            </a:r>
          </a:p>
          <a:p>
            <a:pPr marL="171450" indent="-171450" algn="l">
              <a:spcBef>
                <a:spcPts val="600"/>
              </a:spcBef>
              <a:spcAft>
                <a:spcPts val="600"/>
              </a:spcAft>
              <a:buClr>
                <a:srgbClr val="CCFF00"/>
              </a:buClr>
              <a:buFont typeface="Wingdings" panose="05000000000000000000" pitchFamily="2" charset="2"/>
              <a:buChar char="§"/>
              <a:defRPr sz="1200">
                <a:solidFill>
                  <a:srgbClr val="C0C0C0"/>
                </a:solidFill>
                <a:latin typeface="Arial"/>
              </a:defRPr>
            </a:pPr>
            <a:r>
              <a:rPr lang="en-US" sz="1400" noProof="0" dirty="0">
                <a:solidFill>
                  <a:schemeClr val="bg1"/>
                </a:solidFill>
                <a:latin typeface="Consolas" panose="020B0609020204030204" pitchFamily="49" charset="0"/>
              </a:rPr>
              <a:t>Prepare brand + marketing assets</a:t>
            </a:r>
          </a:p>
        </p:txBody>
      </p:sp>
      <p:sp>
        <p:nvSpPr>
          <p:cNvPr id="17" name="TextBox 16"/>
          <p:cNvSpPr txBox="1"/>
          <p:nvPr/>
        </p:nvSpPr>
        <p:spPr>
          <a:xfrm>
            <a:off x="8127796" y="2162473"/>
            <a:ext cx="739305" cy="646331"/>
          </a:xfrm>
          <a:prstGeom prst="rect">
            <a:avLst/>
          </a:prstGeom>
          <a:noFill/>
        </p:spPr>
        <p:txBody>
          <a:bodyPr wrap="none">
            <a:spAutoFit/>
          </a:bodyPr>
          <a:lstStyle/>
          <a:p>
            <a:pPr algn="l"/>
            <a:r>
              <a:rPr lang="en-US" sz="3600" b="1" noProof="0" dirty="0">
                <a:solidFill>
                  <a:srgbClr val="CCFF00"/>
                </a:solidFill>
                <a:latin typeface="Segoe UI Black" panose="020B0A02040204020203" pitchFamily="34" charset="0"/>
                <a:ea typeface="Segoe UI Black" panose="020B0A02040204020203" pitchFamily="34" charset="0"/>
              </a:rPr>
              <a:t>03</a:t>
            </a:r>
          </a:p>
        </p:txBody>
      </p:sp>
      <p:sp>
        <p:nvSpPr>
          <p:cNvPr id="18" name="TextBox 17"/>
          <p:cNvSpPr txBox="1"/>
          <p:nvPr/>
        </p:nvSpPr>
        <p:spPr>
          <a:xfrm>
            <a:off x="8127796" y="2711113"/>
            <a:ext cx="1063112" cy="338554"/>
          </a:xfrm>
          <a:prstGeom prst="rect">
            <a:avLst/>
          </a:prstGeom>
          <a:noFill/>
        </p:spPr>
        <p:txBody>
          <a:bodyPr wrap="none">
            <a:spAutoFit/>
          </a:bodyPr>
          <a:lstStyle/>
          <a:p>
            <a:pPr algn="l"/>
            <a:r>
              <a:rPr lang="en-US" sz="1600" b="1" noProof="0" dirty="0">
                <a:solidFill>
                  <a:srgbClr val="FFFFFF"/>
                </a:solidFill>
                <a:latin typeface="Segoe UI Black" panose="020B0A02040204020203" pitchFamily="34" charset="0"/>
                <a:ea typeface="Segoe UI Black" panose="020B0A02040204020203" pitchFamily="34" charset="0"/>
              </a:rPr>
              <a:t>LAUNCH</a:t>
            </a:r>
          </a:p>
        </p:txBody>
      </p:sp>
      <p:sp>
        <p:nvSpPr>
          <p:cNvPr id="19" name="TextBox 18"/>
          <p:cNvSpPr txBox="1"/>
          <p:nvPr/>
        </p:nvSpPr>
        <p:spPr>
          <a:xfrm>
            <a:off x="8127796" y="3076873"/>
            <a:ext cx="3332378" cy="1692771"/>
          </a:xfrm>
          <a:prstGeom prst="rect">
            <a:avLst/>
          </a:prstGeom>
          <a:noFill/>
        </p:spPr>
        <p:txBody>
          <a:bodyPr wrap="square">
            <a:spAutoFit/>
          </a:bodyPr>
          <a:lstStyle/>
          <a:p>
            <a:pPr marL="171450" indent="-171450" algn="l">
              <a:spcBef>
                <a:spcPts val="600"/>
              </a:spcBef>
              <a:spcAft>
                <a:spcPts val="600"/>
              </a:spcAft>
              <a:buClr>
                <a:srgbClr val="CCFF00"/>
              </a:buClr>
              <a:buFont typeface="Wingdings" panose="05000000000000000000" pitchFamily="2" charset="2"/>
              <a:buChar char="§"/>
              <a:defRPr sz="1200">
                <a:solidFill>
                  <a:srgbClr val="C0C0C0"/>
                </a:solidFill>
                <a:latin typeface="Arial"/>
              </a:defRPr>
            </a:pPr>
            <a:r>
              <a:rPr lang="en-US" sz="1400" noProof="0" dirty="0">
                <a:solidFill>
                  <a:schemeClr val="bg1"/>
                </a:solidFill>
                <a:latin typeface="Consolas" panose="020B0609020204030204" pitchFamily="49" charset="0"/>
              </a:rPr>
              <a:t>Prepare App Store packaging and legal entity </a:t>
            </a:r>
          </a:p>
          <a:p>
            <a:pPr marL="171450" indent="-171450" algn="l">
              <a:spcBef>
                <a:spcPts val="600"/>
              </a:spcBef>
              <a:spcAft>
                <a:spcPts val="600"/>
              </a:spcAft>
              <a:buClr>
                <a:srgbClr val="CCFF00"/>
              </a:buClr>
              <a:buFont typeface="Wingdings" panose="05000000000000000000" pitchFamily="2" charset="2"/>
              <a:buChar char="§"/>
              <a:defRPr sz="1200">
                <a:solidFill>
                  <a:srgbClr val="C0C0C0"/>
                </a:solidFill>
                <a:latin typeface="Arial"/>
              </a:defRPr>
            </a:pPr>
            <a:r>
              <a:rPr lang="en-US" sz="1400" noProof="0" dirty="0">
                <a:solidFill>
                  <a:schemeClr val="bg1"/>
                </a:solidFill>
                <a:latin typeface="Consolas" panose="020B0609020204030204" pitchFamily="49" charset="0"/>
              </a:rPr>
              <a:t>Public release + social media outreach</a:t>
            </a:r>
          </a:p>
          <a:p>
            <a:pPr marL="171450" indent="-171450" algn="l">
              <a:spcBef>
                <a:spcPts val="600"/>
              </a:spcBef>
              <a:spcAft>
                <a:spcPts val="600"/>
              </a:spcAft>
              <a:buClr>
                <a:srgbClr val="CCFF00"/>
              </a:buClr>
              <a:buFont typeface="Wingdings" panose="05000000000000000000" pitchFamily="2" charset="2"/>
              <a:buChar char="§"/>
              <a:defRPr sz="1200">
                <a:solidFill>
                  <a:srgbClr val="C0C0C0"/>
                </a:solidFill>
                <a:latin typeface="Arial"/>
              </a:defRPr>
            </a:pPr>
            <a:r>
              <a:rPr lang="en-US" sz="1400" noProof="0" dirty="0">
                <a:solidFill>
                  <a:schemeClr val="bg1"/>
                </a:solidFill>
                <a:latin typeface="Consolas" panose="020B0609020204030204" pitchFamily="49" charset="0"/>
              </a:rPr>
              <a:t>Analyze post-launch metrics and iterate</a:t>
            </a:r>
          </a:p>
        </p:txBody>
      </p:sp>
      <p:sp>
        <p:nvSpPr>
          <p:cNvPr id="20" name="Rectangle 19"/>
          <p:cNvSpPr/>
          <p:nvPr/>
        </p:nvSpPr>
        <p:spPr>
          <a:xfrm>
            <a:off x="548640" y="5179993"/>
            <a:ext cx="11035391" cy="640080"/>
          </a:xfrm>
          <a:prstGeom prst="rect">
            <a:avLst/>
          </a:prstGeom>
          <a:solidFill>
            <a:srgbClr val="00000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A78BFA"/>
              </a:solidFill>
            </a:endParaRPr>
          </a:p>
        </p:txBody>
      </p:sp>
      <p:grpSp>
        <p:nvGrpSpPr>
          <p:cNvPr id="28" name="Group 27">
            <a:extLst>
              <a:ext uri="{FF2B5EF4-FFF2-40B4-BE49-F238E27FC236}">
                <a16:creationId xmlns:a16="http://schemas.microsoft.com/office/drawing/2014/main" id="{7E770109-6D29-DC06-FDA2-83D90FF39BE0}"/>
              </a:ext>
            </a:extLst>
          </p:cNvPr>
          <p:cNvGrpSpPr/>
          <p:nvPr/>
        </p:nvGrpSpPr>
        <p:grpSpPr>
          <a:xfrm>
            <a:off x="3114566" y="5269200"/>
            <a:ext cx="5962562" cy="461665"/>
            <a:chOff x="3953580" y="5423205"/>
            <a:chExt cx="5962562" cy="461665"/>
          </a:xfrm>
        </p:grpSpPr>
        <p:sp>
          <p:nvSpPr>
            <p:cNvPr id="21" name="TextBox 20"/>
            <p:cNvSpPr txBox="1"/>
            <p:nvPr/>
          </p:nvSpPr>
          <p:spPr>
            <a:xfrm>
              <a:off x="3953580" y="5423205"/>
              <a:ext cx="1426994" cy="461665"/>
            </a:xfrm>
            <a:prstGeom prst="rect">
              <a:avLst/>
            </a:prstGeom>
            <a:noFill/>
          </p:spPr>
          <p:txBody>
            <a:bodyPr wrap="none">
              <a:spAutoFit/>
            </a:bodyPr>
            <a:lstStyle/>
            <a:p>
              <a:pPr algn="l"/>
              <a:r>
                <a:rPr lang="en-US" sz="2400" b="1" noProof="0" dirty="0">
                  <a:solidFill>
                    <a:srgbClr val="A78BFA"/>
                  </a:solidFill>
                  <a:latin typeface="Segoe UI Black" panose="020B0A02040204020203" pitchFamily="34" charset="0"/>
                  <a:ea typeface="Segoe UI Black" panose="020B0A02040204020203" pitchFamily="34" charset="0"/>
                </a:rPr>
                <a:t>Q2 2026</a:t>
              </a:r>
            </a:p>
          </p:txBody>
        </p:sp>
        <p:sp>
          <p:nvSpPr>
            <p:cNvPr id="22" name="TextBox 21"/>
            <p:cNvSpPr txBox="1"/>
            <p:nvPr/>
          </p:nvSpPr>
          <p:spPr>
            <a:xfrm>
              <a:off x="5311996" y="5423205"/>
              <a:ext cx="4604146" cy="461665"/>
            </a:xfrm>
            <a:prstGeom prst="rect">
              <a:avLst/>
            </a:prstGeom>
            <a:noFill/>
          </p:spPr>
          <p:txBody>
            <a:bodyPr wrap="none">
              <a:spAutoFit/>
            </a:bodyPr>
            <a:lstStyle>
              <a:defPPr>
                <a:defRPr lang="en-US"/>
              </a:defPPr>
              <a:lvl1pPr>
                <a:defRPr sz="1400" b="1">
                  <a:solidFill>
                    <a:srgbClr val="FFFFFF"/>
                  </a:solidFill>
                  <a:latin typeface="Arial"/>
                </a:defRPr>
              </a:lvl1pPr>
            </a:lstStyle>
            <a:p>
              <a:r>
                <a:rPr lang="en-US" sz="2400" noProof="0" dirty="0">
                  <a:latin typeface="Segoe UI Black" panose="020B0A02040204020203" pitchFamily="34" charset="0"/>
                  <a:ea typeface="Segoe UI Black" panose="020B0A02040204020203" pitchFamily="34" charset="0"/>
                </a:rPr>
                <a:t>APP STORE LAUNCH TARGET</a:t>
              </a:r>
            </a:p>
          </p:txBody>
        </p:sp>
      </p:grpSp>
      <p:cxnSp>
        <p:nvCxnSpPr>
          <p:cNvPr id="30" name="Straight Connector 29">
            <a:extLst>
              <a:ext uri="{FF2B5EF4-FFF2-40B4-BE49-F238E27FC236}">
                <a16:creationId xmlns:a16="http://schemas.microsoft.com/office/drawing/2014/main" id="{96AF4477-3682-FF52-07FF-D7E518DF07E9}"/>
              </a:ext>
            </a:extLst>
          </p:cNvPr>
          <p:cNvCxnSpPr>
            <a:cxnSpLocks/>
          </p:cNvCxnSpPr>
          <p:nvPr/>
        </p:nvCxnSpPr>
        <p:spPr>
          <a:xfrm>
            <a:off x="4092773" y="2084658"/>
            <a:ext cx="0" cy="27966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585333D-E4C3-A6B1-B67F-3EA0ABA68201}"/>
              </a:ext>
            </a:extLst>
          </p:cNvPr>
          <p:cNvCxnSpPr>
            <a:cxnSpLocks/>
          </p:cNvCxnSpPr>
          <p:nvPr/>
        </p:nvCxnSpPr>
        <p:spPr>
          <a:xfrm>
            <a:off x="7800537" y="2084658"/>
            <a:ext cx="0" cy="27966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36" name="Group 35">
            <a:extLst>
              <a:ext uri="{FF2B5EF4-FFF2-40B4-BE49-F238E27FC236}">
                <a16:creationId xmlns:a16="http://schemas.microsoft.com/office/drawing/2014/main" id="{3EE77F9B-8D6D-2C8F-083C-EDE0E50A3426}"/>
              </a:ext>
            </a:extLst>
          </p:cNvPr>
          <p:cNvGrpSpPr/>
          <p:nvPr/>
        </p:nvGrpSpPr>
        <p:grpSpPr>
          <a:xfrm>
            <a:off x="11321601" y="320040"/>
            <a:ext cx="640080" cy="640080"/>
            <a:chOff x="11094415" y="320040"/>
            <a:chExt cx="640080" cy="640080"/>
          </a:xfrm>
        </p:grpSpPr>
        <p:sp>
          <p:nvSpPr>
            <p:cNvPr id="37" name="Rounded Rectangle 1">
              <a:extLst>
                <a:ext uri="{FF2B5EF4-FFF2-40B4-BE49-F238E27FC236}">
                  <a16:creationId xmlns:a16="http://schemas.microsoft.com/office/drawing/2014/main" id="{193F31AA-5219-0423-ECA7-D408CD01E0F7}"/>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8" name="Rectangle 37">
              <a:extLst>
                <a:ext uri="{FF2B5EF4-FFF2-40B4-BE49-F238E27FC236}">
                  <a16:creationId xmlns:a16="http://schemas.microsoft.com/office/drawing/2014/main" id="{BC7469E9-0DE7-7119-C30B-D63D814E8A4B}"/>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9" name="Rectangle 38">
              <a:extLst>
                <a:ext uri="{FF2B5EF4-FFF2-40B4-BE49-F238E27FC236}">
                  <a16:creationId xmlns:a16="http://schemas.microsoft.com/office/drawing/2014/main" id="{756739D3-DBFD-498C-E035-688F74C299A4}"/>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0" name="Rectangle 39">
              <a:extLst>
                <a:ext uri="{FF2B5EF4-FFF2-40B4-BE49-F238E27FC236}">
                  <a16:creationId xmlns:a16="http://schemas.microsoft.com/office/drawing/2014/main" id="{0D6506FB-F536-6747-3807-A52AD0F18AB4}"/>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41" name="TextBox 40">
            <a:extLst>
              <a:ext uri="{FF2B5EF4-FFF2-40B4-BE49-F238E27FC236}">
                <a16:creationId xmlns:a16="http://schemas.microsoft.com/office/drawing/2014/main" id="{866FAB93-8F52-2031-54D1-F26E4D783677}"/>
              </a:ext>
            </a:extLst>
          </p:cNvPr>
          <p:cNvSpPr txBox="1"/>
          <p:nvPr/>
        </p:nvSpPr>
        <p:spPr>
          <a:xfrm>
            <a:off x="11584033" y="6356866"/>
            <a:ext cx="377649"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pPr algn="r"/>
            <a:r>
              <a:rPr lang="en-US" b="0" noProof="0" dirty="0"/>
              <a:t>11</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34" name="think-cell data - do not delete" hidden="1">
            <a:extLst>
              <a:ext uri="{FF2B5EF4-FFF2-40B4-BE49-F238E27FC236}">
                <a16:creationId xmlns:a16="http://schemas.microsoft.com/office/drawing/2014/main" id="{CCCE7D8B-E044-23A0-4022-97535B3A3BD9}"/>
              </a:ext>
            </a:extLst>
          </p:cNvPr>
          <p:cNvGraphicFramePr>
            <a:graphicFrameLocks noChangeAspect="1"/>
          </p:cNvGraphicFramePr>
          <p:nvPr>
            <p:custDataLst>
              <p:tags r:id="rId2"/>
            </p:custDataLst>
            <p:extLst>
              <p:ext uri="{D42A27DB-BD31-4B8C-83A1-F6EECF244321}">
                <p14:modId xmlns:p14="http://schemas.microsoft.com/office/powerpoint/2010/main" val="16713854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Box 5"/>
          <p:cNvSpPr txBox="1"/>
          <p:nvPr/>
        </p:nvSpPr>
        <p:spPr>
          <a:xfrm>
            <a:off x="548640" y="320040"/>
            <a:ext cx="1973617" cy="307777"/>
          </a:xfrm>
          <a:prstGeom prst="rect">
            <a:avLst/>
          </a:prstGeom>
          <a:noFill/>
        </p:spPr>
        <p:txBody>
          <a:bodyPr wrap="none">
            <a:spAutoFit/>
          </a:bodyPr>
          <a:lstStyle/>
          <a:p>
            <a:pPr algn="l"/>
            <a:r>
              <a:rPr lang="en-US" sz="1400" b="1" noProof="0" dirty="0">
                <a:solidFill>
                  <a:srgbClr val="A78BFA"/>
                </a:solidFill>
                <a:latin typeface="Consolas"/>
              </a:rPr>
              <a:t>// Funding Request</a:t>
            </a:r>
          </a:p>
        </p:txBody>
      </p:sp>
      <p:sp>
        <p:nvSpPr>
          <p:cNvPr id="7" name="TextBox 6"/>
          <p:cNvSpPr txBox="1"/>
          <p:nvPr/>
        </p:nvSpPr>
        <p:spPr>
          <a:xfrm>
            <a:off x="548641" y="640074"/>
            <a:ext cx="10390706" cy="1077218"/>
          </a:xfrm>
          <a:prstGeom prst="rect">
            <a:avLst/>
          </a:prstGeom>
          <a:noFill/>
        </p:spPr>
        <p:txBody>
          <a:bodyPr wrap="square">
            <a:spAutoFit/>
          </a:bodyPr>
          <a:lstStyle/>
          <a:p>
            <a:pPr algn="l"/>
            <a:r>
              <a:rPr lang="en-US" sz="3200" b="1" noProof="0" dirty="0">
                <a:solidFill>
                  <a:srgbClr val="FFFFFF"/>
                </a:solidFill>
                <a:latin typeface="Segoe UI Black" panose="020B0A02040204020203" pitchFamily="34" charset="0"/>
                <a:ea typeface="Segoe UI Black" panose="020B0A02040204020203" pitchFamily="34" charset="0"/>
              </a:rPr>
              <a:t>$4,800 REQUESTED TO SUPPORT ROADMAP EXECUTION</a:t>
            </a:r>
          </a:p>
        </p:txBody>
      </p:sp>
      <p:grpSp>
        <p:nvGrpSpPr>
          <p:cNvPr id="37" name="Group 36">
            <a:extLst>
              <a:ext uri="{FF2B5EF4-FFF2-40B4-BE49-F238E27FC236}">
                <a16:creationId xmlns:a16="http://schemas.microsoft.com/office/drawing/2014/main" id="{F26AACAD-6B88-F2EF-64F0-59E05C4AC27D}"/>
              </a:ext>
            </a:extLst>
          </p:cNvPr>
          <p:cNvGrpSpPr/>
          <p:nvPr/>
        </p:nvGrpSpPr>
        <p:grpSpPr>
          <a:xfrm>
            <a:off x="11321602" y="320040"/>
            <a:ext cx="640080" cy="640080"/>
            <a:chOff x="11094415" y="320040"/>
            <a:chExt cx="640080" cy="640080"/>
          </a:xfrm>
        </p:grpSpPr>
        <p:sp>
          <p:nvSpPr>
            <p:cNvPr id="38" name="Rounded Rectangle 1">
              <a:extLst>
                <a:ext uri="{FF2B5EF4-FFF2-40B4-BE49-F238E27FC236}">
                  <a16:creationId xmlns:a16="http://schemas.microsoft.com/office/drawing/2014/main" id="{F38E006C-7703-03EC-B5F9-4A85FAA64CCF}"/>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9" name="Rectangle 38">
              <a:extLst>
                <a:ext uri="{FF2B5EF4-FFF2-40B4-BE49-F238E27FC236}">
                  <a16:creationId xmlns:a16="http://schemas.microsoft.com/office/drawing/2014/main" id="{645B706F-39C1-3417-EF27-833B2B7126D4}"/>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0" name="Rectangle 39">
              <a:extLst>
                <a:ext uri="{FF2B5EF4-FFF2-40B4-BE49-F238E27FC236}">
                  <a16:creationId xmlns:a16="http://schemas.microsoft.com/office/drawing/2014/main" id="{D1F3EF3C-ADDE-D9AB-8AC0-86E98874B12F}"/>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1" name="Rectangle 40">
              <a:extLst>
                <a:ext uri="{FF2B5EF4-FFF2-40B4-BE49-F238E27FC236}">
                  <a16:creationId xmlns:a16="http://schemas.microsoft.com/office/drawing/2014/main" id="{61295AA8-92A5-63C1-2292-A9CEC61FAF83}"/>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grpSp>
        <p:nvGrpSpPr>
          <p:cNvPr id="4" name="Group 3">
            <a:extLst>
              <a:ext uri="{FF2B5EF4-FFF2-40B4-BE49-F238E27FC236}">
                <a16:creationId xmlns:a16="http://schemas.microsoft.com/office/drawing/2014/main" id="{794F95A4-61D0-99E3-A099-E8F01AE4BFA7}"/>
              </a:ext>
            </a:extLst>
          </p:cNvPr>
          <p:cNvGrpSpPr/>
          <p:nvPr/>
        </p:nvGrpSpPr>
        <p:grpSpPr>
          <a:xfrm>
            <a:off x="3483641" y="1921630"/>
            <a:ext cx="7096956" cy="182880"/>
            <a:chOff x="2991077" y="1921630"/>
            <a:chExt cx="7589520" cy="182880"/>
          </a:xfrm>
        </p:grpSpPr>
        <p:sp>
          <p:nvSpPr>
            <p:cNvPr id="77" name="Rectangle 76">
              <a:extLst>
                <a:ext uri="{FF2B5EF4-FFF2-40B4-BE49-F238E27FC236}">
                  <a16:creationId xmlns:a16="http://schemas.microsoft.com/office/drawing/2014/main" id="{89A3BB70-CB7B-947A-3DF5-3BBDC5452766}"/>
                </a:ext>
              </a:extLst>
            </p:cNvPr>
            <p:cNvSpPr/>
            <p:nvPr/>
          </p:nvSpPr>
          <p:spPr>
            <a:xfrm>
              <a:off x="2991077" y="1921630"/>
              <a:ext cx="7589520" cy="182880"/>
            </a:xfrm>
            <a:prstGeom prst="rect">
              <a:avLst/>
            </a:prstGeom>
            <a:solidFill>
              <a:srgbClr val="0A0A0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78" name="Rectangle 77">
              <a:extLst>
                <a:ext uri="{FF2B5EF4-FFF2-40B4-BE49-F238E27FC236}">
                  <a16:creationId xmlns:a16="http://schemas.microsoft.com/office/drawing/2014/main" id="{AEA5E8C2-9B60-E102-A3ED-67152871A48C}"/>
                </a:ext>
              </a:extLst>
            </p:cNvPr>
            <p:cNvSpPr/>
            <p:nvPr/>
          </p:nvSpPr>
          <p:spPr>
            <a:xfrm>
              <a:off x="2991077" y="1921630"/>
              <a:ext cx="6858000" cy="18288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grpSp>
      <p:sp>
        <p:nvSpPr>
          <p:cNvPr id="76" name="TextBox 75">
            <a:extLst>
              <a:ext uri="{FF2B5EF4-FFF2-40B4-BE49-F238E27FC236}">
                <a16:creationId xmlns:a16="http://schemas.microsoft.com/office/drawing/2014/main" id="{20467855-2D05-E570-86F6-75F0AF0B1332}"/>
              </a:ext>
            </a:extLst>
          </p:cNvPr>
          <p:cNvSpPr txBox="1"/>
          <p:nvPr/>
        </p:nvSpPr>
        <p:spPr>
          <a:xfrm>
            <a:off x="548642" y="1875910"/>
            <a:ext cx="1837362" cy="338554"/>
          </a:xfrm>
          <a:prstGeom prst="rect">
            <a:avLst/>
          </a:prstGeom>
          <a:noFill/>
        </p:spPr>
        <p:txBody>
          <a:bodyPr wrap="none">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USER RESEARCH</a:t>
            </a:r>
          </a:p>
        </p:txBody>
      </p:sp>
      <p:sp>
        <p:nvSpPr>
          <p:cNvPr id="79" name="TextBox 78">
            <a:extLst>
              <a:ext uri="{FF2B5EF4-FFF2-40B4-BE49-F238E27FC236}">
                <a16:creationId xmlns:a16="http://schemas.microsoft.com/office/drawing/2014/main" id="{97E065D9-2E50-9E33-DAE7-9C322AE64685}"/>
              </a:ext>
            </a:extLst>
          </p:cNvPr>
          <p:cNvSpPr txBox="1"/>
          <p:nvPr/>
        </p:nvSpPr>
        <p:spPr>
          <a:xfrm>
            <a:off x="10825201" y="1828404"/>
            <a:ext cx="817853" cy="369332"/>
          </a:xfrm>
          <a:prstGeom prst="rect">
            <a:avLst/>
          </a:prstGeom>
          <a:noFill/>
        </p:spPr>
        <p:txBody>
          <a:bodyPr wrap="none">
            <a:spAutoFit/>
          </a:bodyPr>
          <a:lstStyle/>
          <a:p>
            <a:pPr algn="r"/>
            <a:r>
              <a:rPr lang="en-US" b="1" noProof="0" dirty="0">
                <a:solidFill>
                  <a:srgbClr val="A78BFA"/>
                </a:solidFill>
                <a:latin typeface="Consolas" panose="020B0609020204030204" pitchFamily="49" charset="0"/>
              </a:rPr>
              <a:t>$1100</a:t>
            </a:r>
          </a:p>
        </p:txBody>
      </p:sp>
      <p:sp>
        <p:nvSpPr>
          <p:cNvPr id="100" name="TextBox 99">
            <a:extLst>
              <a:ext uri="{FF2B5EF4-FFF2-40B4-BE49-F238E27FC236}">
                <a16:creationId xmlns:a16="http://schemas.microsoft.com/office/drawing/2014/main" id="{33A0BEDA-E2FD-80A3-0DD2-67AB8ECE9B1D}"/>
              </a:ext>
            </a:extLst>
          </p:cNvPr>
          <p:cNvSpPr txBox="1">
            <a:spLocks/>
          </p:cNvSpPr>
          <p:nvPr/>
        </p:nvSpPr>
        <p:spPr>
          <a:xfrm>
            <a:off x="548641" y="2086222"/>
            <a:ext cx="10124275" cy="523220"/>
          </a:xfrm>
          <a:prstGeom prst="rect">
            <a:avLst/>
          </a:prstGeom>
          <a:noFill/>
        </p:spPr>
        <p:txBody>
          <a:bodyPr wrap="square">
            <a:spAutoFit/>
          </a:bodyPr>
          <a:lstStyle/>
          <a:p>
            <a:pPr algn="l"/>
            <a:r>
              <a:rPr lang="en-US" sz="1400" b="0" noProof="0" dirty="0">
                <a:solidFill>
                  <a:schemeClr val="bg1"/>
                </a:solidFill>
                <a:latin typeface="Consolas" panose="020B0609020204030204" pitchFamily="49" charset="0"/>
              </a:rPr>
              <a:t>Run 40-60 customer discovery interviews with beta testers, including focus group sessions and small participation incentives</a:t>
            </a:r>
          </a:p>
        </p:txBody>
      </p:sp>
      <p:grpSp>
        <p:nvGrpSpPr>
          <p:cNvPr id="8" name="Group 7">
            <a:extLst>
              <a:ext uri="{FF2B5EF4-FFF2-40B4-BE49-F238E27FC236}">
                <a16:creationId xmlns:a16="http://schemas.microsoft.com/office/drawing/2014/main" id="{89426E3A-3027-B6F2-17EE-0ADE971B26C7}"/>
              </a:ext>
            </a:extLst>
          </p:cNvPr>
          <p:cNvGrpSpPr/>
          <p:nvPr/>
        </p:nvGrpSpPr>
        <p:grpSpPr>
          <a:xfrm>
            <a:off x="3483641" y="2721539"/>
            <a:ext cx="7096956" cy="182880"/>
            <a:chOff x="2991077" y="2809077"/>
            <a:chExt cx="7589520" cy="182880"/>
          </a:xfrm>
        </p:grpSpPr>
        <p:sp>
          <p:nvSpPr>
            <p:cNvPr id="81" name="Rectangle 80">
              <a:extLst>
                <a:ext uri="{FF2B5EF4-FFF2-40B4-BE49-F238E27FC236}">
                  <a16:creationId xmlns:a16="http://schemas.microsoft.com/office/drawing/2014/main" id="{187DB933-7B9D-F8A7-94A3-225B8C9292AF}"/>
                </a:ext>
              </a:extLst>
            </p:cNvPr>
            <p:cNvSpPr/>
            <p:nvPr/>
          </p:nvSpPr>
          <p:spPr>
            <a:xfrm>
              <a:off x="2991077" y="2809077"/>
              <a:ext cx="7589520" cy="182880"/>
            </a:xfrm>
            <a:prstGeom prst="rect">
              <a:avLst/>
            </a:prstGeom>
            <a:solidFill>
              <a:srgbClr val="0A0A0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82" name="Rectangle 81">
              <a:extLst>
                <a:ext uri="{FF2B5EF4-FFF2-40B4-BE49-F238E27FC236}">
                  <a16:creationId xmlns:a16="http://schemas.microsoft.com/office/drawing/2014/main" id="{22219413-7A2A-BF83-D5DC-9832B590E835}"/>
                </a:ext>
              </a:extLst>
            </p:cNvPr>
            <p:cNvSpPr/>
            <p:nvPr/>
          </p:nvSpPr>
          <p:spPr>
            <a:xfrm>
              <a:off x="2991077" y="2809077"/>
              <a:ext cx="5943600" cy="18288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dirty="0">
                <a:latin typeface="Consolas" panose="020B0609020204030204" pitchFamily="49" charset="0"/>
              </a:endParaRPr>
            </a:p>
          </p:txBody>
        </p:sp>
      </p:grpSp>
      <p:sp>
        <p:nvSpPr>
          <p:cNvPr id="80" name="TextBox 79">
            <a:extLst>
              <a:ext uri="{FF2B5EF4-FFF2-40B4-BE49-F238E27FC236}">
                <a16:creationId xmlns:a16="http://schemas.microsoft.com/office/drawing/2014/main" id="{586468DF-5CF8-1563-91F0-154B6D85B0D5}"/>
              </a:ext>
            </a:extLst>
          </p:cNvPr>
          <p:cNvSpPr txBox="1"/>
          <p:nvPr/>
        </p:nvSpPr>
        <p:spPr>
          <a:xfrm>
            <a:off x="548642" y="2675819"/>
            <a:ext cx="1734770" cy="338554"/>
          </a:xfrm>
          <a:prstGeom prst="rect">
            <a:avLst/>
          </a:prstGeom>
          <a:noFill/>
        </p:spPr>
        <p:txBody>
          <a:bodyPr wrap="none">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CONTRACTORS</a:t>
            </a:r>
          </a:p>
        </p:txBody>
      </p:sp>
      <p:sp>
        <p:nvSpPr>
          <p:cNvPr id="83" name="TextBox 82">
            <a:extLst>
              <a:ext uri="{FF2B5EF4-FFF2-40B4-BE49-F238E27FC236}">
                <a16:creationId xmlns:a16="http://schemas.microsoft.com/office/drawing/2014/main" id="{260825CE-30AC-9963-C3FC-93BBAE42DC11}"/>
              </a:ext>
            </a:extLst>
          </p:cNvPr>
          <p:cNvSpPr txBox="1"/>
          <p:nvPr/>
        </p:nvSpPr>
        <p:spPr>
          <a:xfrm>
            <a:off x="10951839" y="2628313"/>
            <a:ext cx="691215" cy="369332"/>
          </a:xfrm>
          <a:prstGeom prst="rect">
            <a:avLst/>
          </a:prstGeom>
          <a:noFill/>
        </p:spPr>
        <p:txBody>
          <a:bodyPr wrap="none">
            <a:spAutoFit/>
          </a:bodyPr>
          <a:lstStyle/>
          <a:p>
            <a:pPr algn="r"/>
            <a:r>
              <a:rPr lang="en-US" b="1" noProof="0" dirty="0">
                <a:solidFill>
                  <a:srgbClr val="A78BFA"/>
                </a:solidFill>
                <a:latin typeface="Consolas" panose="020B0609020204030204" pitchFamily="49" charset="0"/>
              </a:rPr>
              <a:t>$900</a:t>
            </a:r>
          </a:p>
        </p:txBody>
      </p:sp>
      <p:sp>
        <p:nvSpPr>
          <p:cNvPr id="101" name="TextBox 100">
            <a:extLst>
              <a:ext uri="{FF2B5EF4-FFF2-40B4-BE49-F238E27FC236}">
                <a16:creationId xmlns:a16="http://schemas.microsoft.com/office/drawing/2014/main" id="{76434BB0-1829-A79A-9F90-114E1FEC78BB}"/>
              </a:ext>
            </a:extLst>
          </p:cNvPr>
          <p:cNvSpPr txBox="1">
            <a:spLocks/>
          </p:cNvSpPr>
          <p:nvPr/>
        </p:nvSpPr>
        <p:spPr>
          <a:xfrm>
            <a:off x="548643" y="2886131"/>
            <a:ext cx="10124275" cy="523220"/>
          </a:xfrm>
          <a:prstGeom prst="rect">
            <a:avLst/>
          </a:prstGeom>
          <a:noFill/>
        </p:spPr>
        <p:txBody>
          <a:bodyPr wrap="square">
            <a:spAutoFit/>
          </a:bodyPr>
          <a:lstStyle/>
          <a:p>
            <a:pPr algn="l"/>
            <a:r>
              <a:rPr lang="en-US" sz="1400" b="0" noProof="0" dirty="0">
                <a:solidFill>
                  <a:schemeClr val="bg1"/>
                </a:solidFill>
                <a:latin typeface="Consolas" panose="020B0609020204030204" pitchFamily="49" charset="0"/>
              </a:rPr>
              <a:t>Hire UI/UX designer or MIT intern to polish user experience and app performance, help develop premium features and create professional marketing assets for App Store launch</a:t>
            </a:r>
          </a:p>
        </p:txBody>
      </p:sp>
      <p:grpSp>
        <p:nvGrpSpPr>
          <p:cNvPr id="10" name="Group 9">
            <a:extLst>
              <a:ext uri="{FF2B5EF4-FFF2-40B4-BE49-F238E27FC236}">
                <a16:creationId xmlns:a16="http://schemas.microsoft.com/office/drawing/2014/main" id="{6484040E-172B-F5DD-3752-C96C8BCAFA7D}"/>
              </a:ext>
            </a:extLst>
          </p:cNvPr>
          <p:cNvGrpSpPr/>
          <p:nvPr/>
        </p:nvGrpSpPr>
        <p:grpSpPr>
          <a:xfrm>
            <a:off x="3483641" y="4321357"/>
            <a:ext cx="7096956" cy="182880"/>
            <a:chOff x="2991077" y="3530272"/>
            <a:chExt cx="7589520" cy="182880"/>
          </a:xfrm>
        </p:grpSpPr>
        <p:sp>
          <p:nvSpPr>
            <p:cNvPr id="85" name="Rectangle 84">
              <a:extLst>
                <a:ext uri="{FF2B5EF4-FFF2-40B4-BE49-F238E27FC236}">
                  <a16:creationId xmlns:a16="http://schemas.microsoft.com/office/drawing/2014/main" id="{EDD7C71D-852F-4350-D4C2-8391F2B97D53}"/>
                </a:ext>
              </a:extLst>
            </p:cNvPr>
            <p:cNvSpPr/>
            <p:nvPr/>
          </p:nvSpPr>
          <p:spPr>
            <a:xfrm>
              <a:off x="2991077" y="3530272"/>
              <a:ext cx="7589520" cy="182880"/>
            </a:xfrm>
            <a:prstGeom prst="rect">
              <a:avLst/>
            </a:prstGeom>
            <a:solidFill>
              <a:srgbClr val="0A0A0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86" name="Rectangle 85">
              <a:extLst>
                <a:ext uri="{FF2B5EF4-FFF2-40B4-BE49-F238E27FC236}">
                  <a16:creationId xmlns:a16="http://schemas.microsoft.com/office/drawing/2014/main" id="{9DA75797-230D-71DC-FF73-0EF3E7C862BE}"/>
                </a:ext>
              </a:extLst>
            </p:cNvPr>
            <p:cNvSpPr/>
            <p:nvPr/>
          </p:nvSpPr>
          <p:spPr>
            <a:xfrm>
              <a:off x="2991077" y="3530272"/>
              <a:ext cx="4114800" cy="18288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grpSp>
      <p:sp>
        <p:nvSpPr>
          <p:cNvPr id="84" name="TextBox 83">
            <a:extLst>
              <a:ext uri="{FF2B5EF4-FFF2-40B4-BE49-F238E27FC236}">
                <a16:creationId xmlns:a16="http://schemas.microsoft.com/office/drawing/2014/main" id="{61A05EA9-71F7-65BB-D6F3-F8C1E4048BC9}"/>
              </a:ext>
            </a:extLst>
          </p:cNvPr>
          <p:cNvSpPr txBox="1"/>
          <p:nvPr/>
        </p:nvSpPr>
        <p:spPr>
          <a:xfrm>
            <a:off x="548641" y="4275637"/>
            <a:ext cx="2262158" cy="338554"/>
          </a:xfrm>
          <a:prstGeom prst="rect">
            <a:avLst/>
          </a:prstGeom>
          <a:noFill/>
        </p:spPr>
        <p:txBody>
          <a:bodyPr wrap="none">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SOFTWARE &amp; TOOLS</a:t>
            </a:r>
          </a:p>
        </p:txBody>
      </p:sp>
      <p:sp>
        <p:nvSpPr>
          <p:cNvPr id="87" name="TextBox 86">
            <a:extLst>
              <a:ext uri="{FF2B5EF4-FFF2-40B4-BE49-F238E27FC236}">
                <a16:creationId xmlns:a16="http://schemas.microsoft.com/office/drawing/2014/main" id="{61BB1912-C3B4-B8BA-CD85-0FF91AD757EE}"/>
              </a:ext>
            </a:extLst>
          </p:cNvPr>
          <p:cNvSpPr txBox="1"/>
          <p:nvPr/>
        </p:nvSpPr>
        <p:spPr>
          <a:xfrm>
            <a:off x="10951838" y="4228131"/>
            <a:ext cx="691215" cy="369332"/>
          </a:xfrm>
          <a:prstGeom prst="rect">
            <a:avLst/>
          </a:prstGeom>
          <a:noFill/>
        </p:spPr>
        <p:txBody>
          <a:bodyPr wrap="none">
            <a:spAutoFit/>
          </a:bodyPr>
          <a:lstStyle/>
          <a:p>
            <a:pPr algn="r"/>
            <a:r>
              <a:rPr lang="en-US" b="1" noProof="0" dirty="0">
                <a:solidFill>
                  <a:srgbClr val="A78BFA"/>
                </a:solidFill>
                <a:latin typeface="Consolas" panose="020B0609020204030204" pitchFamily="49" charset="0"/>
              </a:rPr>
              <a:t>$700</a:t>
            </a:r>
          </a:p>
        </p:txBody>
      </p:sp>
      <p:sp>
        <p:nvSpPr>
          <p:cNvPr id="102" name="TextBox 101">
            <a:extLst>
              <a:ext uri="{FF2B5EF4-FFF2-40B4-BE49-F238E27FC236}">
                <a16:creationId xmlns:a16="http://schemas.microsoft.com/office/drawing/2014/main" id="{E2946293-9D5F-AD15-9CC3-BDFB76218FB0}"/>
              </a:ext>
            </a:extLst>
          </p:cNvPr>
          <p:cNvSpPr txBox="1">
            <a:spLocks/>
          </p:cNvSpPr>
          <p:nvPr/>
        </p:nvSpPr>
        <p:spPr>
          <a:xfrm>
            <a:off x="548641" y="4485949"/>
            <a:ext cx="10124275" cy="523220"/>
          </a:xfrm>
          <a:prstGeom prst="rect">
            <a:avLst/>
          </a:prstGeom>
          <a:noFill/>
        </p:spPr>
        <p:txBody>
          <a:bodyPr wrap="square">
            <a:spAutoFit/>
          </a:bodyPr>
          <a:lstStyle/>
          <a:p>
            <a:pPr algn="l"/>
            <a:r>
              <a:rPr lang="en-US" sz="1400" b="0" noProof="0" dirty="0">
                <a:solidFill>
                  <a:schemeClr val="bg1"/>
                </a:solidFill>
                <a:latin typeface="Consolas" panose="020B0609020204030204" pitchFamily="49" charset="0"/>
              </a:rPr>
              <a:t>Subscribe to analytics tools (e.g., Amplitude), design software (e.g., Figma), and cover Firebase scaling costs during beta</a:t>
            </a:r>
          </a:p>
        </p:txBody>
      </p:sp>
      <p:grpSp>
        <p:nvGrpSpPr>
          <p:cNvPr id="2" name="Group 1">
            <a:extLst>
              <a:ext uri="{FF2B5EF4-FFF2-40B4-BE49-F238E27FC236}">
                <a16:creationId xmlns:a16="http://schemas.microsoft.com/office/drawing/2014/main" id="{677D8E5A-D8BC-BBD9-D793-14454F71974E}"/>
              </a:ext>
            </a:extLst>
          </p:cNvPr>
          <p:cNvGrpSpPr/>
          <p:nvPr/>
        </p:nvGrpSpPr>
        <p:grpSpPr>
          <a:xfrm>
            <a:off x="3483641" y="5705734"/>
            <a:ext cx="7096956" cy="182880"/>
            <a:chOff x="3483640" y="5705734"/>
            <a:chExt cx="7096956" cy="182880"/>
          </a:xfrm>
        </p:grpSpPr>
        <p:sp>
          <p:nvSpPr>
            <p:cNvPr id="89" name="Rectangle 88">
              <a:extLst>
                <a:ext uri="{FF2B5EF4-FFF2-40B4-BE49-F238E27FC236}">
                  <a16:creationId xmlns:a16="http://schemas.microsoft.com/office/drawing/2014/main" id="{98700129-0D92-87E1-BB2A-03C0C6F3DC92}"/>
                </a:ext>
              </a:extLst>
            </p:cNvPr>
            <p:cNvSpPr/>
            <p:nvPr/>
          </p:nvSpPr>
          <p:spPr>
            <a:xfrm>
              <a:off x="3483641" y="5705734"/>
              <a:ext cx="7096955" cy="182880"/>
            </a:xfrm>
            <a:prstGeom prst="rect">
              <a:avLst/>
            </a:prstGeom>
            <a:solidFill>
              <a:srgbClr val="0A0A0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90" name="Rectangle 89">
              <a:extLst>
                <a:ext uri="{FF2B5EF4-FFF2-40B4-BE49-F238E27FC236}">
                  <a16:creationId xmlns:a16="http://schemas.microsoft.com/office/drawing/2014/main" id="{FCBD0516-D8ED-4D4C-9DD2-1EE9B3E62901}"/>
                </a:ext>
              </a:extLst>
            </p:cNvPr>
            <p:cNvSpPr/>
            <p:nvPr/>
          </p:nvSpPr>
          <p:spPr>
            <a:xfrm>
              <a:off x="3483640" y="5705734"/>
              <a:ext cx="2992693" cy="18288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grpSp>
      <p:sp>
        <p:nvSpPr>
          <p:cNvPr id="88" name="TextBox 87">
            <a:extLst>
              <a:ext uri="{FF2B5EF4-FFF2-40B4-BE49-F238E27FC236}">
                <a16:creationId xmlns:a16="http://schemas.microsoft.com/office/drawing/2014/main" id="{5973B175-2144-0A69-5A05-8898AEEDBA19}"/>
              </a:ext>
            </a:extLst>
          </p:cNvPr>
          <p:cNvSpPr txBox="1"/>
          <p:nvPr/>
        </p:nvSpPr>
        <p:spPr>
          <a:xfrm>
            <a:off x="548642" y="5660014"/>
            <a:ext cx="2598788" cy="338554"/>
          </a:xfrm>
          <a:prstGeom prst="rect">
            <a:avLst/>
          </a:prstGeom>
          <a:noFill/>
        </p:spPr>
        <p:txBody>
          <a:bodyPr wrap="none">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MARKETING &amp; LAUNCH</a:t>
            </a:r>
          </a:p>
        </p:txBody>
      </p:sp>
      <p:sp>
        <p:nvSpPr>
          <p:cNvPr id="91" name="TextBox 90">
            <a:extLst>
              <a:ext uri="{FF2B5EF4-FFF2-40B4-BE49-F238E27FC236}">
                <a16:creationId xmlns:a16="http://schemas.microsoft.com/office/drawing/2014/main" id="{7BC3FE2E-1ADF-2D7B-CF52-A3E2365C7351}"/>
              </a:ext>
            </a:extLst>
          </p:cNvPr>
          <p:cNvSpPr txBox="1"/>
          <p:nvPr/>
        </p:nvSpPr>
        <p:spPr>
          <a:xfrm>
            <a:off x="10951838" y="5612508"/>
            <a:ext cx="691216" cy="369332"/>
          </a:xfrm>
          <a:prstGeom prst="rect">
            <a:avLst/>
          </a:prstGeom>
          <a:noFill/>
        </p:spPr>
        <p:txBody>
          <a:bodyPr wrap="none">
            <a:spAutoFit/>
          </a:bodyPr>
          <a:lstStyle/>
          <a:p>
            <a:pPr algn="r"/>
            <a:r>
              <a:rPr lang="en-US" b="1" noProof="0" dirty="0">
                <a:solidFill>
                  <a:srgbClr val="A78BFA"/>
                </a:solidFill>
                <a:latin typeface="Consolas" panose="020B0609020204030204" pitchFamily="49" charset="0"/>
              </a:rPr>
              <a:t>$600</a:t>
            </a:r>
          </a:p>
        </p:txBody>
      </p:sp>
      <p:sp>
        <p:nvSpPr>
          <p:cNvPr id="103" name="TextBox 102">
            <a:extLst>
              <a:ext uri="{FF2B5EF4-FFF2-40B4-BE49-F238E27FC236}">
                <a16:creationId xmlns:a16="http://schemas.microsoft.com/office/drawing/2014/main" id="{DA60A601-321B-177D-AF82-4D31A85DC4AB}"/>
              </a:ext>
            </a:extLst>
          </p:cNvPr>
          <p:cNvSpPr txBox="1">
            <a:spLocks/>
          </p:cNvSpPr>
          <p:nvPr/>
        </p:nvSpPr>
        <p:spPr>
          <a:xfrm>
            <a:off x="548641" y="5870326"/>
            <a:ext cx="10124275" cy="523220"/>
          </a:xfrm>
          <a:prstGeom prst="rect">
            <a:avLst/>
          </a:prstGeom>
          <a:noFill/>
        </p:spPr>
        <p:txBody>
          <a:bodyPr wrap="square">
            <a:spAutoFit/>
          </a:bodyPr>
          <a:lstStyle/>
          <a:p>
            <a:pPr algn="l"/>
            <a:r>
              <a:rPr lang="en-US" sz="1400" b="0" noProof="0" dirty="0">
                <a:solidFill>
                  <a:schemeClr val="bg1"/>
                </a:solidFill>
                <a:latin typeface="Consolas" panose="020B0609020204030204" pitchFamily="49" charset="0"/>
              </a:rPr>
              <a:t>Launch targeted social media campaigns on Instagram/TikTok and create promotional video content for App Store listing</a:t>
            </a:r>
          </a:p>
        </p:txBody>
      </p:sp>
      <p:grpSp>
        <p:nvGrpSpPr>
          <p:cNvPr id="14" name="Group 13">
            <a:extLst>
              <a:ext uri="{FF2B5EF4-FFF2-40B4-BE49-F238E27FC236}">
                <a16:creationId xmlns:a16="http://schemas.microsoft.com/office/drawing/2014/main" id="{118F2163-1127-3F4E-53E6-4A17228FEF67}"/>
              </a:ext>
            </a:extLst>
          </p:cNvPr>
          <p:cNvGrpSpPr/>
          <p:nvPr/>
        </p:nvGrpSpPr>
        <p:grpSpPr>
          <a:xfrm>
            <a:off x="3483641" y="5121266"/>
            <a:ext cx="7096956" cy="182880"/>
            <a:chOff x="2991077" y="4972662"/>
            <a:chExt cx="7589520" cy="182880"/>
          </a:xfrm>
        </p:grpSpPr>
        <p:sp>
          <p:nvSpPr>
            <p:cNvPr id="93" name="Rectangle 92">
              <a:extLst>
                <a:ext uri="{FF2B5EF4-FFF2-40B4-BE49-F238E27FC236}">
                  <a16:creationId xmlns:a16="http://schemas.microsoft.com/office/drawing/2014/main" id="{AD6470D3-80BB-B20B-A627-DD4CF38D7634}"/>
                </a:ext>
              </a:extLst>
            </p:cNvPr>
            <p:cNvSpPr/>
            <p:nvPr/>
          </p:nvSpPr>
          <p:spPr>
            <a:xfrm>
              <a:off x="2991077" y="4972662"/>
              <a:ext cx="7589520" cy="182880"/>
            </a:xfrm>
            <a:prstGeom prst="rect">
              <a:avLst/>
            </a:prstGeom>
            <a:solidFill>
              <a:srgbClr val="0A0A0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94" name="Rectangle 93">
              <a:extLst>
                <a:ext uri="{FF2B5EF4-FFF2-40B4-BE49-F238E27FC236}">
                  <a16:creationId xmlns:a16="http://schemas.microsoft.com/office/drawing/2014/main" id="{AD589260-B096-4F7C-7661-DF39FE350C0A}"/>
                </a:ext>
              </a:extLst>
            </p:cNvPr>
            <p:cNvSpPr/>
            <p:nvPr/>
          </p:nvSpPr>
          <p:spPr>
            <a:xfrm>
              <a:off x="2991077" y="4972662"/>
              <a:ext cx="4114800" cy="18288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grpSp>
      <p:sp>
        <p:nvSpPr>
          <p:cNvPr id="92" name="TextBox 91">
            <a:extLst>
              <a:ext uri="{FF2B5EF4-FFF2-40B4-BE49-F238E27FC236}">
                <a16:creationId xmlns:a16="http://schemas.microsoft.com/office/drawing/2014/main" id="{E8E9306B-B122-A016-9A30-F01928797F08}"/>
              </a:ext>
            </a:extLst>
          </p:cNvPr>
          <p:cNvSpPr txBox="1"/>
          <p:nvPr/>
        </p:nvSpPr>
        <p:spPr>
          <a:xfrm>
            <a:off x="548642" y="5075546"/>
            <a:ext cx="2460930" cy="338554"/>
          </a:xfrm>
          <a:prstGeom prst="rect">
            <a:avLst/>
          </a:prstGeom>
          <a:noFill/>
        </p:spPr>
        <p:txBody>
          <a:bodyPr wrap="none">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LEGAL &amp; COMPLIANCE</a:t>
            </a:r>
          </a:p>
        </p:txBody>
      </p:sp>
      <p:sp>
        <p:nvSpPr>
          <p:cNvPr id="95" name="TextBox 94">
            <a:extLst>
              <a:ext uri="{FF2B5EF4-FFF2-40B4-BE49-F238E27FC236}">
                <a16:creationId xmlns:a16="http://schemas.microsoft.com/office/drawing/2014/main" id="{641529AD-E87D-5237-C46C-4A2608811F4C}"/>
              </a:ext>
            </a:extLst>
          </p:cNvPr>
          <p:cNvSpPr txBox="1"/>
          <p:nvPr/>
        </p:nvSpPr>
        <p:spPr>
          <a:xfrm>
            <a:off x="10951839" y="5028040"/>
            <a:ext cx="691215" cy="369332"/>
          </a:xfrm>
          <a:prstGeom prst="rect">
            <a:avLst/>
          </a:prstGeom>
          <a:noFill/>
        </p:spPr>
        <p:txBody>
          <a:bodyPr wrap="none">
            <a:spAutoFit/>
          </a:bodyPr>
          <a:lstStyle/>
          <a:p>
            <a:pPr algn="r"/>
            <a:r>
              <a:rPr lang="en-US" b="1" noProof="0" dirty="0">
                <a:solidFill>
                  <a:srgbClr val="A78BFA"/>
                </a:solidFill>
                <a:latin typeface="Consolas" panose="020B0609020204030204" pitchFamily="49" charset="0"/>
              </a:rPr>
              <a:t>$700</a:t>
            </a:r>
          </a:p>
        </p:txBody>
      </p:sp>
      <p:sp>
        <p:nvSpPr>
          <p:cNvPr id="104" name="TextBox 103">
            <a:extLst>
              <a:ext uri="{FF2B5EF4-FFF2-40B4-BE49-F238E27FC236}">
                <a16:creationId xmlns:a16="http://schemas.microsoft.com/office/drawing/2014/main" id="{612AD999-6661-1B62-D4D7-A4D7565BE2FD}"/>
              </a:ext>
            </a:extLst>
          </p:cNvPr>
          <p:cNvSpPr txBox="1">
            <a:spLocks/>
          </p:cNvSpPr>
          <p:nvPr/>
        </p:nvSpPr>
        <p:spPr>
          <a:xfrm>
            <a:off x="548641" y="5285858"/>
            <a:ext cx="10124275" cy="307777"/>
          </a:xfrm>
          <a:prstGeom prst="rect">
            <a:avLst/>
          </a:prstGeom>
          <a:noFill/>
        </p:spPr>
        <p:txBody>
          <a:bodyPr wrap="square">
            <a:spAutoFit/>
          </a:bodyPr>
          <a:lstStyle/>
          <a:p>
            <a:pPr algn="l"/>
            <a:r>
              <a:rPr lang="en-US" sz="1400" b="0" noProof="0" dirty="0">
                <a:solidFill>
                  <a:schemeClr val="bg1"/>
                </a:solidFill>
                <a:latin typeface="Consolas" panose="020B0609020204030204" pitchFamily="49" charset="0"/>
              </a:rPr>
              <a:t>File for company incorporation, register as a legal entity, and secure registered agent services</a:t>
            </a:r>
          </a:p>
        </p:txBody>
      </p:sp>
      <p:grpSp>
        <p:nvGrpSpPr>
          <p:cNvPr id="16" name="Group 15">
            <a:extLst>
              <a:ext uri="{FF2B5EF4-FFF2-40B4-BE49-F238E27FC236}">
                <a16:creationId xmlns:a16="http://schemas.microsoft.com/office/drawing/2014/main" id="{21E1D805-6475-00D9-D97D-78ED1E1020B6}"/>
              </a:ext>
            </a:extLst>
          </p:cNvPr>
          <p:cNvGrpSpPr/>
          <p:nvPr/>
        </p:nvGrpSpPr>
        <p:grpSpPr>
          <a:xfrm>
            <a:off x="3483641" y="3521448"/>
            <a:ext cx="7096956" cy="182880"/>
            <a:chOff x="2991077" y="5705734"/>
            <a:chExt cx="7589520" cy="182880"/>
          </a:xfrm>
        </p:grpSpPr>
        <p:sp>
          <p:nvSpPr>
            <p:cNvPr id="97" name="Rectangle 96">
              <a:extLst>
                <a:ext uri="{FF2B5EF4-FFF2-40B4-BE49-F238E27FC236}">
                  <a16:creationId xmlns:a16="http://schemas.microsoft.com/office/drawing/2014/main" id="{789D4259-24DF-8CCE-5506-3418C0EB60C2}"/>
                </a:ext>
              </a:extLst>
            </p:cNvPr>
            <p:cNvSpPr/>
            <p:nvPr/>
          </p:nvSpPr>
          <p:spPr>
            <a:xfrm>
              <a:off x="2991077" y="5705734"/>
              <a:ext cx="7589520" cy="182880"/>
            </a:xfrm>
            <a:prstGeom prst="rect">
              <a:avLst/>
            </a:prstGeom>
            <a:solidFill>
              <a:srgbClr val="0A0A0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98" name="Rectangle 97">
              <a:extLst>
                <a:ext uri="{FF2B5EF4-FFF2-40B4-BE49-F238E27FC236}">
                  <a16:creationId xmlns:a16="http://schemas.microsoft.com/office/drawing/2014/main" id="{68E52D5A-AA35-4D4B-6EA4-AA0CCD8ED63A}"/>
                </a:ext>
              </a:extLst>
            </p:cNvPr>
            <p:cNvSpPr/>
            <p:nvPr/>
          </p:nvSpPr>
          <p:spPr>
            <a:xfrm>
              <a:off x="2991077" y="5705734"/>
              <a:ext cx="5029200" cy="18288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grpSp>
      <p:sp>
        <p:nvSpPr>
          <p:cNvPr id="96" name="TextBox 95">
            <a:extLst>
              <a:ext uri="{FF2B5EF4-FFF2-40B4-BE49-F238E27FC236}">
                <a16:creationId xmlns:a16="http://schemas.microsoft.com/office/drawing/2014/main" id="{C227487E-114E-F7D3-6FD8-18D9FEA8F802}"/>
              </a:ext>
            </a:extLst>
          </p:cNvPr>
          <p:cNvSpPr txBox="1"/>
          <p:nvPr/>
        </p:nvSpPr>
        <p:spPr>
          <a:xfrm>
            <a:off x="548643" y="3475728"/>
            <a:ext cx="2702984" cy="338554"/>
          </a:xfrm>
          <a:prstGeom prst="rect">
            <a:avLst/>
          </a:prstGeom>
          <a:noFill/>
        </p:spPr>
        <p:txBody>
          <a:bodyPr wrap="none">
            <a:spAutoFit/>
          </a:bodyPr>
          <a:lstStyle/>
          <a:p>
            <a:pPr algn="l"/>
            <a:r>
              <a:rPr lang="en-US" sz="1600" b="1" noProof="0" dirty="0">
                <a:solidFill>
                  <a:srgbClr val="CCFF00"/>
                </a:solidFill>
                <a:latin typeface="Segoe UI Black" panose="020B0A02040204020203" pitchFamily="34" charset="0"/>
                <a:ea typeface="Segoe UI Black" panose="020B0A02040204020203" pitchFamily="34" charset="0"/>
              </a:rPr>
              <a:t>TRAVEL &amp; CONFERENCES</a:t>
            </a:r>
          </a:p>
        </p:txBody>
      </p:sp>
      <p:sp>
        <p:nvSpPr>
          <p:cNvPr id="99" name="TextBox 98">
            <a:extLst>
              <a:ext uri="{FF2B5EF4-FFF2-40B4-BE49-F238E27FC236}">
                <a16:creationId xmlns:a16="http://schemas.microsoft.com/office/drawing/2014/main" id="{470F4574-4C2C-50A5-ECFE-0EE555AB7A54}"/>
              </a:ext>
            </a:extLst>
          </p:cNvPr>
          <p:cNvSpPr txBox="1"/>
          <p:nvPr/>
        </p:nvSpPr>
        <p:spPr>
          <a:xfrm>
            <a:off x="10951839" y="3428222"/>
            <a:ext cx="691216" cy="369332"/>
          </a:xfrm>
          <a:prstGeom prst="rect">
            <a:avLst/>
          </a:prstGeom>
          <a:noFill/>
        </p:spPr>
        <p:txBody>
          <a:bodyPr wrap="none">
            <a:spAutoFit/>
          </a:bodyPr>
          <a:lstStyle/>
          <a:p>
            <a:pPr algn="r"/>
            <a:r>
              <a:rPr lang="en-US" b="1" noProof="0" dirty="0">
                <a:solidFill>
                  <a:srgbClr val="A78BFA"/>
                </a:solidFill>
                <a:latin typeface="Consolas" panose="020B0609020204030204" pitchFamily="49" charset="0"/>
              </a:rPr>
              <a:t>$800</a:t>
            </a:r>
          </a:p>
        </p:txBody>
      </p:sp>
      <p:sp>
        <p:nvSpPr>
          <p:cNvPr id="105" name="TextBox 104">
            <a:extLst>
              <a:ext uri="{FF2B5EF4-FFF2-40B4-BE49-F238E27FC236}">
                <a16:creationId xmlns:a16="http://schemas.microsoft.com/office/drawing/2014/main" id="{9E3C0365-734F-09C7-21DD-E8D2EDA503E9}"/>
              </a:ext>
            </a:extLst>
          </p:cNvPr>
          <p:cNvSpPr txBox="1">
            <a:spLocks/>
          </p:cNvSpPr>
          <p:nvPr/>
        </p:nvSpPr>
        <p:spPr>
          <a:xfrm>
            <a:off x="548642" y="3686040"/>
            <a:ext cx="10124275" cy="523220"/>
          </a:xfrm>
          <a:prstGeom prst="rect">
            <a:avLst/>
          </a:prstGeom>
          <a:noFill/>
        </p:spPr>
        <p:txBody>
          <a:bodyPr wrap="square">
            <a:spAutoFit/>
          </a:bodyPr>
          <a:lstStyle/>
          <a:p>
            <a:pPr algn="l"/>
            <a:r>
              <a:rPr lang="en-US" sz="1400" b="0" noProof="0" dirty="0">
                <a:solidFill>
                  <a:schemeClr val="bg1"/>
                </a:solidFill>
                <a:latin typeface="Consolas" panose="020B0609020204030204" pitchFamily="49" charset="0"/>
              </a:rPr>
              <a:t>Attend wellness/productivity conferences to conduct customer research and connect with potential partners and </a:t>
            </a:r>
            <a:r>
              <a:rPr lang="en-US" sz="1400" b="0" i="1" noProof="0" dirty="0">
                <a:solidFill>
                  <a:schemeClr val="bg1"/>
                </a:solidFill>
                <a:latin typeface="Consolas" panose="020B0609020204030204" pitchFamily="49" charset="0"/>
              </a:rPr>
              <a:t>routine</a:t>
            </a:r>
            <a:r>
              <a:rPr lang="en-US" sz="1400" b="0" noProof="0" dirty="0">
                <a:solidFill>
                  <a:schemeClr val="bg1"/>
                </a:solidFill>
                <a:latin typeface="Consolas" panose="020B0609020204030204" pitchFamily="49" charset="0"/>
              </a:rPr>
              <a:t> influencers</a:t>
            </a:r>
          </a:p>
        </p:txBody>
      </p:sp>
      <p:sp>
        <p:nvSpPr>
          <p:cNvPr id="146" name="TextBox 145">
            <a:extLst>
              <a:ext uri="{FF2B5EF4-FFF2-40B4-BE49-F238E27FC236}">
                <a16:creationId xmlns:a16="http://schemas.microsoft.com/office/drawing/2014/main" id="{2F80C0F4-03E8-6966-5118-1AD538B61944}"/>
              </a:ext>
            </a:extLst>
          </p:cNvPr>
          <p:cNvSpPr txBox="1"/>
          <p:nvPr/>
        </p:nvSpPr>
        <p:spPr>
          <a:xfrm>
            <a:off x="11584033" y="6356866"/>
            <a:ext cx="377649"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pPr algn="r"/>
            <a:r>
              <a:rPr lang="en-US" b="0" noProof="0" dirty="0"/>
              <a:t>12</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12135F56-2BEA-840E-E42A-485344DD05B8}"/>
              </a:ext>
            </a:extLst>
          </p:cNvPr>
          <p:cNvGraphicFramePr>
            <a:graphicFrameLocks noChangeAspect="1"/>
          </p:cNvGraphicFramePr>
          <p:nvPr>
            <p:custDataLst>
              <p:tags r:id="rId2"/>
            </p:custDataLst>
            <p:extLst>
              <p:ext uri="{D42A27DB-BD31-4B8C-83A1-F6EECF244321}">
                <p14:modId xmlns:p14="http://schemas.microsoft.com/office/powerpoint/2010/main" val="3674876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extBox 5"/>
          <p:cNvSpPr txBox="1"/>
          <p:nvPr/>
        </p:nvSpPr>
        <p:spPr>
          <a:xfrm>
            <a:off x="548640" y="320040"/>
            <a:ext cx="880369" cy="307777"/>
          </a:xfrm>
          <a:prstGeom prst="rect">
            <a:avLst/>
          </a:prstGeom>
          <a:noFill/>
        </p:spPr>
        <p:txBody>
          <a:bodyPr wrap="none">
            <a:spAutoFit/>
          </a:bodyPr>
          <a:lstStyle/>
          <a:p>
            <a:pPr algn="l"/>
            <a:r>
              <a:rPr lang="en-US" sz="1400" b="1" noProof="0" dirty="0">
                <a:solidFill>
                  <a:srgbClr val="A78BFA"/>
                </a:solidFill>
                <a:latin typeface="Consolas"/>
              </a:rPr>
              <a:t>// Team</a:t>
            </a:r>
          </a:p>
        </p:txBody>
      </p:sp>
      <p:sp>
        <p:nvSpPr>
          <p:cNvPr id="7" name="TextBox 6"/>
          <p:cNvSpPr txBox="1"/>
          <p:nvPr/>
        </p:nvSpPr>
        <p:spPr>
          <a:xfrm>
            <a:off x="548640" y="640074"/>
            <a:ext cx="6401111" cy="584775"/>
          </a:xfrm>
          <a:prstGeom prst="rect">
            <a:avLst/>
          </a:prstGeom>
          <a:noFill/>
        </p:spPr>
        <p:txBody>
          <a:bodyPr wrap="none">
            <a:spAutoFit/>
          </a:bodyPr>
          <a:lstStyle/>
          <a:p>
            <a:pPr algn="l"/>
            <a:r>
              <a:rPr lang="en-US" sz="3200" b="1" noProof="0" dirty="0">
                <a:solidFill>
                  <a:srgbClr val="FFFFFF"/>
                </a:solidFill>
                <a:latin typeface="Segoe UI Black" panose="020B0A02040204020203" pitchFamily="34" charset="0"/>
                <a:ea typeface="Segoe UI Black" panose="020B0A02040204020203" pitchFamily="34" charset="0"/>
              </a:rPr>
              <a:t>WHO’S BEHIND AXIOM FORGE</a:t>
            </a:r>
          </a:p>
        </p:txBody>
      </p:sp>
      <p:sp>
        <p:nvSpPr>
          <p:cNvPr id="8" name="Rectangle 7"/>
          <p:cNvSpPr/>
          <p:nvPr/>
        </p:nvSpPr>
        <p:spPr>
          <a:xfrm>
            <a:off x="548640" y="1791339"/>
            <a:ext cx="11094415" cy="4206247"/>
          </a:xfrm>
          <a:prstGeom prst="rect">
            <a:avLst/>
          </a:prstGeom>
          <a:solidFill>
            <a:srgbClr val="0000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pic>
        <p:nvPicPr>
          <p:cNvPr id="12" name="Picture 11">
            <a:extLst>
              <a:ext uri="{FF2B5EF4-FFF2-40B4-BE49-F238E27FC236}">
                <a16:creationId xmlns:a16="http://schemas.microsoft.com/office/drawing/2014/main" id="{F8BB35F9-74F0-128C-236B-E665A7CA484B}"/>
              </a:ext>
            </a:extLst>
          </p:cNvPr>
          <p:cNvPicPr>
            <a:picLocks noChangeAspect="1"/>
          </p:cNvPicPr>
          <p:nvPr/>
        </p:nvPicPr>
        <p:blipFill>
          <a:blip r:embed="rId7"/>
          <a:srcRect/>
          <a:stretch>
            <a:fillRect/>
          </a:stretch>
        </p:blipFill>
        <p:spPr>
          <a:xfrm>
            <a:off x="1689338" y="2322706"/>
            <a:ext cx="2032000" cy="2032000"/>
          </a:xfrm>
          <a:prstGeom prst="ellipse">
            <a:avLst/>
          </a:prstGeom>
        </p:spPr>
      </p:pic>
      <p:sp>
        <p:nvSpPr>
          <p:cNvPr id="13" name="TextBox 12">
            <a:extLst>
              <a:ext uri="{FF2B5EF4-FFF2-40B4-BE49-F238E27FC236}">
                <a16:creationId xmlns:a16="http://schemas.microsoft.com/office/drawing/2014/main" id="{2349E8EA-5381-09DC-DD87-9DA2F43BCB46}"/>
              </a:ext>
            </a:extLst>
          </p:cNvPr>
          <p:cNvSpPr txBox="1"/>
          <p:nvPr/>
        </p:nvSpPr>
        <p:spPr>
          <a:xfrm>
            <a:off x="1086047" y="4870711"/>
            <a:ext cx="3330595" cy="317500"/>
          </a:xfrm>
          <a:prstGeom prst="rect">
            <a:avLst/>
          </a:prstGeom>
          <a:ln w="6350">
            <a:noFill/>
            <a:miter lim="800000"/>
          </a:ln>
        </p:spPr>
        <p:txBody>
          <a:bodyPr vert="horz" wrap="square" lIns="0" tIns="0" rIns="0" bIns="0" rtlCol="0">
            <a:noAutofit/>
          </a:bodyPr>
          <a:lstStyle/>
          <a:p>
            <a:pPr>
              <a:spcBef>
                <a:spcPts val="300"/>
              </a:spcBef>
              <a:spcAft>
                <a:spcPts val="300"/>
              </a:spcAft>
              <a:buNone/>
            </a:pPr>
            <a:r>
              <a:rPr lang="en-US" sz="2000" b="1" noProof="0" dirty="0">
                <a:solidFill>
                  <a:srgbClr val="CCFF00"/>
                </a:solidFill>
                <a:latin typeface="Segoe UI Black" panose="020B0A02040204020203" pitchFamily="34" charset="0"/>
                <a:ea typeface="Segoe UI Black" panose="020B0A02040204020203" pitchFamily="34" charset="0"/>
              </a:rPr>
              <a:t>JAVIER SERRANO</a:t>
            </a:r>
          </a:p>
        </p:txBody>
      </p:sp>
      <p:sp>
        <p:nvSpPr>
          <p:cNvPr id="16" name="TextBox 15">
            <a:extLst>
              <a:ext uri="{FF2B5EF4-FFF2-40B4-BE49-F238E27FC236}">
                <a16:creationId xmlns:a16="http://schemas.microsoft.com/office/drawing/2014/main" id="{BEF70FC0-1565-FE25-A728-23FBDE3CB2A0}"/>
              </a:ext>
            </a:extLst>
          </p:cNvPr>
          <p:cNvSpPr txBox="1"/>
          <p:nvPr/>
        </p:nvSpPr>
        <p:spPr>
          <a:xfrm>
            <a:off x="1086047" y="5260056"/>
            <a:ext cx="3221331" cy="276999"/>
          </a:xfrm>
          <a:prstGeom prst="rect">
            <a:avLst/>
          </a:prstGeom>
          <a:ln w="6350">
            <a:noFill/>
            <a:miter lim="800000"/>
          </a:ln>
        </p:spPr>
        <p:txBody>
          <a:bodyPr vert="horz" wrap="none" lIns="0" tIns="0" rIns="0" bIns="0" rtlCol="0">
            <a:spAutoFit/>
          </a:bodyPr>
          <a:lstStyle/>
          <a:p>
            <a:pPr algn="ctr">
              <a:spcBef>
                <a:spcPts val="300"/>
              </a:spcBef>
              <a:spcAft>
                <a:spcPts val="300"/>
              </a:spcAft>
              <a:buNone/>
            </a:pPr>
            <a:r>
              <a:rPr lang="en-US" b="1" i="1" noProof="0" dirty="0">
                <a:solidFill>
                  <a:schemeClr val="bg1"/>
                </a:solidFill>
                <a:latin typeface="Segoe UI" panose="020B0502040204020203" pitchFamily="34" charset="0"/>
                <a:ea typeface="Segoe UI Black" panose="020B0A02040204020203" pitchFamily="34" charset="0"/>
                <a:cs typeface="Segoe UI" panose="020B0502040204020203" pitchFamily="34" charset="0"/>
              </a:rPr>
              <a:t>MIT Sloan MBA Candidate ‘27</a:t>
            </a:r>
          </a:p>
        </p:txBody>
      </p:sp>
      <p:pic>
        <p:nvPicPr>
          <p:cNvPr id="1034" name="Picture 10" descr="LinkedIn App White Icon SVG Vector &amp; PNG Free Download | UXWing">
            <a:hlinkClick r:id="rId8"/>
            <a:extLst>
              <a:ext uri="{FF2B5EF4-FFF2-40B4-BE49-F238E27FC236}">
                <a16:creationId xmlns:a16="http://schemas.microsoft.com/office/drawing/2014/main" id="{423FD134-BC95-99E2-5F04-D69EF4D925F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8458" y="4593500"/>
            <a:ext cx="552179" cy="552179"/>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2016B06B-A925-C493-2FF3-792EB9BACE7C}"/>
              </a:ext>
            </a:extLst>
          </p:cNvPr>
          <p:cNvSpPr/>
          <p:nvPr/>
        </p:nvSpPr>
        <p:spPr>
          <a:xfrm>
            <a:off x="5606666" y="2107327"/>
            <a:ext cx="5354766" cy="1722231"/>
          </a:xfrm>
          <a:prstGeom prst="rect">
            <a:avLst/>
          </a:prstGeom>
          <a:solidFill>
            <a:srgbClr val="0000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latin typeface="Consolas" panose="020B0609020204030204" pitchFamily="49" charset="0"/>
            </a:endParaRPr>
          </a:p>
        </p:txBody>
      </p:sp>
      <p:sp>
        <p:nvSpPr>
          <p:cNvPr id="23" name="TextBox 22">
            <a:extLst>
              <a:ext uri="{FF2B5EF4-FFF2-40B4-BE49-F238E27FC236}">
                <a16:creationId xmlns:a16="http://schemas.microsoft.com/office/drawing/2014/main" id="{24D31808-348F-F68D-DD8F-754D6D2A6CDF}"/>
              </a:ext>
            </a:extLst>
          </p:cNvPr>
          <p:cNvSpPr txBox="1"/>
          <p:nvPr/>
        </p:nvSpPr>
        <p:spPr>
          <a:xfrm>
            <a:off x="5792672" y="2222556"/>
            <a:ext cx="2173993" cy="400110"/>
          </a:xfrm>
          <a:prstGeom prst="rect">
            <a:avLst/>
          </a:prstGeom>
          <a:noFill/>
        </p:spPr>
        <p:txBody>
          <a:bodyPr wrap="none">
            <a:spAutoFit/>
          </a:bodyPr>
          <a:lstStyle/>
          <a:p>
            <a:pPr algn="l"/>
            <a:r>
              <a:rPr lang="en-US" sz="2000" b="1" noProof="0" dirty="0">
                <a:solidFill>
                  <a:srgbClr val="FFFFFF"/>
                </a:solidFill>
                <a:latin typeface="Segoe UI Black" panose="020B0A02040204020203" pitchFamily="34" charset="0"/>
                <a:ea typeface="Segoe UI Black" panose="020B0A02040204020203" pitchFamily="34" charset="0"/>
              </a:rPr>
              <a:t>SOLO FOUNDER</a:t>
            </a:r>
          </a:p>
        </p:txBody>
      </p:sp>
      <p:sp>
        <p:nvSpPr>
          <p:cNvPr id="24" name="TextBox 23">
            <a:extLst>
              <a:ext uri="{FF2B5EF4-FFF2-40B4-BE49-F238E27FC236}">
                <a16:creationId xmlns:a16="http://schemas.microsoft.com/office/drawing/2014/main" id="{B43115F3-70C4-7795-AB15-554012A88B2D}"/>
              </a:ext>
            </a:extLst>
          </p:cNvPr>
          <p:cNvSpPr txBox="1">
            <a:spLocks/>
          </p:cNvSpPr>
          <p:nvPr/>
        </p:nvSpPr>
        <p:spPr>
          <a:xfrm>
            <a:off x="5792673" y="2599533"/>
            <a:ext cx="5023969" cy="1077218"/>
          </a:xfrm>
          <a:prstGeom prst="rect">
            <a:avLst/>
          </a:prstGeom>
          <a:noFill/>
        </p:spPr>
        <p:txBody>
          <a:bodyPr wrap="square">
            <a:spAutoFit/>
          </a:bodyPr>
          <a:lstStyle/>
          <a:p>
            <a:pPr algn="l"/>
            <a:r>
              <a:rPr lang="en-US" sz="1600" b="0" noProof="0" dirty="0">
                <a:solidFill>
                  <a:schemeClr val="bg1"/>
                </a:solidFill>
                <a:latin typeface="Consolas" panose="020B0609020204030204" pitchFamily="49" charset="0"/>
              </a:rPr>
              <a:t>Engineer and Student Athlete With Background in Digital &amp; Healthcare Management Consulting, AI-first Startups and </a:t>
            </a:r>
            <a:r>
              <a:rPr lang="en-US" sz="1600" noProof="0" dirty="0">
                <a:solidFill>
                  <a:schemeClr val="bg1"/>
                </a:solidFill>
                <a:latin typeface="Consolas" panose="020B0609020204030204" pitchFamily="49" charset="0"/>
              </a:rPr>
              <a:t>M&amp;A at </a:t>
            </a:r>
            <a:r>
              <a:rPr lang="en-US" sz="1600" b="0" noProof="0" dirty="0">
                <a:solidFill>
                  <a:schemeClr val="bg1"/>
                </a:solidFill>
                <a:latin typeface="Consolas" panose="020B0609020204030204" pitchFamily="49" charset="0"/>
              </a:rPr>
              <a:t>Digital Health Corporate</a:t>
            </a:r>
          </a:p>
        </p:txBody>
      </p:sp>
      <p:pic>
        <p:nvPicPr>
          <p:cNvPr id="1026" name="Picture 2" descr="01 - Funding &amp; Investor Relations - LatAm Digital Report">
            <a:extLst>
              <a:ext uri="{FF2B5EF4-FFF2-40B4-BE49-F238E27FC236}">
                <a16:creationId xmlns:a16="http://schemas.microsoft.com/office/drawing/2014/main" id="{5F62A2AD-672D-4A17-FE51-138204A1DD6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80543" y="4049256"/>
            <a:ext cx="2480889" cy="7919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me - CEEPR">
            <a:extLst>
              <a:ext uri="{FF2B5EF4-FFF2-40B4-BE49-F238E27FC236}">
                <a16:creationId xmlns:a16="http://schemas.microsoft.com/office/drawing/2014/main" id="{9697E345-BD17-C8EE-F6D2-869A0CEA187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5164" y="4099727"/>
            <a:ext cx="1197763" cy="69101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eladoc Health logo in transparent PNG and vectorized SVG formats">
            <a:extLst>
              <a:ext uri="{FF2B5EF4-FFF2-40B4-BE49-F238E27FC236}">
                <a16:creationId xmlns:a16="http://schemas.microsoft.com/office/drawing/2014/main" id="{2A1D77E7-AAFD-3EB0-DF63-618D6CC978B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36575" y="5061684"/>
            <a:ext cx="1588570" cy="51587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FounderNest logo">
            <a:extLst>
              <a:ext uri="{FF2B5EF4-FFF2-40B4-BE49-F238E27FC236}">
                <a16:creationId xmlns:a16="http://schemas.microsoft.com/office/drawing/2014/main" id="{5D631508-7644-9C52-8F60-B6C245FDC87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49624" y="5019973"/>
            <a:ext cx="2711808" cy="599295"/>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00C2088C-B45F-157F-27E0-6405AF1B95BF}"/>
              </a:ext>
            </a:extLst>
          </p:cNvPr>
          <p:cNvSpPr txBox="1"/>
          <p:nvPr/>
        </p:nvSpPr>
        <p:spPr>
          <a:xfrm>
            <a:off x="11600254" y="6356866"/>
            <a:ext cx="361428"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pPr algn="r"/>
            <a:r>
              <a:rPr lang="en-US" b="0" noProof="0" dirty="0"/>
              <a:t>13</a:t>
            </a:r>
          </a:p>
        </p:txBody>
      </p:sp>
      <p:grpSp>
        <p:nvGrpSpPr>
          <p:cNvPr id="2" name="Group 1">
            <a:extLst>
              <a:ext uri="{FF2B5EF4-FFF2-40B4-BE49-F238E27FC236}">
                <a16:creationId xmlns:a16="http://schemas.microsoft.com/office/drawing/2014/main" id="{11444605-1752-AF38-42AB-BFD01AA5BD87}"/>
              </a:ext>
            </a:extLst>
          </p:cNvPr>
          <p:cNvGrpSpPr/>
          <p:nvPr/>
        </p:nvGrpSpPr>
        <p:grpSpPr>
          <a:xfrm>
            <a:off x="11321601" y="320040"/>
            <a:ext cx="640080" cy="640080"/>
            <a:chOff x="11094415" y="320040"/>
            <a:chExt cx="640080" cy="640080"/>
          </a:xfrm>
        </p:grpSpPr>
        <p:sp>
          <p:nvSpPr>
            <p:cNvPr id="3" name="Rounded Rectangle 1">
              <a:extLst>
                <a:ext uri="{FF2B5EF4-FFF2-40B4-BE49-F238E27FC236}">
                  <a16:creationId xmlns:a16="http://schemas.microsoft.com/office/drawing/2014/main" id="{7A7071EF-845A-2D79-25A9-2C700E014C8D}"/>
                </a:ext>
              </a:extLst>
            </p:cNvPr>
            <p:cNvSpPr/>
            <p:nvPr/>
          </p:nvSpPr>
          <p:spPr>
            <a:xfrm>
              <a:off x="11094415" y="320040"/>
              <a:ext cx="640080" cy="6400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34267697-80DA-CB96-F2FA-44790859B4BA}"/>
                </a:ext>
              </a:extLst>
            </p:cNvPr>
            <p:cNvSpPr/>
            <p:nvPr/>
          </p:nvSpPr>
          <p:spPr>
            <a:xfrm>
              <a:off x="11190427" y="716889"/>
              <a:ext cx="44805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4318FC4F-69E7-8019-2567-3278B487A57D}"/>
                </a:ext>
              </a:extLst>
            </p:cNvPr>
            <p:cNvSpPr/>
            <p:nvPr/>
          </p:nvSpPr>
          <p:spPr>
            <a:xfrm>
              <a:off x="11273637" y="588873"/>
              <a:ext cx="288036"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DD464075-DA1E-B952-C210-4FBAACBF5057}"/>
                </a:ext>
              </a:extLst>
            </p:cNvPr>
            <p:cNvSpPr/>
            <p:nvPr/>
          </p:nvSpPr>
          <p:spPr>
            <a:xfrm>
              <a:off x="11356847" y="460857"/>
              <a:ext cx="115214" cy="1024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4FDB2AE-D583-1E6A-64CD-367242BB0570}"/>
            </a:ext>
          </a:extLst>
        </p:cNvPr>
        <p:cNvGrpSpPr/>
        <p:nvPr/>
      </p:nvGrpSpPr>
      <p:grpSpPr>
        <a:xfrm>
          <a:off x="0" y="0"/>
          <a:ext cx="0" cy="0"/>
          <a:chOff x="0" y="0"/>
          <a:chExt cx="0" cy="0"/>
        </a:xfrm>
      </p:grpSpPr>
      <p:graphicFrame>
        <p:nvGraphicFramePr>
          <p:cNvPr id="31" name="think-cell data - do not delete" hidden="1">
            <a:extLst>
              <a:ext uri="{FF2B5EF4-FFF2-40B4-BE49-F238E27FC236}">
                <a16:creationId xmlns:a16="http://schemas.microsoft.com/office/drawing/2014/main" id="{328FF857-5651-58EA-E97B-2BB7E47CADE5}"/>
              </a:ext>
            </a:extLst>
          </p:cNvPr>
          <p:cNvGraphicFramePr>
            <a:graphicFrameLocks noChangeAspect="1"/>
          </p:cNvGraphicFramePr>
          <p:nvPr>
            <p:custDataLst>
              <p:tags r:id="rId2"/>
            </p:custDataLst>
            <p:extLst>
              <p:ext uri="{D42A27DB-BD31-4B8C-83A1-F6EECF244321}">
                <p14:modId xmlns:p14="http://schemas.microsoft.com/office/powerpoint/2010/main" val="13361749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31" name="think-cell data - do not delete" hidden="1">
                        <a:extLst>
                          <a:ext uri="{FF2B5EF4-FFF2-40B4-BE49-F238E27FC236}">
                            <a16:creationId xmlns:a16="http://schemas.microsoft.com/office/drawing/2014/main" id="{8CCC4C8B-0661-15B0-F558-90CC270A091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25B1DA2A-9A2B-3E94-250D-9E7B9C57076E}"/>
              </a:ext>
            </a:extLst>
          </p:cNvPr>
          <p:cNvSpPr>
            <a:spLocks/>
          </p:cNvSpPr>
          <p:nvPr/>
        </p:nvSpPr>
        <p:spPr>
          <a:xfrm>
            <a:off x="548640" y="3202260"/>
            <a:ext cx="5486400" cy="2835732"/>
          </a:xfrm>
          <a:prstGeom prst="rect">
            <a:avLst/>
          </a:prstGeom>
          <a:solidFill>
            <a:srgbClr val="141A00"/>
          </a:solidFill>
          <a:ln w="254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noProof="0" dirty="0"/>
          </a:p>
        </p:txBody>
      </p:sp>
      <p:sp>
        <p:nvSpPr>
          <p:cNvPr id="7" name="TextBox 6">
            <a:extLst>
              <a:ext uri="{FF2B5EF4-FFF2-40B4-BE49-F238E27FC236}">
                <a16:creationId xmlns:a16="http://schemas.microsoft.com/office/drawing/2014/main" id="{FAB00AAB-6AA1-89D7-61C8-41CD9057D993}"/>
              </a:ext>
            </a:extLst>
          </p:cNvPr>
          <p:cNvSpPr txBox="1"/>
          <p:nvPr/>
        </p:nvSpPr>
        <p:spPr>
          <a:xfrm>
            <a:off x="548640" y="320040"/>
            <a:ext cx="4572000" cy="307777"/>
          </a:xfrm>
          <a:prstGeom prst="rect">
            <a:avLst/>
          </a:prstGeom>
          <a:noFill/>
        </p:spPr>
        <p:txBody>
          <a:bodyPr wrap="square">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A78BFA"/>
                </a:solidFill>
                <a:effectLst/>
                <a:uLnTx/>
                <a:uFillTx/>
                <a:latin typeface="Consolas" panose="020B0609020204030204" pitchFamily="49" charset="0"/>
              </a:rPr>
              <a:t>// E</a:t>
            </a:r>
            <a:r>
              <a:rPr lang="en-US" sz="1400" b="1" noProof="0" dirty="0">
                <a:solidFill>
                  <a:srgbClr val="A78BFA"/>
                </a:solidFill>
                <a:latin typeface="Consolas" panose="020B0609020204030204" pitchFamily="49" charset="0"/>
              </a:rPr>
              <a:t>nd of Pitch Deck</a:t>
            </a:r>
            <a:endParaRPr kumimoji="0" lang="en-US" sz="1400" b="1" i="0" u="none" strike="noStrike" kern="1200" cap="none" spc="0" normalizeH="0" baseline="0" noProof="0" dirty="0">
              <a:ln>
                <a:noFill/>
              </a:ln>
              <a:solidFill>
                <a:srgbClr val="A78BFA"/>
              </a:solidFill>
              <a:effectLst/>
              <a:uLnTx/>
              <a:uFillTx/>
              <a:latin typeface="Consolas" panose="020B0609020204030204" pitchFamily="49" charset="0"/>
            </a:endParaRPr>
          </a:p>
        </p:txBody>
      </p:sp>
      <p:sp>
        <p:nvSpPr>
          <p:cNvPr id="8" name="TextBox 7">
            <a:extLst>
              <a:ext uri="{FF2B5EF4-FFF2-40B4-BE49-F238E27FC236}">
                <a16:creationId xmlns:a16="http://schemas.microsoft.com/office/drawing/2014/main" id="{71499789-F307-E7F4-8878-6BECF66ADCF3}"/>
              </a:ext>
            </a:extLst>
          </p:cNvPr>
          <p:cNvSpPr txBox="1">
            <a:spLocks/>
          </p:cNvSpPr>
          <p:nvPr/>
        </p:nvSpPr>
        <p:spPr>
          <a:xfrm>
            <a:off x="548640" y="640074"/>
            <a:ext cx="5486400" cy="2123658"/>
          </a:xfrm>
          <a:prstGeom prst="rect">
            <a:avLst/>
          </a:prstGeom>
          <a:noFill/>
        </p:spPr>
        <p:txBody>
          <a:bodyPr wrap="square">
            <a:no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rPr>
              <a:t>THANK YOU FOR READING THIS FAR!</a:t>
            </a:r>
          </a:p>
        </p:txBody>
      </p:sp>
      <p:sp>
        <p:nvSpPr>
          <p:cNvPr id="9" name="TextBox 8">
            <a:extLst>
              <a:ext uri="{FF2B5EF4-FFF2-40B4-BE49-F238E27FC236}">
                <a16:creationId xmlns:a16="http://schemas.microsoft.com/office/drawing/2014/main" id="{E3E1ADD9-7FFF-4B8D-3D2C-9F2A7025EEBA}"/>
              </a:ext>
            </a:extLst>
          </p:cNvPr>
          <p:cNvSpPr txBox="1"/>
          <p:nvPr/>
        </p:nvSpPr>
        <p:spPr>
          <a:xfrm>
            <a:off x="777240" y="3451274"/>
            <a:ext cx="5029200" cy="646331"/>
          </a:xfrm>
          <a:prstGeom prst="rect">
            <a:avLst/>
          </a:prstGeom>
          <a:noFill/>
        </p:spPr>
        <p:txBody>
          <a:bodyPr wrap="square">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strike="noStrike" kern="1200" cap="none" spc="0" normalizeH="0" baseline="0" noProof="0" dirty="0">
                <a:ln>
                  <a:noFill/>
                </a:ln>
                <a:solidFill>
                  <a:srgbClr val="CCFF00"/>
                </a:solidFill>
                <a:effectLst/>
                <a:uLnTx/>
                <a:uFillTx/>
                <a:latin typeface="Segoe UI Black" panose="020B0A02040204020203" pitchFamily="34" charset="0"/>
                <a:ea typeface="Segoe UI Black" panose="020B0A02040204020203" pitchFamily="34" charset="0"/>
              </a:rPr>
              <a:t>AXIOM FORGE </a:t>
            </a:r>
            <a:r>
              <a:rPr kumimoji="0" lang="en-US" strike="noStrike" kern="1200" cap="none" spc="0" normalizeH="0" baseline="0" noProof="0" dirty="0">
                <a:ln>
                  <a:noFill/>
                </a:ln>
                <a:solidFill>
                  <a:schemeClr val="bg1"/>
                </a:solidFill>
                <a:effectLst/>
                <a:uLnTx/>
                <a:uFillTx/>
                <a:latin typeface="Consolas" panose="020B0609020204030204" pitchFamily="49" charset="0"/>
              </a:rPr>
              <a:t>is ready to use. Join the closed beta to unlock the full system</a:t>
            </a:r>
          </a:p>
        </p:txBody>
      </p:sp>
      <p:sp>
        <p:nvSpPr>
          <p:cNvPr id="11" name="TextBox 10">
            <a:extLst>
              <a:ext uri="{FF2B5EF4-FFF2-40B4-BE49-F238E27FC236}">
                <a16:creationId xmlns:a16="http://schemas.microsoft.com/office/drawing/2014/main" id="{E16D7101-EB73-C039-ECA5-173802E8D56C}"/>
              </a:ext>
            </a:extLst>
          </p:cNvPr>
          <p:cNvSpPr txBox="1"/>
          <p:nvPr/>
        </p:nvSpPr>
        <p:spPr>
          <a:xfrm>
            <a:off x="6707273" y="640074"/>
            <a:ext cx="4936086" cy="338554"/>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CFF00"/>
                </a:solidFill>
                <a:effectLst/>
                <a:uLnTx/>
                <a:uFillTx/>
                <a:latin typeface="Consolas" panose="020B0609020204030204" pitchFamily="49" charset="0"/>
              </a:rPr>
              <a:t>// SPOILER ALERT: YOUR DAY 1 MINDSET PILL</a:t>
            </a:r>
          </a:p>
        </p:txBody>
      </p:sp>
      <p:sp>
        <p:nvSpPr>
          <p:cNvPr id="12" name="Rectangle 11">
            <a:extLst>
              <a:ext uri="{FF2B5EF4-FFF2-40B4-BE49-F238E27FC236}">
                <a16:creationId xmlns:a16="http://schemas.microsoft.com/office/drawing/2014/main" id="{7AC6DA51-76FC-308C-86A7-7D4A3CCE3309}"/>
              </a:ext>
            </a:extLst>
          </p:cNvPr>
          <p:cNvSpPr/>
          <p:nvPr/>
        </p:nvSpPr>
        <p:spPr>
          <a:xfrm>
            <a:off x="6857771" y="1923192"/>
            <a:ext cx="4785588" cy="4114800"/>
          </a:xfrm>
          <a:prstGeom prst="rect">
            <a:avLst/>
          </a:prstGeom>
          <a:solidFill>
            <a:srgbClr val="0A0A0A"/>
          </a:solidFill>
          <a:ln w="508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C958E4E5-C300-DB3F-934F-0BD58E6AA535}"/>
              </a:ext>
            </a:extLst>
          </p:cNvPr>
          <p:cNvSpPr>
            <a:spLocks/>
          </p:cNvSpPr>
          <p:nvPr/>
        </p:nvSpPr>
        <p:spPr>
          <a:xfrm>
            <a:off x="6857771" y="2654712"/>
            <a:ext cx="4785588" cy="25400"/>
          </a:xfrm>
          <a:prstGeom prst="rect">
            <a:avLst/>
          </a:prstGeom>
          <a:solidFill>
            <a:schemeClr val="bg1"/>
          </a:solidFill>
          <a:ln w="381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TextBox 13">
            <a:extLst>
              <a:ext uri="{FF2B5EF4-FFF2-40B4-BE49-F238E27FC236}">
                <a16:creationId xmlns:a16="http://schemas.microsoft.com/office/drawing/2014/main" id="{232944B1-68DB-AD69-C2B0-207119BCCC26}"/>
              </a:ext>
            </a:extLst>
          </p:cNvPr>
          <p:cNvSpPr txBox="1"/>
          <p:nvPr/>
        </p:nvSpPr>
        <p:spPr>
          <a:xfrm>
            <a:off x="6985590" y="2151792"/>
            <a:ext cx="4657769" cy="307777"/>
          </a:xfrm>
          <a:prstGeom prst="rect">
            <a:avLst/>
          </a:prstGeom>
          <a:noFill/>
        </p:spPr>
        <p:txBody>
          <a:bodyPr wrap="square">
            <a:spAutoFit/>
          </a:bodyPr>
          <a:lstStyle/>
          <a:p>
            <a:pPr lvl="0"/>
            <a:r>
              <a:rPr lang="en-US" sz="1400" b="1" noProof="0" dirty="0">
                <a:solidFill>
                  <a:srgbClr val="A78BFA"/>
                </a:solidFill>
                <a:latin typeface="Consolas" panose="020B0609020204030204" pitchFamily="49" charset="0"/>
              </a:rPr>
              <a:t>// </a:t>
            </a:r>
            <a:r>
              <a:rPr kumimoji="0" lang="en-US" sz="1400" b="1"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rPr>
              <a:t>DAILY </a:t>
            </a:r>
            <a:r>
              <a:rPr lang="en-US" sz="1400" b="1" noProof="0" dirty="0">
                <a:solidFill>
                  <a:schemeClr val="bg1"/>
                </a:solidFill>
                <a:latin typeface="Segoe UI Black" panose="020B0A02040204020203" pitchFamily="34" charset="0"/>
                <a:ea typeface="Segoe UI Black" panose="020B0A02040204020203" pitchFamily="34" charset="0"/>
              </a:rPr>
              <a:t>MINDSET PILL FROM TOP PERFORMERS</a:t>
            </a:r>
            <a:endParaRPr kumimoji="0" lang="en-US" sz="1400" b="1"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endParaRPr>
          </a:p>
        </p:txBody>
      </p:sp>
      <p:sp>
        <p:nvSpPr>
          <p:cNvPr id="16" name="TextBox 15">
            <a:extLst>
              <a:ext uri="{FF2B5EF4-FFF2-40B4-BE49-F238E27FC236}">
                <a16:creationId xmlns:a16="http://schemas.microsoft.com/office/drawing/2014/main" id="{4042C966-8728-92D0-9980-FA20094A3867}"/>
              </a:ext>
            </a:extLst>
          </p:cNvPr>
          <p:cNvSpPr txBox="1"/>
          <p:nvPr/>
        </p:nvSpPr>
        <p:spPr>
          <a:xfrm>
            <a:off x="7132091" y="2728086"/>
            <a:ext cx="482824" cy="707886"/>
          </a:xfrm>
          <a:prstGeom prst="rect">
            <a:avLst/>
          </a:prstGeom>
          <a:noFill/>
        </p:spPr>
        <p:txBody>
          <a:bodyPr wrap="none">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CCFF00"/>
                </a:solidFill>
                <a:effectLst/>
                <a:uLnTx/>
                <a:uFillTx/>
                <a:latin typeface="Segoe UI Black" panose="020B0A02040204020203" pitchFamily="34" charset="0"/>
                <a:ea typeface="Segoe UI Black" panose="020B0A02040204020203" pitchFamily="34" charset="0"/>
              </a:rPr>
              <a:t>"</a:t>
            </a:r>
          </a:p>
        </p:txBody>
      </p:sp>
      <p:sp>
        <p:nvSpPr>
          <p:cNvPr id="17" name="TextBox 16">
            <a:extLst>
              <a:ext uri="{FF2B5EF4-FFF2-40B4-BE49-F238E27FC236}">
                <a16:creationId xmlns:a16="http://schemas.microsoft.com/office/drawing/2014/main" id="{2F8A849D-00C4-B730-A29F-CDAAE8B12921}"/>
              </a:ext>
            </a:extLst>
          </p:cNvPr>
          <p:cNvSpPr txBox="1"/>
          <p:nvPr/>
        </p:nvSpPr>
        <p:spPr>
          <a:xfrm>
            <a:off x="7132091" y="3128791"/>
            <a:ext cx="4023360" cy="1815882"/>
          </a:xfrm>
          <a:prstGeom prst="rect">
            <a:avLst/>
          </a:prstGeom>
          <a:noFill/>
        </p:spPr>
        <p:txBody>
          <a:bodyPr wrap="square">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onsolas" panose="020B0609020204030204" pitchFamily="49" charset="0"/>
              </a:rPr>
              <a:t>HERE'S THE BIG CHALLENGE OF LIFE. YOU CAN HAVE MORE THAN YOU'VE GOT BECAUSE YOU CAN BECOME MORE THAN YOU ARE. AND OF COURSE THE OTHER SIDE OF THE COIN READS, UNLESS YOU CHANGE HOW YOU ARE, YOU'LL ALWAYS HAVE WHAT YOU GOT.</a:t>
            </a:r>
          </a:p>
        </p:txBody>
      </p:sp>
      <p:sp>
        <p:nvSpPr>
          <p:cNvPr id="18" name="TextBox 17">
            <a:extLst>
              <a:ext uri="{FF2B5EF4-FFF2-40B4-BE49-F238E27FC236}">
                <a16:creationId xmlns:a16="http://schemas.microsoft.com/office/drawing/2014/main" id="{A8CA5ECC-CDF1-0E24-22CF-256F2D7454A5}"/>
              </a:ext>
            </a:extLst>
          </p:cNvPr>
          <p:cNvSpPr txBox="1"/>
          <p:nvPr/>
        </p:nvSpPr>
        <p:spPr>
          <a:xfrm>
            <a:off x="7132091" y="4919206"/>
            <a:ext cx="4023360" cy="646331"/>
          </a:xfrm>
          <a:prstGeom prst="rect">
            <a:avLst/>
          </a:prstGeom>
          <a:noFill/>
        </p:spPr>
        <p:txBody>
          <a:bodyPr wrap="square">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0C0C0"/>
                </a:solidFill>
                <a:effectLst/>
                <a:uLnTx/>
                <a:uFillTx/>
                <a:latin typeface="Courier New"/>
                <a:ea typeface="+mn-ea"/>
                <a:cs typeface="+mn-cs"/>
              </a:rPr>
              <a:t>AND OF COURSE THE OTHER SIDE OF THE COIN READS, UNLESS YOU CHANGE HOW YOU ARE, YOU'LL ALWAYS HAVE WHAT YOU GOT.</a:t>
            </a:r>
          </a:p>
        </p:txBody>
      </p:sp>
      <p:sp>
        <p:nvSpPr>
          <p:cNvPr id="19" name="Rectangle 18">
            <a:extLst>
              <a:ext uri="{FF2B5EF4-FFF2-40B4-BE49-F238E27FC236}">
                <a16:creationId xmlns:a16="http://schemas.microsoft.com/office/drawing/2014/main" id="{3D7C4E20-BBAC-20C9-3C55-9F28E9F7F6FF}"/>
              </a:ext>
            </a:extLst>
          </p:cNvPr>
          <p:cNvSpPr/>
          <p:nvPr/>
        </p:nvSpPr>
        <p:spPr>
          <a:xfrm>
            <a:off x="7132091" y="5010646"/>
            <a:ext cx="4023360" cy="82296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E2A25FA4-222B-4495-A986-DB2E6A44BC03}"/>
              </a:ext>
            </a:extLst>
          </p:cNvPr>
          <p:cNvSpPr/>
          <p:nvPr/>
        </p:nvSpPr>
        <p:spPr>
          <a:xfrm>
            <a:off x="7132091" y="5010646"/>
            <a:ext cx="45720" cy="82296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F06498B3-9A79-9984-F064-ADE4FD6D7BD8}"/>
              </a:ext>
            </a:extLst>
          </p:cNvPr>
          <p:cNvSpPr/>
          <p:nvPr/>
        </p:nvSpPr>
        <p:spPr>
          <a:xfrm>
            <a:off x="7314971" y="5193526"/>
            <a:ext cx="457200" cy="457200"/>
          </a:xfrm>
          <a:prstGeom prst="rect">
            <a:avLst/>
          </a:prstGeom>
          <a:solidFill>
            <a:srgbClr val="A78B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CEF7C993-509F-4114-2EDC-D547EB22756C}"/>
              </a:ext>
            </a:extLst>
          </p:cNvPr>
          <p:cNvSpPr txBox="1"/>
          <p:nvPr/>
        </p:nvSpPr>
        <p:spPr>
          <a:xfrm>
            <a:off x="7314971" y="5283626"/>
            <a:ext cx="457200" cy="276999"/>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lack"/>
                <a:ea typeface="+mn-ea"/>
                <a:cs typeface="+mn-cs"/>
              </a:rPr>
              <a:t>JR</a:t>
            </a:r>
          </a:p>
        </p:txBody>
      </p:sp>
      <p:sp>
        <p:nvSpPr>
          <p:cNvPr id="23" name="TextBox 22">
            <a:extLst>
              <a:ext uri="{FF2B5EF4-FFF2-40B4-BE49-F238E27FC236}">
                <a16:creationId xmlns:a16="http://schemas.microsoft.com/office/drawing/2014/main" id="{C4D3E4C5-0599-E994-3698-2D738AB54E39}"/>
              </a:ext>
            </a:extLst>
          </p:cNvPr>
          <p:cNvSpPr txBox="1"/>
          <p:nvPr/>
        </p:nvSpPr>
        <p:spPr>
          <a:xfrm>
            <a:off x="7955051" y="5147806"/>
            <a:ext cx="1828800" cy="338554"/>
          </a:xfrm>
          <a:prstGeom prst="rect">
            <a:avLst/>
          </a:prstGeom>
          <a:noFill/>
        </p:spPr>
        <p:txBody>
          <a:bodyPr wrap="square">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Black" panose="020B0A02040204020203" pitchFamily="34" charset="0"/>
                <a:ea typeface="Segoe UI Black" panose="020B0A02040204020203" pitchFamily="34" charset="0"/>
              </a:rPr>
              <a:t>JIM ROHN</a:t>
            </a:r>
          </a:p>
        </p:txBody>
      </p:sp>
      <p:sp>
        <p:nvSpPr>
          <p:cNvPr id="24" name="TextBox 23">
            <a:extLst>
              <a:ext uri="{FF2B5EF4-FFF2-40B4-BE49-F238E27FC236}">
                <a16:creationId xmlns:a16="http://schemas.microsoft.com/office/drawing/2014/main" id="{8E711CF4-09F5-22B6-F917-67029BBDC01A}"/>
              </a:ext>
            </a:extLst>
          </p:cNvPr>
          <p:cNvSpPr txBox="1"/>
          <p:nvPr/>
        </p:nvSpPr>
        <p:spPr>
          <a:xfrm>
            <a:off x="7955050" y="5422126"/>
            <a:ext cx="2754859" cy="307777"/>
          </a:xfrm>
          <a:prstGeom prst="rect">
            <a:avLst/>
          </a:prstGeom>
          <a:noFill/>
        </p:spPr>
        <p:txBody>
          <a:bodyPr wrap="square">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C0C0"/>
                </a:solidFill>
                <a:effectLst/>
                <a:uLnTx/>
                <a:uFillTx/>
                <a:latin typeface="Consolas" panose="020B0609020204030204" pitchFamily="49" charset="0"/>
              </a:rPr>
              <a:t>ENTREPRENEUR &amp; SPEAKER</a:t>
            </a:r>
          </a:p>
        </p:txBody>
      </p:sp>
      <p:sp>
        <p:nvSpPr>
          <p:cNvPr id="26" name="Rectangle 25">
            <a:extLst>
              <a:ext uri="{FF2B5EF4-FFF2-40B4-BE49-F238E27FC236}">
                <a16:creationId xmlns:a16="http://schemas.microsoft.com/office/drawing/2014/main" id="{B272A993-1F19-CC9F-FE6C-BBF9444AD7C4}"/>
              </a:ext>
            </a:extLst>
          </p:cNvPr>
          <p:cNvSpPr>
            <a:spLocks/>
          </p:cNvSpPr>
          <p:nvPr/>
        </p:nvSpPr>
        <p:spPr>
          <a:xfrm>
            <a:off x="6857771" y="1191672"/>
            <a:ext cx="4785588" cy="731520"/>
          </a:xfrm>
          <a:prstGeom prst="rect">
            <a:avLst/>
          </a:prstGeom>
          <a:solidFill>
            <a:srgbClr val="0A0A0A"/>
          </a:solidFill>
          <a:ln w="508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 name="TextBox 26">
            <a:extLst>
              <a:ext uri="{FF2B5EF4-FFF2-40B4-BE49-F238E27FC236}">
                <a16:creationId xmlns:a16="http://schemas.microsoft.com/office/drawing/2014/main" id="{019F15FC-4B8D-6CC8-C2DC-F7EEF81FE7CF}"/>
              </a:ext>
            </a:extLst>
          </p:cNvPr>
          <p:cNvSpPr txBox="1"/>
          <p:nvPr/>
        </p:nvSpPr>
        <p:spPr>
          <a:xfrm>
            <a:off x="6985590" y="1326600"/>
            <a:ext cx="2978757" cy="461665"/>
          </a:xfrm>
          <a:prstGeom prst="rect">
            <a:avLst/>
          </a:prstGeom>
          <a:noFill/>
        </p:spPr>
        <p:txBody>
          <a:bodyPr wrap="square">
            <a:spAutoFit/>
          </a:bodyPr>
          <a:lstStyle/>
          <a:p>
            <a:pPr lvl="0"/>
            <a:r>
              <a:rPr lang="en-US" sz="2400" b="1" noProof="0" dirty="0">
                <a:solidFill>
                  <a:schemeClr val="bg1"/>
                </a:solidFill>
                <a:latin typeface="Segoe UI Black" panose="020B0A02040204020203" pitchFamily="34" charset="0"/>
                <a:ea typeface="Segoe UI Black" panose="020B0A02040204020203" pitchFamily="34" charset="0"/>
              </a:rPr>
              <a:t>MINDSET</a:t>
            </a:r>
            <a:endParaRPr kumimoji="0" lang="en-US" sz="2400" b="1" i="0" u="none" strike="noStrike" kern="1200" cap="none" spc="0" normalizeH="0" baseline="0" noProof="0" dirty="0">
              <a:ln>
                <a:noFill/>
              </a:ln>
              <a:solidFill>
                <a:schemeClr val="bg1"/>
              </a:solidFill>
              <a:effectLst/>
              <a:uLnTx/>
              <a:uFillTx/>
              <a:latin typeface="Segoe UI Black" panose="020B0A02040204020203" pitchFamily="34" charset="0"/>
              <a:ea typeface="Segoe UI Black" panose="020B0A02040204020203" pitchFamily="34" charset="0"/>
            </a:endParaRPr>
          </a:p>
        </p:txBody>
      </p:sp>
      <p:pic>
        <p:nvPicPr>
          <p:cNvPr id="29" name="Picture 28">
            <a:extLst>
              <a:ext uri="{FF2B5EF4-FFF2-40B4-BE49-F238E27FC236}">
                <a16:creationId xmlns:a16="http://schemas.microsoft.com/office/drawing/2014/main" id="{6E60E734-7FF1-301E-1D25-00F0C91B0D61}"/>
              </a:ext>
            </a:extLst>
          </p:cNvPr>
          <p:cNvPicPr>
            <a:picLocks noChangeAspect="1"/>
          </p:cNvPicPr>
          <p:nvPr/>
        </p:nvPicPr>
        <p:blipFill>
          <a:blip r:embed="rId7"/>
          <a:stretch>
            <a:fillRect/>
          </a:stretch>
        </p:blipFill>
        <p:spPr>
          <a:xfrm>
            <a:off x="11004953" y="1289598"/>
            <a:ext cx="511399" cy="535669"/>
          </a:xfrm>
          <a:prstGeom prst="rect">
            <a:avLst/>
          </a:prstGeom>
        </p:spPr>
      </p:pic>
      <p:sp>
        <p:nvSpPr>
          <p:cNvPr id="2" name="TextBox 1">
            <a:extLst>
              <a:ext uri="{FF2B5EF4-FFF2-40B4-BE49-F238E27FC236}">
                <a16:creationId xmlns:a16="http://schemas.microsoft.com/office/drawing/2014/main" id="{A900FFF9-A188-E2D0-E873-47AF94A22BB8}"/>
              </a:ext>
            </a:extLst>
          </p:cNvPr>
          <p:cNvSpPr txBox="1"/>
          <p:nvPr/>
        </p:nvSpPr>
        <p:spPr>
          <a:xfrm>
            <a:off x="11600254" y="6356866"/>
            <a:ext cx="361428" cy="276999"/>
          </a:xfrm>
          <a:prstGeom prst="rect">
            <a:avLst/>
          </a:prstGeom>
          <a:noFill/>
        </p:spPr>
        <p:txBody>
          <a:bodyPr wrap="square">
            <a:spAutoFit/>
          </a:bodyPr>
          <a:lstStyle>
            <a:defPPr>
              <a:defRPr lang="en-US"/>
            </a:defPPr>
            <a:lvl1pPr>
              <a:defRPr sz="1200" b="1">
                <a:solidFill>
                  <a:srgbClr val="FFFFFF"/>
                </a:solidFill>
                <a:latin typeface="Consolas" panose="020B0609020204030204" pitchFamily="49" charset="0"/>
              </a:defRPr>
            </a:lvl1pPr>
          </a:lstStyle>
          <a:p>
            <a:pPr algn="r"/>
            <a:r>
              <a:rPr lang="en-US" b="0" noProof="0" dirty="0"/>
              <a:t>14</a:t>
            </a:r>
          </a:p>
        </p:txBody>
      </p:sp>
      <p:grpSp>
        <p:nvGrpSpPr>
          <p:cNvPr id="37" name="Group 36">
            <a:extLst>
              <a:ext uri="{FF2B5EF4-FFF2-40B4-BE49-F238E27FC236}">
                <a16:creationId xmlns:a16="http://schemas.microsoft.com/office/drawing/2014/main" id="{2E26115B-3A1C-DB3E-78EB-C0C0A9A27969}"/>
              </a:ext>
            </a:extLst>
          </p:cNvPr>
          <p:cNvGrpSpPr/>
          <p:nvPr/>
        </p:nvGrpSpPr>
        <p:grpSpPr>
          <a:xfrm>
            <a:off x="1137806" y="4373478"/>
            <a:ext cx="4074565" cy="731520"/>
            <a:chOff x="1137806" y="4308999"/>
            <a:chExt cx="4074565" cy="731520"/>
          </a:xfrm>
        </p:grpSpPr>
        <p:sp>
          <p:nvSpPr>
            <p:cNvPr id="10" name="Rectangle 9">
              <a:hlinkClick r:id="rId8"/>
              <a:extLst>
                <a:ext uri="{FF2B5EF4-FFF2-40B4-BE49-F238E27FC236}">
                  <a16:creationId xmlns:a16="http://schemas.microsoft.com/office/drawing/2014/main" id="{8C609CE9-1515-B44F-A0DB-6C7B32FC0C9C}"/>
                </a:ext>
              </a:extLst>
            </p:cNvPr>
            <p:cNvSpPr/>
            <p:nvPr/>
          </p:nvSpPr>
          <p:spPr>
            <a:xfrm>
              <a:off x="1137806" y="4308999"/>
              <a:ext cx="2743200" cy="731520"/>
            </a:xfrm>
            <a:prstGeom prst="rect">
              <a:avLst/>
            </a:prstGeom>
            <a:solidFill>
              <a:srgbClr val="CCFF00"/>
            </a:solidFill>
            <a:ln w="12700">
              <a:solidFill>
                <a:srgbClr val="CC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noProof="0" dirty="0">
                  <a:solidFill>
                    <a:srgbClr val="000000"/>
                  </a:solidFill>
                  <a:latin typeface="Segoe UI Black" panose="020B0A02040204020203" pitchFamily="34" charset="0"/>
                  <a:ea typeface="Segoe UI Black" panose="020B0A02040204020203" pitchFamily="34" charset="0"/>
                </a:rPr>
                <a:t>TRY THE PROTOTYPE</a:t>
              </a:r>
            </a:p>
          </p:txBody>
        </p:sp>
        <p:grpSp>
          <p:nvGrpSpPr>
            <p:cNvPr id="35" name="Group 34">
              <a:extLst>
                <a:ext uri="{FF2B5EF4-FFF2-40B4-BE49-F238E27FC236}">
                  <a16:creationId xmlns:a16="http://schemas.microsoft.com/office/drawing/2014/main" id="{CED47004-0545-4841-1457-59BBCFD1EF7F}"/>
                </a:ext>
              </a:extLst>
            </p:cNvPr>
            <p:cNvGrpSpPr/>
            <p:nvPr/>
          </p:nvGrpSpPr>
          <p:grpSpPr>
            <a:xfrm>
              <a:off x="4480851" y="4308999"/>
              <a:ext cx="731520" cy="731520"/>
              <a:chOff x="4480851" y="4308999"/>
              <a:chExt cx="731520" cy="731520"/>
            </a:xfrm>
          </p:grpSpPr>
          <p:sp>
            <p:nvSpPr>
              <p:cNvPr id="6" name="Rounded Rectangle 1">
                <a:extLst>
                  <a:ext uri="{FF2B5EF4-FFF2-40B4-BE49-F238E27FC236}">
                    <a16:creationId xmlns:a16="http://schemas.microsoft.com/office/drawing/2014/main" id="{4923BA70-8A5F-0374-264D-70C0A7420C9C}"/>
                  </a:ext>
                </a:extLst>
              </p:cNvPr>
              <p:cNvSpPr/>
              <p:nvPr/>
            </p:nvSpPr>
            <p:spPr>
              <a:xfrm>
                <a:off x="4480851" y="4308999"/>
                <a:ext cx="731520" cy="73152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00436BD0-C53A-3A72-3019-57F3C9B58E07}"/>
                  </a:ext>
                </a:extLst>
              </p:cNvPr>
              <p:cNvSpPr/>
              <p:nvPr/>
            </p:nvSpPr>
            <p:spPr>
              <a:xfrm>
                <a:off x="4590579" y="4762541"/>
                <a:ext cx="512064" cy="11704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5" name="Rectangle 24">
                <a:hlinkClick r:id="rId8"/>
                <a:extLst>
                  <a:ext uri="{FF2B5EF4-FFF2-40B4-BE49-F238E27FC236}">
                    <a16:creationId xmlns:a16="http://schemas.microsoft.com/office/drawing/2014/main" id="{9472FCBB-5AE9-4C43-849A-08D653BC4606}"/>
                  </a:ext>
                </a:extLst>
              </p:cNvPr>
              <p:cNvSpPr/>
              <p:nvPr/>
            </p:nvSpPr>
            <p:spPr>
              <a:xfrm>
                <a:off x="4685676" y="4616237"/>
                <a:ext cx="329184" cy="11704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A17DAE7C-8AEB-A242-C84E-5B6CA3E2B869}"/>
                  </a:ext>
                </a:extLst>
              </p:cNvPr>
              <p:cNvSpPr/>
              <p:nvPr/>
            </p:nvSpPr>
            <p:spPr>
              <a:xfrm>
                <a:off x="4780773" y="4469933"/>
                <a:ext cx="131673" cy="11704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grpSp>
      <p:sp>
        <p:nvSpPr>
          <p:cNvPr id="32" name="TextBox 31">
            <a:extLst>
              <a:ext uri="{FF2B5EF4-FFF2-40B4-BE49-F238E27FC236}">
                <a16:creationId xmlns:a16="http://schemas.microsoft.com/office/drawing/2014/main" id="{D9CF2F2D-826F-48FA-8B5E-48092827DF74}"/>
              </a:ext>
            </a:extLst>
          </p:cNvPr>
          <p:cNvSpPr txBox="1"/>
          <p:nvPr/>
        </p:nvSpPr>
        <p:spPr>
          <a:xfrm>
            <a:off x="11053154" y="4558231"/>
            <a:ext cx="482824" cy="707886"/>
          </a:xfrm>
          <a:prstGeom prst="rect">
            <a:avLst/>
          </a:prstGeom>
          <a:noFill/>
        </p:spPr>
        <p:txBody>
          <a:bodyPr wrap="none">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CCFF00"/>
                </a:solidFill>
                <a:effectLst/>
                <a:uLnTx/>
                <a:uFillTx/>
                <a:latin typeface="Segoe UI Black" panose="020B0A02040204020203" pitchFamily="34" charset="0"/>
                <a:ea typeface="Segoe UI Black" panose="020B0A02040204020203" pitchFamily="34" charset="0"/>
              </a:rPr>
              <a:t>"</a:t>
            </a:r>
          </a:p>
        </p:txBody>
      </p:sp>
      <p:sp>
        <p:nvSpPr>
          <p:cNvPr id="36" name="TextBox 35">
            <a:hlinkClick r:id="rId8"/>
            <a:extLst>
              <a:ext uri="{FF2B5EF4-FFF2-40B4-BE49-F238E27FC236}">
                <a16:creationId xmlns:a16="http://schemas.microsoft.com/office/drawing/2014/main" id="{D8AA62F5-AEE3-672B-9684-6ED7D25912F6}"/>
              </a:ext>
            </a:extLst>
          </p:cNvPr>
          <p:cNvSpPr txBox="1"/>
          <p:nvPr/>
        </p:nvSpPr>
        <p:spPr>
          <a:xfrm>
            <a:off x="1553223" y="5380871"/>
            <a:ext cx="3477234" cy="369332"/>
          </a:xfrm>
          <a:prstGeom prst="rect">
            <a:avLst/>
          </a:prstGeom>
          <a:noFill/>
        </p:spPr>
        <p:txBody>
          <a:bodyPr wrap="none">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lang="en-US" noProof="0" dirty="0">
                <a:solidFill>
                  <a:schemeClr val="bg1"/>
                </a:solidFill>
                <a:latin typeface="Consolas" panose="020B0609020204030204" pitchFamily="49" charset="0"/>
              </a:rPr>
              <a:t>https://axiomforgeapp.com/</a:t>
            </a:r>
          </a:p>
        </p:txBody>
      </p:sp>
    </p:spTree>
    <p:custDataLst>
      <p:tags r:id="rId1"/>
    </p:custDataLst>
    <p:extLst>
      <p:ext uri="{BB962C8B-B14F-4D97-AF65-F5344CB8AC3E}">
        <p14:creationId xmlns:p14="http://schemas.microsoft.com/office/powerpoint/2010/main" val="1809994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9C50B82-9819-1939-7C97-2A2D9D09BF40}"/>
            </a:ext>
          </a:extLst>
        </p:cNvPr>
        <p:cNvGrpSpPr/>
        <p:nvPr/>
      </p:nvGrpSpPr>
      <p:grpSpPr>
        <a:xfrm>
          <a:off x="0" y="0"/>
          <a:ext cx="0" cy="0"/>
          <a:chOff x="0" y="0"/>
          <a:chExt cx="0" cy="0"/>
        </a:xfrm>
      </p:grpSpPr>
      <p:graphicFrame>
        <p:nvGraphicFramePr>
          <p:cNvPr id="31" name="think-cell data - do not delete" hidden="1">
            <a:extLst>
              <a:ext uri="{FF2B5EF4-FFF2-40B4-BE49-F238E27FC236}">
                <a16:creationId xmlns:a16="http://schemas.microsoft.com/office/drawing/2014/main" id="{AC2A8527-A12F-2FE2-DA01-8C01D680389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31" name="think-cell data - do not delete" hidden="1">
                        <a:extLst>
                          <a:ext uri="{FF2B5EF4-FFF2-40B4-BE49-F238E27FC236}">
                            <a16:creationId xmlns:a16="http://schemas.microsoft.com/office/drawing/2014/main" id="{328FF857-5651-58EA-E97B-2BB7E47CADE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3" name="Group 2">
            <a:extLst>
              <a:ext uri="{FF2B5EF4-FFF2-40B4-BE49-F238E27FC236}">
                <a16:creationId xmlns:a16="http://schemas.microsoft.com/office/drawing/2014/main" id="{A45AB129-C70B-46E6-71FA-F130FF506818}"/>
              </a:ext>
            </a:extLst>
          </p:cNvPr>
          <p:cNvGrpSpPr/>
          <p:nvPr/>
        </p:nvGrpSpPr>
        <p:grpSpPr>
          <a:xfrm>
            <a:off x="5397355" y="1775320"/>
            <a:ext cx="1396984" cy="1396984"/>
            <a:chOff x="5397355" y="892451"/>
            <a:chExt cx="1396984" cy="1396984"/>
          </a:xfrm>
        </p:grpSpPr>
        <p:sp>
          <p:nvSpPr>
            <p:cNvPr id="4" name="Rounded Rectangle 1">
              <a:extLst>
                <a:ext uri="{FF2B5EF4-FFF2-40B4-BE49-F238E27FC236}">
                  <a16:creationId xmlns:a16="http://schemas.microsoft.com/office/drawing/2014/main" id="{96D55E06-31FB-CEAA-1870-936F77C36D91}"/>
                </a:ext>
              </a:extLst>
            </p:cNvPr>
            <p:cNvSpPr/>
            <p:nvPr/>
          </p:nvSpPr>
          <p:spPr>
            <a:xfrm>
              <a:off x="5397355" y="892451"/>
              <a:ext cx="1396984" cy="1396984"/>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2A973702-636B-7D5F-7BE1-4037D8D2AA38}"/>
                </a:ext>
              </a:extLst>
            </p:cNvPr>
            <p:cNvSpPr/>
            <p:nvPr/>
          </p:nvSpPr>
          <p:spPr>
            <a:xfrm>
              <a:off x="5606903" y="1758580"/>
              <a:ext cx="977889" cy="223517"/>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3" name="Rectangle 32">
              <a:hlinkClick r:id="rId7"/>
              <a:extLst>
                <a:ext uri="{FF2B5EF4-FFF2-40B4-BE49-F238E27FC236}">
                  <a16:creationId xmlns:a16="http://schemas.microsoft.com/office/drawing/2014/main" id="{2517B420-B9A5-F87F-E3CC-4EBCBFF76A2F}"/>
                </a:ext>
              </a:extLst>
            </p:cNvPr>
            <p:cNvSpPr/>
            <p:nvPr/>
          </p:nvSpPr>
          <p:spPr>
            <a:xfrm>
              <a:off x="5788510" y="1479183"/>
              <a:ext cx="628643" cy="223517"/>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4" name="Rectangle 33">
              <a:extLst>
                <a:ext uri="{FF2B5EF4-FFF2-40B4-BE49-F238E27FC236}">
                  <a16:creationId xmlns:a16="http://schemas.microsoft.com/office/drawing/2014/main" id="{7C43B96F-5ED2-F1FA-6B46-BAF1CD098B60}"/>
                </a:ext>
              </a:extLst>
            </p:cNvPr>
            <p:cNvSpPr/>
            <p:nvPr/>
          </p:nvSpPr>
          <p:spPr>
            <a:xfrm>
              <a:off x="5970118" y="1199786"/>
              <a:ext cx="251457" cy="223517"/>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38" name="Rectangle 37">
            <a:extLst>
              <a:ext uri="{FF2B5EF4-FFF2-40B4-BE49-F238E27FC236}">
                <a16:creationId xmlns:a16="http://schemas.microsoft.com/office/drawing/2014/main" id="{30540FF7-02EC-B650-0EF6-D3AD1E062A9A}"/>
              </a:ext>
            </a:extLst>
          </p:cNvPr>
          <p:cNvSpPr/>
          <p:nvPr/>
        </p:nvSpPr>
        <p:spPr>
          <a:xfrm>
            <a:off x="2011680" y="4993088"/>
            <a:ext cx="8168335" cy="411480"/>
          </a:xfrm>
          <a:prstGeom prst="rect">
            <a:avLst/>
          </a:prstGeom>
          <a:solidFill>
            <a:srgbClr val="CC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noProof="0" dirty="0"/>
          </a:p>
        </p:txBody>
      </p:sp>
      <p:grpSp>
        <p:nvGrpSpPr>
          <p:cNvPr id="39" name="Group 38">
            <a:extLst>
              <a:ext uri="{FF2B5EF4-FFF2-40B4-BE49-F238E27FC236}">
                <a16:creationId xmlns:a16="http://schemas.microsoft.com/office/drawing/2014/main" id="{98AE3A8A-4608-8519-1699-4596F3C42E67}"/>
              </a:ext>
            </a:extLst>
          </p:cNvPr>
          <p:cNvGrpSpPr/>
          <p:nvPr/>
        </p:nvGrpSpPr>
        <p:grpSpPr>
          <a:xfrm>
            <a:off x="2420001" y="4529827"/>
            <a:ext cx="7351693" cy="914766"/>
            <a:chOff x="2420001" y="3219378"/>
            <a:chExt cx="7351693" cy="914766"/>
          </a:xfrm>
        </p:grpSpPr>
        <p:sp>
          <p:nvSpPr>
            <p:cNvPr id="40" name="TextBox 39">
              <a:extLst>
                <a:ext uri="{FF2B5EF4-FFF2-40B4-BE49-F238E27FC236}">
                  <a16:creationId xmlns:a16="http://schemas.microsoft.com/office/drawing/2014/main" id="{DC809DE4-786F-A33F-E947-D9F33AA987D3}"/>
                </a:ext>
              </a:extLst>
            </p:cNvPr>
            <p:cNvSpPr txBox="1"/>
            <p:nvPr/>
          </p:nvSpPr>
          <p:spPr>
            <a:xfrm>
              <a:off x="3193450" y="3219378"/>
              <a:ext cx="5804794" cy="461665"/>
            </a:xfrm>
            <a:prstGeom prst="rect">
              <a:avLst/>
            </a:prstGeom>
            <a:noFill/>
          </p:spPr>
          <p:txBody>
            <a:bodyPr wrap="none">
              <a:spAutoFit/>
            </a:bodyPr>
            <a:lstStyle/>
            <a:p>
              <a:pPr algn="ctr"/>
              <a:r>
                <a:rPr lang="en-US" sz="2400" b="0" noProof="0" dirty="0">
                  <a:solidFill>
                    <a:schemeClr val="bg1"/>
                  </a:solidFill>
                  <a:latin typeface="Segoe UI Black" panose="020B0A02040204020203" pitchFamily="34" charset="0"/>
                  <a:ea typeface="Segoe UI Black" panose="020B0A02040204020203" pitchFamily="34" charset="0"/>
                </a:rPr>
                <a:t>PRINCIPLES TURNED INTO PRACTICE</a:t>
              </a:r>
            </a:p>
          </p:txBody>
        </p:sp>
        <p:sp>
          <p:nvSpPr>
            <p:cNvPr id="41" name="TextBox 40">
              <a:extLst>
                <a:ext uri="{FF2B5EF4-FFF2-40B4-BE49-F238E27FC236}">
                  <a16:creationId xmlns:a16="http://schemas.microsoft.com/office/drawing/2014/main" id="{8C0120D2-FBA7-6F9F-3A57-6B29120A5781}"/>
                </a:ext>
              </a:extLst>
            </p:cNvPr>
            <p:cNvSpPr txBox="1"/>
            <p:nvPr/>
          </p:nvSpPr>
          <p:spPr>
            <a:xfrm>
              <a:off x="2420001" y="3672479"/>
              <a:ext cx="7351693" cy="461665"/>
            </a:xfrm>
            <a:prstGeom prst="rect">
              <a:avLst/>
            </a:prstGeom>
            <a:noFill/>
          </p:spPr>
          <p:txBody>
            <a:bodyPr wrap="none">
              <a:spAutoFit/>
            </a:bodyPr>
            <a:lstStyle/>
            <a:p>
              <a:pPr algn="ctr"/>
              <a:r>
                <a:rPr lang="en-US" sz="2400" b="1" noProof="0" dirty="0">
                  <a:solidFill>
                    <a:srgbClr val="000000"/>
                  </a:solidFill>
                  <a:latin typeface="Segoe UI Black" panose="020B0A02040204020203" pitchFamily="34" charset="0"/>
                  <a:ea typeface="Segoe UI Black" panose="020B0A02040204020203" pitchFamily="34" charset="0"/>
                </a:rPr>
                <a:t>ROUTINES THAT TURN INTENT INTO IDENTITY</a:t>
              </a:r>
            </a:p>
          </p:txBody>
        </p:sp>
      </p:grpSp>
      <p:sp>
        <p:nvSpPr>
          <p:cNvPr id="42" name="TextBox 41">
            <a:extLst>
              <a:ext uri="{FF2B5EF4-FFF2-40B4-BE49-F238E27FC236}">
                <a16:creationId xmlns:a16="http://schemas.microsoft.com/office/drawing/2014/main" id="{4087B077-4CD0-9C75-23C8-B7ED3ECD7D02}"/>
              </a:ext>
            </a:extLst>
          </p:cNvPr>
          <p:cNvSpPr txBox="1"/>
          <p:nvPr/>
        </p:nvSpPr>
        <p:spPr>
          <a:xfrm>
            <a:off x="3545310" y="3246551"/>
            <a:ext cx="5101076" cy="923330"/>
          </a:xfrm>
          <a:prstGeom prst="rect">
            <a:avLst/>
          </a:prstGeom>
          <a:noFill/>
        </p:spPr>
        <p:txBody>
          <a:bodyPr wrap="none">
            <a:spAutoFit/>
          </a:bodyPr>
          <a:lstStyle/>
          <a:p>
            <a:pPr algn="ctr"/>
            <a:r>
              <a:rPr lang="en-US" sz="5400" b="1" noProof="0" dirty="0">
                <a:solidFill>
                  <a:srgbClr val="FFFFFF"/>
                </a:solidFill>
                <a:latin typeface="Segoe UI Black" panose="020B0A02040204020203" pitchFamily="34" charset="0"/>
                <a:ea typeface="Segoe UI Black" panose="020B0A02040204020203" pitchFamily="34" charset="0"/>
              </a:rPr>
              <a:t>AXIOM FORGE</a:t>
            </a:r>
          </a:p>
        </p:txBody>
      </p:sp>
    </p:spTree>
    <p:custDataLst>
      <p:tags r:id="rId1"/>
    </p:custDataLst>
    <p:extLst>
      <p:ext uri="{BB962C8B-B14F-4D97-AF65-F5344CB8AC3E}">
        <p14:creationId xmlns:p14="http://schemas.microsoft.com/office/powerpoint/2010/main" val="16252578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INKEDPICTURESLINKREMOVED" val="Tru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SLIDELOOKUP" val="202601121302101832561"/>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SLIDELOOKUP" val="202601121302139462572"/>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SLIDELOOKUP" val="202601121302184062583"/>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SLIDELOOKUP" val="202601121302202502594"/>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SLIDELOOKUP" val="202601121302228582605"/>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SLIDELOOKUP" val="202601121315062732616"/>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SLIDELOOKUP" val="202601121315068842627"/>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SLIDELOOKUP" val="202601121315103542638"/>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SLIDELOOKUP" val="202601121907555142561"/>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SLIDELOOKUP" val="202601121907555142561"/>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SLIDELOOKUP" val="2026011213151201126510"/>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SLIDELOOKUP" val="202601121315113212649"/>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SLIDELOOKUP" val="2026011213162150726611"/>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SLIDELOOKUP" val="202601131118087222561"/>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SLIDELOOKUP" val="202601131118087222561"/>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3201</TotalTime>
  <Words>1762</Words>
  <Application>Microsoft Office PowerPoint</Application>
  <PresentationFormat>Widescreen</PresentationFormat>
  <Paragraphs>293</Paragraphs>
  <Slides>15</Slides>
  <Notes>15</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15</vt:i4>
      </vt:variant>
    </vt:vector>
  </HeadingPairs>
  <TitlesOfParts>
    <vt:vector size="28" baseType="lpstr">
      <vt:lpstr>Aptos</vt:lpstr>
      <vt:lpstr>Arial</vt:lpstr>
      <vt:lpstr>Arial Black</vt:lpstr>
      <vt:lpstr>Calibri</vt:lpstr>
      <vt:lpstr>Consolas</vt:lpstr>
      <vt:lpstr>Courier New</vt:lpstr>
      <vt:lpstr>Segoe UI</vt:lpstr>
      <vt:lpstr>Segoe UI Black</vt:lpstr>
      <vt:lpstr>Wingdings</vt:lpstr>
      <vt:lpstr>Office Theme</vt:lpstr>
      <vt:lpstr>1_Office Theme</vt:lpstr>
      <vt:lpstr>2_Office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Javier Serrano</dc:creator>
  <cp:keywords/>
  <dc:description>generated using python-pptx</dc:description>
  <cp:lastModifiedBy>Javier Serrano</cp:lastModifiedBy>
  <cp:revision>148</cp:revision>
  <dcterms:created xsi:type="dcterms:W3CDTF">2013-01-27T09:14:16Z</dcterms:created>
  <dcterms:modified xsi:type="dcterms:W3CDTF">2026-01-15T13:09:00Z</dcterms:modified>
  <cp:category/>
</cp:coreProperties>
</file>