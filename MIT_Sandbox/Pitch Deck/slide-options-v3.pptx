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0040"/>
            <a:ext cx="658368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SLIDE 8 - OPTION B: TIERED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Multiple Revenue Streams from Freemium to Enterprise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1094415" cy="12344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CCFF00"/>
                </a:solidFill>
                <a:latin typeface="Arial Black"/>
              </a:rPr>
              <a:t>Freemium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Everything you need to build habits: Tracking, streaks, morning &amp; evening routines, basic analytics, correlations, trends, sequences, and advanced dashboards.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CCFF00"/>
                </a:solidFill>
                <a:latin typeface="Arial"/>
              </a:rPr>
              <a:t>FREE FOREVER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2602153" cy="2011680"/>
          </a:xfrm>
          <a:prstGeom prst="rect">
            <a:avLst/>
          </a:prstGeom>
          <a:solidFill>
            <a:srgbClr val="0A0A0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75888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Arial"/>
              </a:rPr>
              <a:t>Coach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40"/>
            <a:ext cx="232783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AI-powered summaries and personalized habit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$4.99/mo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9393" y="3566160"/>
            <a:ext cx="2602153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6553" y="3675888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Content Packs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553" y="3977640"/>
            <a:ext cx="232783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Premium templates from top routine influencers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6553" y="5074920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$2.99/pack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147" y="3566160"/>
            <a:ext cx="2602153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7307" y="3675888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Teams / 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3977640"/>
            <a:ext cx="232783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Group dashboards for cohorts and clubs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5074920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$9.99/mo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0901" y="3566160"/>
            <a:ext cx="2602153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8061" y="3675888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Lifetime License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8061" y="3977640"/>
            <a:ext cx="232783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Permanent access to all pro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8061" y="5074920"/>
            <a:ext cx="23278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$49.99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0040"/>
            <a:ext cx="658368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SLIDE 8 - OPTION C: PRICING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Multiple Revenue Streams from Freemium to Enterprise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920240"/>
            <a:ext cx="1950643" cy="320040"/>
          </a:xfrm>
          <a:prstGeom prst="rect">
            <a:avLst/>
          </a:prstGeom>
          <a:solidFill>
            <a:srgbClr val="CCFF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Freemium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123" y="1920240"/>
            <a:ext cx="1950643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Coach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767" y="192024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Content Packs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411" y="192024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Habit Tracking &amp; Streaks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2402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1123" y="22402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1767" y="22402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411" y="22402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Morning &amp; Evening Routines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5603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1123" y="25603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1767" y="25603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411" y="25603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Correlations &amp; 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8803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91123" y="28803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41767" y="28803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411" y="28803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Advanced Dashboards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32004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1123" y="32004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41767" y="32004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411" y="32004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2044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AI Habit Recommendations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352044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123" y="352044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41767" y="352044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411" y="352044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4048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Premium Routine Templates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8404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91123" y="38404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1767" y="38404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411" y="384048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16052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Influencer Expert Programs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41605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91123" y="41605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1767" y="41605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92411" y="416052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8056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Group Dashboards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4805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91123" y="44805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41767" y="44805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666666"/>
                </a:solidFill>
                <a:latin typeface="Arial"/>
              </a:rP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411" y="448056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800600"/>
            <a:ext cx="32918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PRICE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48006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CCFF00"/>
                </a:solidFill>
                <a:latin typeface="Arial"/>
              </a:rPr>
              <a:t>FREE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91123" y="48006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A78BFA"/>
                </a:solidFill>
                <a:latin typeface="Arial"/>
              </a:rPr>
              <a:t>$4.99/mo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41767" y="48006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$2.99/pack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411" y="4800600"/>
            <a:ext cx="1950643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$9.99/mo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303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Lifetime License: $49.99 one-time for permanent access to all premium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0040"/>
            <a:ext cx="658368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SLIDE 9 - OPTION B: 6 BUCKETS (WITH TRAVEL)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Funding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$4,500 to Validate, Polish, and Launch to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3749039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CCFF00"/>
                </a:solidFill>
                <a:latin typeface="Arial Black"/>
              </a:rPr>
              <a:t>$4,500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574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Aligned with MIT Sandbox reimbursable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User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97480"/>
            <a:ext cx="5852160" cy="1828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2697480"/>
            <a:ext cx="1430528" cy="18288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651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$1100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62072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Run 40-60 customer discovery interviews with beta testers, including focus group sessions and small participation incentives.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Contractors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200400"/>
            <a:ext cx="5852160" cy="1828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3200400"/>
            <a:ext cx="1300480" cy="182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3154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$1000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64992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Hire UI/UX designer to polish onboarding flow and create professional marketing assets for App Store launch.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Software &amp; 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703320"/>
            <a:ext cx="5852160" cy="1828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68880" y="3703320"/>
            <a:ext cx="1040384" cy="182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$800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67912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Subscribe to analytics tools (Mixpanel/Amplitude), design software (Figma), and cover Firebase scaling costs during beta.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60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Marketing &amp;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206240"/>
            <a:ext cx="5852160" cy="1828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8880" y="4206240"/>
            <a:ext cx="780288" cy="182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9" y="4160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$600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70832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Launch targeted social media campaigns on Instagram/TikTok and create promotional video content for App Store listing.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Legal &amp; Compliance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4709160"/>
            <a:ext cx="5852160" cy="1828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4709160"/>
            <a:ext cx="650240" cy="182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19" y="4663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$500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73752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File for company incorporation, register as a legal entity, and secure registered agent services.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66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Travel &amp; Conferences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5212080"/>
            <a:ext cx="5852160" cy="18288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68880" y="5212080"/>
            <a:ext cx="650240" cy="18288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19" y="5166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$500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76672"/>
            <a:ext cx="107286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Attend wellness/productivity conferences to conduct customer research and connect with potential partners and influencers.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8064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Contractor spend within 25% cap. Legal within $1,000 cap. Conference fees within $500 cap. Travel requires pre-approved cost proposal per Sandbox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94415" y="320040"/>
            <a:ext cx="6400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90427" y="716889"/>
            <a:ext cx="44805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3637" y="588873"/>
            <a:ext cx="288036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6847" y="460857"/>
            <a:ext cx="115214" cy="1024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0040"/>
            <a:ext cx="658368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DEMO SLIDE - OPTION B: DEVICE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onsolas"/>
              </a:rPr>
              <a:t>// Product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 Black"/>
              </a:rPr>
              <a:t>Experience Axiom Forge in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Onboarding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0603" y="2468880"/>
            <a:ext cx="3108960" cy="27432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96363" y="2651760"/>
            <a:ext cx="2377440" cy="237744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86558" y="2841955"/>
            <a:ext cx="1997049" cy="1997049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8467" y="2889504"/>
            <a:ext cx="713232" cy="1188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242" y="3507638"/>
            <a:ext cx="665683" cy="66568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3105201" y="3694029"/>
            <a:ext cx="186391" cy="213018"/>
          </a:xfrm>
          <a:prstGeom prst="triangl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6363" y="45720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0C0C0"/>
                </a:solidFill>
                <a:latin typeface="Arial"/>
              </a:rPr>
              <a:t>Watch: 45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10312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 Black"/>
              </a:rPr>
              <a:t>App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131" y="2468880"/>
            <a:ext cx="3108960" cy="274320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7891" y="2651760"/>
            <a:ext cx="2377440" cy="237744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8086" y="2841955"/>
            <a:ext cx="1997049" cy="1997049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9995" y="2889504"/>
            <a:ext cx="713232" cy="1188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73769" y="3507638"/>
            <a:ext cx="665683" cy="66568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8926729" y="3694029"/>
            <a:ext cx="186391" cy="213018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7891" y="45720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0C0C0"/>
                </a:solidFill>
                <a:latin typeface="Arial"/>
              </a:rPr>
              <a:t>Watch: 2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Try It Yourself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rial"/>
              </a:rPr>
              <a:t>No download required - works in your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806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u="sng">
                <a:solidFill>
                  <a:srgbClr val="CCFF00"/>
                </a:solidFill>
                <a:latin typeface="Arial"/>
              </a:rPr>
              <a:t>Launch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