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C0C0C0"/>
                </a:solidFill>
              </a:rPr>
              <a:t>AXIOM 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9144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Axiom 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0"/>
            <a:ext cx="6675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C0C0C0"/>
                </a:solidFill>
              </a:rPr>
              <a:t>Principles turned into practice
Routines that turn intent into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3108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A78BFA"/>
                </a:solidFill>
              </a:rPr>
              <a:t>// MIT Sandbox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669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0C0C0"/>
                </a:solidFill>
              </a:rPr>
              <a:t>Working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669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0C0C0"/>
                </a:solidFill>
              </a:rPr>
              <a:t>January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5669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0C0C0"/>
                </a:solidFill>
              </a:rPr>
              <a:t>Funding Request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//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HABITS BREAK FOR PREDICTABLE REASONS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0000"/>
                </a:solidFill>
              </a:rPr>
              <a:t>Market 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3035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C0C0C0"/>
                </a:solidFill>
              </a:defRPr>
            </a:pPr>
            <a:r>
              <a:t>Blank-slate paralysis: users don't know what to track</a:t>
            </a:r>
          </a:p>
          <a:p>
            <a:pPr>
              <a:defRPr sz="1800" b="0">
                <a:solidFill>
                  <a:srgbClr val="C0C0C0"/>
                </a:solidFill>
              </a:defRPr>
            </a:pPr>
            <a:r>
              <a:t>Streak anxiety: one miss resets motivation</a:t>
            </a:r>
          </a:p>
          <a:p>
            <a:pPr>
              <a:defRPr sz="1800" b="0">
                <a:solidFill>
                  <a:srgbClr val="C0C0C0"/>
                </a:solidFill>
              </a:defRPr>
            </a:pPr>
            <a:r>
              <a:t>No insight: most apps show what, not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CCFF00"/>
                </a:solidFill>
              </a:rPr>
              <a:t>Opportunity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377440"/>
            <a:ext cx="5120640" cy="1828800"/>
          </a:xfrm>
          <a:prstGeom prst="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C0C0C0"/>
                </a:solidFill>
              </a:rPr>
              <a:t>0 competitors combine science-backed routines + behavioral insights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480560"/>
            <a:ext cx="5120640" cy="155448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57200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0C0C0"/>
                </a:solidFill>
              </a:rPr>
              <a:t>Gap: users want proven routines and explanations for success/failure.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//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AXIOM 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C0C0C0"/>
                </a:solidFill>
              </a:rPr>
              <a:t>A habit system built on evidence, reinforced by insight.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394960" cy="31089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Smart Routines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49377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C0C0C0"/>
                </a:solidFill>
              </a:defRPr>
            </a:pPr>
            <a:r>
              <a:t>Science-backed templates remove the blank slate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Morning + evening routines ready day one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Designed for real schedules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394960" cy="31089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7432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Behavioral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200400"/>
            <a:ext cx="49377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C0C0C0"/>
                </a:solidFill>
              </a:defRPr>
            </a:pPr>
            <a:r>
              <a:t>Correlation + weekday patterns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Trend signals and anomaly detection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Insight summaries from real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//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WORKING PRODUCT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3035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C0C0C0"/>
                </a:solidFill>
              </a:defRPr>
            </a:pPr>
            <a:r>
              <a:t>PWA with Firebase auth + sync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Morning &amp; evening routines with daily check-ins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Dashboard with streaks, heatmap, completion rates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Smart Insights engine (correlation, trends, anomalies)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Mindset journal with quotes + reflections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377440"/>
            <a:ext cx="512064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0C0C0"/>
                </a:solidFill>
              </a:rPr>
              <a:t>Validated with several early users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840480"/>
            <a:ext cx="5120640" cy="164592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02336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C0C0C0"/>
                </a:solidFill>
              </a:rPr>
              <a:t>Next: 40-60 interviews + beta cohort to confirm retention and pricing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//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IMPLEMENTED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657600" cy="3566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Core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0C0C0"/>
                </a:solidFill>
              </a:defRPr>
            </a:pPr>
            <a:r>
              <a:t>Morning + evening habit sets</a:t>
            </a:r>
          </a:p>
          <a:p>
            <a:pPr>
              <a:defRPr sz="1500" b="0">
                <a:solidFill>
                  <a:srgbClr val="C0C0C0"/>
                </a:solidFill>
              </a:defRPr>
            </a:pPr>
            <a:r>
              <a:t>Daily check-ins</a:t>
            </a:r>
          </a:p>
          <a:p>
            <a:pPr>
              <a:defRPr sz="1500" b="0">
                <a:solidFill>
                  <a:srgbClr val="C0C0C0"/>
                </a:solidFill>
              </a:defRPr>
            </a:pPr>
            <a:r>
              <a:t>Flexible weekly goals</a:t>
            </a:r>
          </a:p>
          <a:p>
            <a:pPr>
              <a:defRPr sz="1500" b="0">
                <a:solidFill>
                  <a:srgbClr val="C0C0C0"/>
                </a:solidFill>
              </a:defRPr>
            </a:pPr>
            <a:r>
              <a:t>Editable habits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011680"/>
            <a:ext cx="3657600" cy="3566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1945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Insights +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5176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0C0C0"/>
                </a:solidFill>
              </a:defRPr>
            </a:pPr>
            <a:r>
              <a:t>Completion rates + streaks</a:t>
            </a:r>
          </a:p>
          <a:p>
            <a:pPr>
              <a:defRPr sz="1500" b="0">
                <a:solidFill>
                  <a:srgbClr val="C0C0C0"/>
                </a:solidFill>
              </a:defRPr>
            </a:pPr>
            <a:r>
              <a:t>Calendar heatmap</a:t>
            </a:r>
          </a:p>
          <a:p>
            <a:pPr>
              <a:defRPr sz="1500" b="0">
                <a:solidFill>
                  <a:srgbClr val="C0C0C0"/>
                </a:solidFill>
              </a:defRPr>
            </a:pPr>
            <a:r>
              <a:t>Correlation + weekday patterns</a:t>
            </a:r>
          </a:p>
          <a:p>
            <a:pPr>
              <a:defRPr sz="1500" b="0">
                <a:solidFill>
                  <a:srgbClr val="C0C0C0"/>
                </a:solidFill>
              </a:defRPr>
            </a:pPr>
            <a:r>
              <a:t>Trend + anomaly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011680"/>
            <a:ext cx="3566160" cy="3566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945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Mindset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651760"/>
            <a:ext cx="3108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0C0C0"/>
                </a:solidFill>
              </a:defRPr>
            </a:pPr>
            <a:r>
              <a:t>Daily quote prompts</a:t>
            </a:r>
          </a:p>
          <a:p>
            <a:pPr>
              <a:defRPr sz="1500" b="0">
                <a:solidFill>
                  <a:srgbClr val="C0C0C0"/>
                </a:solidFill>
              </a:defRPr>
            </a:pPr>
            <a:r>
              <a:t>Reflection journaling</a:t>
            </a:r>
          </a:p>
          <a:p>
            <a:pPr>
              <a:defRPr sz="1500" b="0">
                <a:solidFill>
                  <a:srgbClr val="C0C0C0"/>
                </a:solidFill>
              </a:defRPr>
            </a:pPr>
            <a:r>
              <a:t>Rating + archive</a:t>
            </a:r>
          </a:p>
          <a:p>
            <a:pPr>
              <a:defRPr sz="1500" b="0">
                <a:solidFill>
                  <a:srgbClr val="C0C0C0"/>
                </a:solidFill>
              </a:defRPr>
            </a:pPr>
            <a:r>
              <a:t>Calendar navigation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852160"/>
            <a:ext cx="11064240" cy="731520"/>
          </a:xfrm>
          <a:prstGeom prst="rect">
            <a:avLst/>
          </a:prstGeom>
          <a:solidFill>
            <a:srgbClr val="00000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0C0C0"/>
                </a:solidFill>
              </a:rPr>
              <a:t>Platform: Installable PWA, offline-ready, cloud sync, cross-device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//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FEATURE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C0C0C0"/>
                </a:solidFill>
              </a:rPr>
              <a:t>Axiom Forge pairs evidence-based routines with automated behavioral insights.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972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C0C0C0"/>
                </a:solidFill>
              </a:defRPr>
            </a:pPr>
            <a:r>
              <a:t>Streaks: no templates, no insights, iOS only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Habitica: gamified, basic stats, not insight-driven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Loop: good analytics, no templates, Android only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Habitify: limited insights, no templates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Axiom Forge: evidence-based routines + full analysis + cross-platform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//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WHY USERS STAY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3566160" cy="201168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Clarity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0C0C0"/>
                </a:solidFill>
              </a:rPr>
              <a:t>Start with proven routines instead of guessing.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194560"/>
            <a:ext cx="3566160" cy="2011680"/>
          </a:xfrm>
          <a:prstGeom prst="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3774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834640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0C0C0"/>
                </a:solidFill>
              </a:rPr>
              <a:t>Understand patterns, triggers, and correlations.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194560"/>
            <a:ext cx="3566160" cy="201168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3774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Momentum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34640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0C0C0"/>
                </a:solidFill>
              </a:rPr>
              <a:t>Flexible streaks and mindset prompts keep users moving.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937760"/>
            <a:ext cx="1106424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C0C0C0"/>
                </a:solidFill>
              </a:rPr>
              <a:t>One app: from routine setup to insight-driven growth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//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MONETIZATION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394960" cy="347472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8463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C0C0C0"/>
                </a:solidFill>
              </a:defRPr>
            </a:pPr>
            <a:r>
              <a:t>Freemium core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Insights Pro tier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Coach layer (AI summaries)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Content packs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5394960" cy="347472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8463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C0C0C0"/>
                </a:solidFill>
              </a:defRPr>
            </a:pPr>
            <a:r>
              <a:t>Teams / campus plans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Lifetime license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Partner programs</a:t>
            </a:r>
          </a:p>
          <a:p>
            <a:pPr>
              <a:defRPr sz="1600" b="0">
                <a:solidFill>
                  <a:srgbClr val="C0C0C0"/>
                </a:solidFill>
              </a:defRPr>
            </a:pPr>
            <a:r>
              <a:t>Future: health API integrations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//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90-DAY LAUNCH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CCFF00"/>
                </a:solidFill>
              </a:rPr>
              <a:t>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474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0C0C0"/>
                </a:solidFill>
              </a:defRPr>
            </a:pPr>
            <a:r>
              <a:t>40-60 interviews</a:t>
            </a:r>
          </a:p>
          <a:p>
            <a:pPr>
              <a:defRPr sz="1500" b="0">
                <a:solidFill>
                  <a:srgbClr val="C0C0C0"/>
                </a:solidFill>
              </a:defRPr>
            </a:pPr>
            <a:r>
              <a:t>Beta cohort</a:t>
            </a:r>
          </a:p>
          <a:p>
            <a:pPr>
              <a:defRPr sz="1500" b="0">
                <a:solidFill>
                  <a:srgbClr val="C0C0C0"/>
                </a:solidFill>
              </a:defRPr>
            </a:pPr>
            <a:r>
              <a:t>Pricing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Polish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286000"/>
            <a:ext cx="3474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0C0C0"/>
                </a:solidFill>
              </a:defRPr>
            </a:pPr>
            <a:r>
              <a:t>Refine insights UI</a:t>
            </a:r>
          </a:p>
          <a:p>
            <a:pPr>
              <a:defRPr sz="1500" b="0">
                <a:solidFill>
                  <a:srgbClr val="C0C0C0"/>
                </a:solidFill>
              </a:defRPr>
            </a:pPr>
            <a:r>
              <a:t>Performance + onboarding</a:t>
            </a:r>
          </a:p>
          <a:p>
            <a:pPr>
              <a:defRPr sz="1500" b="0">
                <a:solidFill>
                  <a:srgbClr val="C0C0C0"/>
                </a:solidFill>
              </a:defRPr>
            </a:pPr>
            <a:r>
              <a:t>Brand assets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86000"/>
            <a:ext cx="3474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0C0C0"/>
                </a:solidFill>
              </a:defRPr>
            </a:pPr>
            <a:r>
              <a:t>App Store packaging</a:t>
            </a:r>
          </a:p>
          <a:p>
            <a:pPr>
              <a:defRPr sz="1500" b="0">
                <a:solidFill>
                  <a:srgbClr val="C0C0C0"/>
                </a:solidFill>
              </a:defRPr>
            </a:pPr>
            <a:r>
              <a:t>Public release</a:t>
            </a:r>
          </a:p>
          <a:p>
            <a:pPr>
              <a:defRPr sz="1500" b="0">
                <a:solidFill>
                  <a:srgbClr val="C0C0C0"/>
                </a:solidFill>
              </a:defRPr>
            </a:pPr>
            <a:r>
              <a:t>Post-launch analytics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937760"/>
            <a:ext cx="11064240" cy="1097280"/>
          </a:xfrm>
          <a:prstGeom prst="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C0C0C0"/>
                </a:solidFill>
              </a:rPr>
              <a:t>Q1 2026 App Store Launch Target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// FUNDING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$4,500 BUDGET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C0C0C0"/>
                </a:solidFill>
              </a:rPr>
              <a:t>Aligned with MIT Sandbox reimbursable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User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514600"/>
            <a:ext cx="640080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2514600"/>
            <a:ext cx="6400800" cy="27432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$1,200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Contractors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3246120"/>
            <a:ext cx="640080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3246120"/>
            <a:ext cx="5334000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3200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$1,000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Software &amp;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3977640"/>
            <a:ext cx="640080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3977640"/>
            <a:ext cx="4800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$900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Marketing &amp; Launch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4709160"/>
            <a:ext cx="640080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4709160"/>
            <a:ext cx="4267199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4663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$800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Legal &amp; Compliance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5440680"/>
            <a:ext cx="640080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0" y="5440680"/>
            <a:ext cx="3200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53949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$600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760720"/>
            <a:ext cx="11064240" cy="8229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8978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</a:rPr>
              <a:t>Contractor spend stays within the 25% cap. Research incentives and software follow MIT Sandbox guidelines.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//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FUND THE LAUNCH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394960" cy="2377440"/>
          </a:xfrm>
          <a:prstGeom prst="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CCFF00"/>
                </a:solidFill>
              </a:rPr>
              <a:t>$4,500 MIT Sandbox Funding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394960" cy="237744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Outcomes in 90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4846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0C0C0"/>
                </a:solidFill>
              </a:defRPr>
            </a:pPr>
            <a:r>
              <a:t>Validated product-market fit signals</a:t>
            </a:r>
          </a:p>
          <a:p>
            <a:pPr>
              <a:defRPr sz="1500" b="0">
                <a:solidFill>
                  <a:srgbClr val="C0C0C0"/>
                </a:solidFill>
              </a:defRPr>
            </a:pPr>
            <a:r>
              <a:t>App Store-ready release</a:t>
            </a:r>
          </a:p>
          <a:p>
            <a:pPr>
              <a:defRPr sz="1500" b="0">
                <a:solidFill>
                  <a:srgbClr val="C0C0C0"/>
                </a:solidFill>
              </a:defRPr>
            </a:pPr>
            <a:r>
              <a:t>Retention + monetization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937760"/>
            <a:ext cx="11064240" cy="1280160"/>
          </a:xfrm>
          <a:prstGeom prst="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Axiom Forge turns intent into identity.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