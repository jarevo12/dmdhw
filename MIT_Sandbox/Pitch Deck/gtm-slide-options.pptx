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0"/>
            <a:ext cx="110944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 Black"/>
              </a:rPr>
              <a:t>Go-to-Market Slide 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C0C0C0"/>
                </a:solidFill>
                <a:latin typeface="Arial"/>
              </a:rPr>
              <a:t>5 different approaches for reaching your first 40-60 beta users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CFF00"/>
                </a:solidFill>
                <a:latin typeface="Arial"/>
              </a:rPr>
              <a:t>Navigate through the options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185855" y="365760"/>
            <a:ext cx="457200" cy="45720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254435" y="649224"/>
            <a:ext cx="320040" cy="731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13871" y="557784"/>
            <a:ext cx="205740" cy="731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373307" y="466344"/>
            <a:ext cx="82296" cy="731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78BFA"/>
                </a:solidFill>
                <a:latin typeface="Courier New"/>
              </a:rPr>
              <a:t>// GO-TO-MARKET / OPTION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3152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 Black"/>
              </a:rPr>
              <a:t>4-Channel Beta Recruitment Strategy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2567863" cy="3200400"/>
          </a:xfrm>
          <a:prstGeom prst="rect">
            <a:avLst/>
          </a:prstGeom>
          <a:solidFill>
            <a:srgbClr val="141900"/>
          </a:solidFill>
          <a:ln w="25400">
            <a:solidFill>
              <a:srgbClr val="CC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256786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CCFF00"/>
                </a:solidFill>
                <a:latin typeface="Arial Black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2202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 Black"/>
              </a:rPr>
              <a:t>MIT CAMPUS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08960"/>
            <a:ext cx="2202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FF00"/>
                </a:solidFill>
                <a:latin typeface="Arial"/>
              </a:rPr>
              <a:t>Target: 15-20 users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383280"/>
            <a:ext cx="2384983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100">
                <a:solidFill>
                  <a:srgbClr val="C0C0C0"/>
                </a:solidFill>
                <a:latin typeface="Arial"/>
              </a:defRPr>
            </a:pPr>
            <a:r>
              <a:t>Dorm workshops</a:t>
            </a:r>
          </a:p>
          <a:p>
            <a:pPr>
              <a:spcBef>
                <a:spcPts val="600"/>
              </a:spcBef>
              <a:defRPr sz="1100">
                <a:solidFill>
                  <a:srgbClr val="C0C0C0"/>
                </a:solidFill>
                <a:latin typeface="Arial"/>
              </a:defRPr>
            </a:pPr>
            <a:r>
              <a:t>Student group demos</a:t>
            </a:r>
          </a:p>
          <a:p>
            <a:pPr>
              <a:spcBef>
                <a:spcPts val="600"/>
              </a:spcBef>
              <a:defRPr sz="1100">
                <a:solidFill>
                  <a:srgbClr val="C0C0C0"/>
                </a:solidFill>
                <a:latin typeface="Arial"/>
              </a:defRPr>
            </a:pPr>
            <a:r>
              <a:t>Campus email blast</a:t>
            </a:r>
          </a:p>
          <a:p>
            <a:pPr>
              <a:spcBef>
                <a:spcPts val="600"/>
              </a:spcBef>
              <a:defRPr sz="1100">
                <a:solidFill>
                  <a:srgbClr val="C0C0C0"/>
                </a:solidFill>
                <a:latin typeface="Arial"/>
              </a:defRPr>
            </a:pPr>
            <a:r>
              <a:t>Friend referrals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0823" y="2011680"/>
            <a:ext cx="2567863" cy="3200400"/>
          </a:xfrm>
          <a:prstGeom prst="rect">
            <a:avLst/>
          </a:prstGeom>
          <a:solidFill>
            <a:srgbClr val="100E19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73703" y="2194560"/>
            <a:ext cx="256786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CCFF00"/>
                </a:solidFill>
                <a:latin typeface="Arial Black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73703" y="2743200"/>
            <a:ext cx="2202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 Black"/>
              </a:rPr>
              <a:t>ONLINE COMMUNITIES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73703" y="3108960"/>
            <a:ext cx="2202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FF00"/>
                </a:solidFill>
                <a:latin typeface="Arial"/>
              </a:rPr>
              <a:t>Target: 15-20 users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82263" y="3383280"/>
            <a:ext cx="2384983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100">
                <a:solidFill>
                  <a:srgbClr val="C0C0C0"/>
                </a:solidFill>
                <a:latin typeface="Arial"/>
              </a:defRPr>
            </a:pPr>
            <a:r>
              <a:t>r/productivity</a:t>
            </a:r>
          </a:p>
          <a:p>
            <a:pPr>
              <a:spcBef>
                <a:spcPts val="600"/>
              </a:spcBef>
              <a:defRPr sz="1100">
                <a:solidFill>
                  <a:srgbClr val="C0C0C0"/>
                </a:solidFill>
                <a:latin typeface="Arial"/>
              </a:defRPr>
            </a:pPr>
            <a:r>
              <a:t>r/getdisciplined</a:t>
            </a:r>
          </a:p>
          <a:p>
            <a:pPr>
              <a:spcBef>
                <a:spcPts val="600"/>
              </a:spcBef>
              <a:defRPr sz="1100">
                <a:solidFill>
                  <a:srgbClr val="C0C0C0"/>
                </a:solidFill>
                <a:latin typeface="Arial"/>
              </a:defRPr>
            </a:pPr>
            <a:r>
              <a:t>Indie Hackers</a:t>
            </a:r>
          </a:p>
          <a:p>
            <a:pPr>
              <a:spcBef>
                <a:spcPts val="600"/>
              </a:spcBef>
              <a:defRPr sz="1100">
                <a:solidFill>
                  <a:srgbClr val="C0C0C0"/>
                </a:solidFill>
                <a:latin typeface="Arial"/>
              </a:defRPr>
            </a:pPr>
            <a:r>
              <a:t>Discord servers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2011680"/>
            <a:ext cx="2567863" cy="3200400"/>
          </a:xfrm>
          <a:prstGeom prst="rect">
            <a:avLst/>
          </a:prstGeom>
          <a:solidFill>
            <a:srgbClr val="100E19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5887" y="2194560"/>
            <a:ext cx="256786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CCFF00"/>
                </a:solidFill>
                <a:latin typeface="Arial Black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5887" y="2743200"/>
            <a:ext cx="2202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 Black"/>
              </a:rPr>
              <a:t>CONTENT MARKETING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5887" y="3108960"/>
            <a:ext cx="2202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FF00"/>
                </a:solidFill>
                <a:latin typeface="Arial"/>
              </a:rPr>
              <a:t>Target: 10-15 users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4447" y="3383280"/>
            <a:ext cx="2384983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100">
                <a:solidFill>
                  <a:srgbClr val="C0C0C0"/>
                </a:solidFill>
                <a:latin typeface="Arial"/>
              </a:defRPr>
            </a:pPr>
            <a:r>
              <a:t>2-3 TikToks/week</a:t>
            </a:r>
          </a:p>
          <a:p>
            <a:pPr>
              <a:spcBef>
                <a:spcPts val="600"/>
              </a:spcBef>
              <a:defRPr sz="1100">
                <a:solidFill>
                  <a:srgbClr val="C0C0C0"/>
                </a:solidFill>
                <a:latin typeface="Arial"/>
              </a:defRPr>
            </a:pPr>
            <a:r>
              <a:t>Problem-solution posts</a:t>
            </a:r>
          </a:p>
          <a:p>
            <a:pPr>
              <a:spcBef>
                <a:spcPts val="600"/>
              </a:spcBef>
              <a:defRPr sz="1100">
                <a:solidFill>
                  <a:srgbClr val="C0C0C0"/>
                </a:solidFill>
                <a:latin typeface="Arial"/>
              </a:defRPr>
            </a:pPr>
            <a:r>
              <a:t>Beta access CTA</a:t>
            </a:r>
          </a:p>
          <a:p>
            <a:pPr>
              <a:spcBef>
                <a:spcPts val="600"/>
              </a:spcBef>
              <a:defRPr sz="1100">
                <a:solidFill>
                  <a:srgbClr val="C0C0C0"/>
                </a:solidFill>
                <a:latin typeface="Arial"/>
              </a:defRPr>
            </a:pPr>
            <a:r>
              <a:t>Behind-the-scenes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75191" y="2011680"/>
            <a:ext cx="2567863" cy="3200400"/>
          </a:xfrm>
          <a:prstGeom prst="rect">
            <a:avLst/>
          </a:prstGeom>
          <a:noFill/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58071" y="2194560"/>
            <a:ext cx="256786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CCFF00"/>
                </a:solidFill>
                <a:latin typeface="Arial Black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2743200"/>
            <a:ext cx="2202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 Black"/>
              </a:rPr>
              <a:t>MICRO-INFLUENCERS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58071" y="3108960"/>
            <a:ext cx="2202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FF00"/>
                </a:solidFill>
                <a:latin typeface="Arial"/>
              </a:rPr>
              <a:t>Target: 5-10 users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6631" y="3383280"/>
            <a:ext cx="2384983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100">
                <a:solidFill>
                  <a:srgbClr val="C0C0C0"/>
                </a:solidFill>
                <a:latin typeface="Arial"/>
              </a:defRPr>
            </a:pPr>
            <a:r>
              <a:t>Reach out to 20</a:t>
            </a:r>
          </a:p>
          <a:p>
            <a:pPr>
              <a:spcBef>
                <a:spcPts val="600"/>
              </a:spcBef>
              <a:defRPr sz="1100">
                <a:solidFill>
                  <a:srgbClr val="C0C0C0"/>
                </a:solidFill>
                <a:latin typeface="Arial"/>
              </a:defRPr>
            </a:pPr>
            <a:r>
              <a:t>Early access offer</a:t>
            </a:r>
          </a:p>
          <a:p>
            <a:pPr>
              <a:spcBef>
                <a:spcPts val="600"/>
              </a:spcBef>
              <a:defRPr sz="1100">
                <a:solidFill>
                  <a:srgbClr val="C0C0C0"/>
                </a:solidFill>
                <a:latin typeface="Arial"/>
              </a:defRPr>
            </a:pPr>
            <a:r>
              <a:t>Feedback partnership</a:t>
            </a:r>
          </a:p>
          <a:p>
            <a:pPr>
              <a:spcBef>
                <a:spcPts val="600"/>
              </a:spcBef>
              <a:defRPr sz="1100">
                <a:solidFill>
                  <a:srgbClr val="C0C0C0"/>
                </a:solidFill>
                <a:latin typeface="Arial"/>
              </a:defRPr>
            </a:pPr>
            <a:r>
              <a:t>Organic mentions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577840"/>
            <a:ext cx="11094415" cy="731520"/>
          </a:xfrm>
          <a:prstGeom prst="rect">
            <a:avLst/>
          </a:prstGeom>
          <a:solidFill>
            <a:srgbClr val="141900"/>
          </a:solidFill>
          <a:ln w="25400">
            <a:solidFill>
              <a:srgbClr val="CC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76072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Parallel execution across 4 channels to reach 50+ beta users in 4-6 weeks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185855" y="365760"/>
            <a:ext cx="457200" cy="45720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254435" y="649224"/>
            <a:ext cx="320040" cy="731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13871" y="557784"/>
            <a:ext cx="205740" cy="731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373307" y="466344"/>
            <a:ext cx="82296" cy="731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78BFA"/>
                </a:solidFill>
                <a:latin typeface="Courier New"/>
              </a:rPr>
              <a:t>// GO-TO-MARKET / OPTION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3152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 Black"/>
              </a:rPr>
              <a:t>3-Phase Beta Launch Strategy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3698138" cy="2560320"/>
          </a:xfrm>
          <a:prstGeom prst="rect">
            <a:avLst/>
          </a:prstGeom>
          <a:solidFill>
            <a:srgbClr val="141900"/>
          </a:solidFill>
          <a:ln w="25400">
            <a:solidFill>
              <a:srgbClr val="CC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369813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CCFF00"/>
                </a:solidFill>
                <a:latin typeface="Arial Black"/>
              </a:rPr>
              <a:t>W1-2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369813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 Black"/>
              </a:rPr>
              <a:t>WARM NETWORK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17520"/>
            <a:ext cx="351525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200">
                <a:solidFill>
                  <a:srgbClr val="C0C0C0"/>
                </a:solidFill>
                <a:latin typeface="Arial"/>
              </a:defRPr>
            </a:pPr>
            <a:r>
              <a:t>MIT friends &amp; classmates</a:t>
            </a:r>
          </a:p>
          <a:p>
            <a:pPr>
              <a:spcBef>
                <a:spcPts val="600"/>
              </a:spcBef>
              <a:defRPr sz="1200">
                <a:solidFill>
                  <a:srgbClr val="C0C0C0"/>
                </a:solidFill>
                <a:latin typeface="Arial"/>
              </a:defRPr>
            </a:pPr>
            <a:r>
              <a:t>Personal social media</a:t>
            </a:r>
          </a:p>
          <a:p>
            <a:pPr>
              <a:spcBef>
                <a:spcPts val="600"/>
              </a:spcBef>
              <a:defRPr sz="1200">
                <a:solidFill>
                  <a:srgbClr val="C0C0C0"/>
                </a:solidFill>
                <a:latin typeface="Arial"/>
              </a:defRPr>
            </a:pPr>
            <a:r>
              <a:t>Direct outreach</a:t>
            </a:r>
          </a:p>
          <a:p>
            <a:pPr>
              <a:spcBef>
                <a:spcPts val="600"/>
              </a:spcBef>
              <a:defRPr sz="1200">
                <a:solidFill>
                  <a:srgbClr val="C0C0C0"/>
                </a:solidFill>
                <a:latin typeface="Arial"/>
              </a:defRPr>
            </a:pPr>
            <a:r>
              <a:t>Target: 15 users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46778" y="2011680"/>
            <a:ext cx="3698138" cy="2560320"/>
          </a:xfrm>
          <a:prstGeom prst="rect">
            <a:avLst/>
          </a:prstGeom>
          <a:noFill/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29658" y="2194560"/>
            <a:ext cx="369813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666666"/>
                </a:solidFill>
                <a:latin typeface="Arial Black"/>
              </a:rPr>
              <a:t>W3-4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9658" y="2743200"/>
            <a:ext cx="369813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 Black"/>
              </a:rPr>
              <a:t>COMMUNITY SEEDING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8218" y="3017520"/>
            <a:ext cx="351525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200">
                <a:solidFill>
                  <a:srgbClr val="C0C0C0"/>
                </a:solidFill>
                <a:latin typeface="Arial"/>
              </a:defRPr>
            </a:pPr>
            <a:r>
              <a:t>Reddit posts (5-8 subs)</a:t>
            </a:r>
          </a:p>
          <a:p>
            <a:pPr>
              <a:spcBef>
                <a:spcPts val="600"/>
              </a:spcBef>
              <a:defRPr sz="1200">
                <a:solidFill>
                  <a:srgbClr val="C0C0C0"/>
                </a:solidFill>
                <a:latin typeface="Arial"/>
              </a:defRPr>
            </a:pPr>
            <a:r>
              <a:t>ProductHunt 'coming soon'</a:t>
            </a:r>
          </a:p>
          <a:p>
            <a:pPr>
              <a:spcBef>
                <a:spcPts val="600"/>
              </a:spcBef>
              <a:defRPr sz="1200">
                <a:solidFill>
                  <a:srgbClr val="C0C0C0"/>
                </a:solidFill>
                <a:latin typeface="Arial"/>
              </a:defRPr>
            </a:pPr>
            <a:r>
              <a:t>Discord communities</a:t>
            </a:r>
          </a:p>
          <a:p>
            <a:pPr>
              <a:spcBef>
                <a:spcPts val="600"/>
              </a:spcBef>
              <a:defRPr sz="1200">
                <a:solidFill>
                  <a:srgbClr val="C0C0C0"/>
                </a:solidFill>
                <a:latin typeface="Arial"/>
              </a:defRPr>
            </a:pPr>
            <a:r>
              <a:t>Target: 20-25 users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44916" y="2011680"/>
            <a:ext cx="3698138" cy="2560320"/>
          </a:xfrm>
          <a:prstGeom prst="rect">
            <a:avLst/>
          </a:prstGeom>
          <a:noFill/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27796" y="2194560"/>
            <a:ext cx="369813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666666"/>
                </a:solidFill>
                <a:latin typeface="Arial Black"/>
              </a:rPr>
              <a:t>W5-6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7796" y="2743200"/>
            <a:ext cx="369813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 Black"/>
              </a:rPr>
              <a:t>CONTENT AMPLIFICATION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36356" y="3017520"/>
            <a:ext cx="351525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200">
                <a:solidFill>
                  <a:srgbClr val="C0C0C0"/>
                </a:solidFill>
                <a:latin typeface="Arial"/>
              </a:defRPr>
            </a:pPr>
            <a:r>
              <a:t>12-15 content pieces</a:t>
            </a:r>
          </a:p>
          <a:p>
            <a:pPr>
              <a:spcBef>
                <a:spcPts val="600"/>
              </a:spcBef>
              <a:defRPr sz="1200">
                <a:solidFill>
                  <a:srgbClr val="C0C0C0"/>
                </a:solidFill>
                <a:latin typeface="Arial"/>
              </a:defRPr>
            </a:pPr>
            <a:r>
              <a:t>Micro-influencer outreach</a:t>
            </a:r>
          </a:p>
          <a:p>
            <a:pPr>
              <a:spcBef>
                <a:spcPts val="600"/>
              </a:spcBef>
              <a:defRPr sz="1200">
                <a:solidFill>
                  <a:srgbClr val="C0C0C0"/>
                </a:solidFill>
                <a:latin typeface="Arial"/>
              </a:defRPr>
            </a:pPr>
            <a:r>
              <a:t>User testimonials</a:t>
            </a:r>
          </a:p>
          <a:p>
            <a:pPr>
              <a:spcBef>
                <a:spcPts val="600"/>
              </a:spcBef>
              <a:defRPr sz="1200">
                <a:solidFill>
                  <a:srgbClr val="C0C0C0"/>
                </a:solidFill>
                <a:latin typeface="Arial"/>
              </a:defRPr>
            </a:pPr>
            <a:r>
              <a:t>Target: 15-20 users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937760"/>
            <a:ext cx="5364327" cy="1371600"/>
          </a:xfrm>
          <a:prstGeom prst="rect">
            <a:avLst/>
          </a:prstGeom>
          <a:solidFill>
            <a:srgbClr val="141900"/>
          </a:solidFill>
          <a:ln w="25400">
            <a:solidFill>
              <a:srgbClr val="CC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120640"/>
            <a:ext cx="536432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CCFF00"/>
                </a:solidFill>
                <a:latin typeface="Arial Black"/>
              </a:rPr>
              <a:t>50-60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669280"/>
            <a:ext cx="536432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0C0C0"/>
                </a:solidFill>
                <a:latin typeface="Arial"/>
              </a:rPr>
              <a:t>BETA USERS IN 6 WEEKS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78727" y="4937760"/>
            <a:ext cx="5364327" cy="1371600"/>
          </a:xfrm>
          <a:prstGeom prst="rect">
            <a:avLst/>
          </a:prstGeom>
          <a:noFill/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78727" y="5120640"/>
            <a:ext cx="536432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A78BFA"/>
                </a:solidFill>
                <a:latin typeface="Arial Black"/>
              </a:rPr>
              <a:t>$200-400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8727" y="5669280"/>
            <a:ext cx="536432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0C0C0"/>
                </a:solidFill>
                <a:latin typeface="Arial"/>
              </a:rPr>
              <a:t>ESTIMATED COST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6492240"/>
            <a:ext cx="11094415" cy="54864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66294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C0C0"/>
                </a:solidFill>
                <a:latin typeface="Arial"/>
              </a:rPr>
              <a:t>Sequential approach builds momentum and lets you refine messaging between phases.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185855" y="365760"/>
            <a:ext cx="457200" cy="45720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254435" y="649224"/>
            <a:ext cx="320040" cy="731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13871" y="557784"/>
            <a:ext cx="205740" cy="731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373307" y="466344"/>
            <a:ext cx="82296" cy="731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78BFA"/>
                </a:solidFill>
                <a:latin typeface="Courier New"/>
              </a:rPr>
              <a:t>// GO-TO-MARKET / OPTION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315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 Black"/>
              </a:rPr>
              <a:t>Problem-First Community 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0C0C0"/>
                </a:solidFill>
                <a:latin typeface="Arial"/>
              </a:rPr>
              <a:t>Lead with pain points, then offer solution access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52728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CFF00"/>
                </a:solidFill>
                <a:latin typeface="Arial Black"/>
              </a:rPr>
              <a:t>Where Your Users Are Struggling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60320"/>
            <a:ext cx="52728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• r/productivity (3.5M members)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834640"/>
            <a:ext cx="52728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C0C0"/>
                </a:solidFill>
                <a:latin typeface="Arial"/>
              </a:rPr>
              <a:t>"Can't stick to my routine"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91840"/>
            <a:ext cx="52728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• r/getdisciplined (1.5M)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52728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C0C0"/>
                </a:solidFill>
                <a:latin typeface="Arial"/>
              </a:rPr>
              <a:t>"Apps don't help me understand why"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23360"/>
            <a:ext cx="52728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• r/selfimprovement (1.2M)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297680"/>
            <a:ext cx="52728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C0C0"/>
                </a:solidFill>
                <a:latin typeface="Arial"/>
              </a:rPr>
              <a:t>"Need science-backed approach"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754880"/>
            <a:ext cx="52728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• TikTok comments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029200"/>
            <a:ext cx="52728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C0C0"/>
                </a:solidFill>
                <a:latin typeface="Arial"/>
              </a:rPr>
              <a:t>"How do I actually DO this?"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0167" y="2011680"/>
            <a:ext cx="52728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CFF00"/>
                </a:solidFill>
                <a:latin typeface="Arial Black"/>
              </a:rPr>
              <a:t>Engagement Strategy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70167" y="2560320"/>
            <a:ext cx="5272887" cy="1097280"/>
          </a:xfrm>
          <a:prstGeom prst="rect">
            <a:avLst/>
          </a:prstGeom>
          <a:noFill/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53047" y="2697480"/>
            <a:ext cx="490712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Week 1-2: Listen &amp; Engage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3047" y="2971800"/>
            <a:ext cx="490712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C0C0"/>
                </a:solidFill>
                <a:latin typeface="Arial"/>
              </a:rPr>
              <a:t>Comment on frustration posts, offer insights, build credibility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70167" y="3840480"/>
            <a:ext cx="5272887" cy="1097280"/>
          </a:xfrm>
          <a:prstGeom prst="rect">
            <a:avLst/>
          </a:prstGeom>
          <a:noFill/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047" y="3977640"/>
            <a:ext cx="490712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Week 3-4: Share Solution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3047" y="4251960"/>
            <a:ext cx="490712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C0C0"/>
                </a:solidFill>
                <a:latin typeface="Arial"/>
              </a:rPr>
              <a:t>Value-first posts about behavioral science + beta access offer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70167" y="5120640"/>
            <a:ext cx="5272887" cy="1097280"/>
          </a:xfrm>
          <a:prstGeom prst="rect">
            <a:avLst/>
          </a:prstGeom>
          <a:solidFill>
            <a:srgbClr val="141900"/>
          </a:solidFill>
          <a:ln w="25400">
            <a:solidFill>
              <a:srgbClr val="CC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3047" y="5257800"/>
            <a:ext cx="490712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Week 5-6: Amplify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53047" y="5532120"/>
            <a:ext cx="490712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C0C0"/>
                </a:solidFill>
                <a:latin typeface="Arial"/>
              </a:rPr>
              <a:t>User testimonials, insights from beta cohort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943600"/>
            <a:ext cx="11094415" cy="73152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6035040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Why This Works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C0C0"/>
                </a:solidFill>
                <a:latin typeface="Arial"/>
              </a:rPr>
              <a:t>You're not selling an app - you're offering a solution to a problem they're already posting about daily.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185855" y="365760"/>
            <a:ext cx="457200" cy="45720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254435" y="649224"/>
            <a:ext cx="320040" cy="731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13871" y="557784"/>
            <a:ext cx="205740" cy="731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373307" y="466344"/>
            <a:ext cx="82296" cy="731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78BFA"/>
                </a:solidFill>
                <a:latin typeface="Courier New"/>
              </a:rPr>
              <a:t>// GO-TO-MARKET / OPTION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315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 Black"/>
              </a:rPr>
              <a:t>Influencer Micro-Partnership 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5272887" cy="1097280"/>
          </a:xfrm>
          <a:prstGeom prst="rect">
            <a:avLst/>
          </a:prstGeom>
          <a:solidFill>
            <a:srgbClr val="141900"/>
          </a:solidFill>
          <a:ln w="25400">
            <a:solidFill>
              <a:srgbClr val="CC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52728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CCFF00"/>
                </a:solidFill>
                <a:latin typeface="Arial Black"/>
              </a:rPr>
              <a:t>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68880"/>
            <a:ext cx="52728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0C0C0"/>
                </a:solidFill>
                <a:latin typeface="Arial"/>
              </a:rPr>
              <a:t>MICRO-INFLUENCERS TO REACH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00400"/>
            <a:ext cx="52728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 Black"/>
              </a:rPr>
              <a:t>Target Profile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74720"/>
            <a:ext cx="5272887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400">
                <a:solidFill>
                  <a:srgbClr val="C0C0C0"/>
                </a:solidFill>
                <a:latin typeface="Arial"/>
              </a:defRPr>
            </a:pPr>
            <a:r>
              <a:t>5K-50K followers</a:t>
            </a:r>
          </a:p>
          <a:p>
            <a:pPr>
              <a:spcBef>
                <a:spcPts val="600"/>
              </a:spcBef>
              <a:defRPr sz="1400">
                <a:solidFill>
                  <a:srgbClr val="C0C0C0"/>
                </a:solidFill>
                <a:latin typeface="Arial"/>
              </a:defRPr>
            </a:pPr>
            <a:r>
              <a:t>Productivity/wellness niche</a:t>
            </a:r>
          </a:p>
          <a:p>
            <a:pPr>
              <a:spcBef>
                <a:spcPts val="600"/>
              </a:spcBef>
              <a:defRPr sz="1400">
                <a:solidFill>
                  <a:srgbClr val="C0C0C0"/>
                </a:solidFill>
                <a:latin typeface="Arial"/>
              </a:defRPr>
            </a:pPr>
            <a:r>
              <a:t>High engagement rate (&gt;3%)</a:t>
            </a:r>
          </a:p>
          <a:p>
            <a:pPr>
              <a:spcBef>
                <a:spcPts val="600"/>
              </a:spcBef>
              <a:defRPr sz="1400">
                <a:solidFill>
                  <a:srgbClr val="C0C0C0"/>
                </a:solidFill>
                <a:latin typeface="Arial"/>
              </a:defRPr>
            </a:pPr>
            <a:r>
              <a:t>Creates routine content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029200"/>
            <a:ext cx="5272887" cy="73152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120640"/>
            <a:ext cx="527288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Platforms to Target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349240"/>
            <a:ext cx="52728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0C0C0"/>
                </a:solidFill>
                <a:latin typeface="Arial"/>
              </a:rPr>
              <a:t>TikTok, Instagram, YouTube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0167" y="1828800"/>
            <a:ext cx="52728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CFF00"/>
                </a:solidFill>
                <a:latin typeface="Arial Black"/>
              </a:rPr>
              <a:t>Partnership Offer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70167" y="2286000"/>
            <a:ext cx="5272887" cy="822960"/>
          </a:xfrm>
          <a:prstGeom prst="rect">
            <a:avLst/>
          </a:prstGeom>
          <a:noFill/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07327" y="2377440"/>
            <a:ext cx="49985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Early Access + Co-Creation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7327" y="2651760"/>
            <a:ext cx="499856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0C0C0"/>
                </a:solidFill>
                <a:latin typeface="Arial"/>
              </a:rPr>
              <a:t>Exclusive beta access + input on routine templates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70167" y="3246120"/>
            <a:ext cx="5272887" cy="822960"/>
          </a:xfrm>
          <a:prstGeom prst="rect">
            <a:avLst/>
          </a:prstGeom>
          <a:noFill/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07327" y="3337560"/>
            <a:ext cx="49985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Custom Routine Template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7327" y="3611880"/>
            <a:ext cx="499856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0C0C0"/>
                </a:solidFill>
                <a:latin typeface="Arial"/>
              </a:rPr>
              <a:t>Feature their routine as a template in the app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70167" y="4206240"/>
            <a:ext cx="5272887" cy="822960"/>
          </a:xfrm>
          <a:prstGeom prst="rect">
            <a:avLst/>
          </a:prstGeom>
          <a:noFill/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07327" y="4297680"/>
            <a:ext cx="49985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Lifetime Pro Access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07327" y="4572000"/>
            <a:ext cx="499856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0C0C0"/>
                </a:solidFill>
                <a:latin typeface="Arial"/>
              </a:rPr>
              <a:t>Free premium when you launch monetization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70167" y="5166360"/>
            <a:ext cx="5272887" cy="822960"/>
          </a:xfrm>
          <a:prstGeom prst="rect">
            <a:avLst/>
          </a:prstGeom>
          <a:solidFill>
            <a:srgbClr val="141900"/>
          </a:solidFill>
          <a:ln w="25400">
            <a:solidFill>
              <a:srgbClr val="CC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07327" y="5257800"/>
            <a:ext cx="49985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Expected Conversion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07327" y="5532120"/>
            <a:ext cx="499856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0C0C0"/>
                </a:solidFill>
                <a:latin typeface="Arial"/>
              </a:rPr>
              <a:t>20 outreach -&gt; 5-7 partnerships -&gt; 30-40 beta users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943600"/>
            <a:ext cx="2773603" cy="731520"/>
          </a:xfrm>
          <a:prstGeom prst="rect">
            <a:avLst/>
          </a:prstGeom>
          <a:noFill/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6172200"/>
            <a:ext cx="138680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REACH OUT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35441" y="6080760"/>
            <a:ext cx="129536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CCFF00"/>
                </a:solidFill>
                <a:latin typeface="Arial Black"/>
              </a:rPr>
              <a:t>20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22243" y="5943600"/>
            <a:ext cx="2773603" cy="731520"/>
          </a:xfrm>
          <a:prstGeom prst="rect">
            <a:avLst/>
          </a:prstGeom>
          <a:noFill/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13683" y="6172200"/>
            <a:ext cx="138680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RESPOND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9045" y="6080760"/>
            <a:ext cx="129536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CCFF00"/>
                </a:solidFill>
                <a:latin typeface="Arial Black"/>
              </a:rPr>
              <a:t>10-12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95847" y="5943600"/>
            <a:ext cx="2773603" cy="731520"/>
          </a:xfrm>
          <a:prstGeom prst="rect">
            <a:avLst/>
          </a:prstGeom>
          <a:noFill/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87287" y="6172200"/>
            <a:ext cx="138680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PARTNER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82649" y="6080760"/>
            <a:ext cx="129536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CCFF00"/>
                </a:solidFill>
                <a:latin typeface="Arial Black"/>
              </a:rPr>
              <a:t>5-7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869451" y="5943600"/>
            <a:ext cx="2773603" cy="731520"/>
          </a:xfrm>
          <a:prstGeom prst="rect">
            <a:avLst/>
          </a:prstGeom>
          <a:solidFill>
            <a:srgbClr val="141900"/>
          </a:solidFill>
          <a:ln w="25400">
            <a:solidFill>
              <a:srgbClr val="CC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60891" y="6172200"/>
            <a:ext cx="138680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BETA USERS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56253" y="6080760"/>
            <a:ext cx="129536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CCFF00"/>
                </a:solidFill>
                <a:latin typeface="Arial Black"/>
              </a:rPr>
              <a:t>30-40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185855" y="365760"/>
            <a:ext cx="457200" cy="45720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254435" y="649224"/>
            <a:ext cx="320040" cy="731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13871" y="557784"/>
            <a:ext cx="205740" cy="731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373307" y="466344"/>
            <a:ext cx="82296" cy="731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78BFA"/>
                </a:solidFill>
                <a:latin typeface="Courier New"/>
              </a:rPr>
              <a:t>// GO-TO-MARKET / OPTION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315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 Black"/>
              </a:rPr>
              <a:t>MIT-to-Market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0C0C0"/>
                </a:solidFill>
                <a:latin typeface="Arial"/>
              </a:rPr>
              <a:t>Validate on campus, then expand with proven 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11680"/>
            <a:ext cx="3454298" cy="2926080"/>
          </a:xfrm>
          <a:prstGeom prst="rect">
            <a:avLst/>
          </a:prstGeom>
          <a:solidFill>
            <a:srgbClr val="141900"/>
          </a:solidFill>
          <a:ln w="25400">
            <a:solidFill>
              <a:srgbClr val="CC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194560"/>
            <a:ext cx="31799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Phase 1: MIT Launch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423160"/>
            <a:ext cx="317997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0C0C0"/>
                </a:solidFill>
                <a:latin typeface="Arial"/>
              </a:rPr>
              <a:t>Weeks 1-3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327141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100">
                <a:solidFill>
                  <a:srgbClr val="C0C0C0"/>
                </a:solidFill>
                <a:latin typeface="Arial"/>
              </a:defRPr>
            </a:pPr>
            <a:r>
              <a:t>Campus email blast</a:t>
            </a:r>
          </a:p>
          <a:p>
            <a:pPr>
              <a:spcBef>
                <a:spcPts val="600"/>
              </a:spcBef>
              <a:defRPr sz="1100">
                <a:solidFill>
                  <a:srgbClr val="C0C0C0"/>
                </a:solidFill>
                <a:latin typeface="Arial"/>
              </a:defRPr>
            </a:pPr>
            <a:r>
              <a:t>Dorm presentations</a:t>
            </a:r>
          </a:p>
          <a:p>
            <a:pPr>
              <a:spcBef>
                <a:spcPts val="600"/>
              </a:spcBef>
              <a:defRPr sz="1100">
                <a:solidFill>
                  <a:srgbClr val="C0C0C0"/>
                </a:solidFill>
                <a:latin typeface="Arial"/>
              </a:defRPr>
            </a:pPr>
            <a:r>
              <a:t>Student group demos</a:t>
            </a:r>
          </a:p>
          <a:p>
            <a:pPr>
              <a:spcBef>
                <a:spcPts val="600"/>
              </a:spcBef>
              <a:defRPr sz="1100">
                <a:solidFill>
                  <a:srgbClr val="C0C0C0"/>
                </a:solidFill>
                <a:latin typeface="Arial"/>
              </a:defRPr>
            </a:pPr>
            <a:r>
              <a:t>Referral incentive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389120"/>
            <a:ext cx="3179978" cy="1270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480560"/>
            <a:ext cx="31799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FF00"/>
                </a:solidFill>
                <a:latin typeface="Arial"/>
              </a:rPr>
              <a:t>Target: 25-30 users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68698" y="2011680"/>
            <a:ext cx="3454298" cy="2926080"/>
          </a:xfrm>
          <a:prstGeom prst="rect">
            <a:avLst/>
          </a:prstGeom>
          <a:solidFill>
            <a:srgbClr val="100E19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5858" y="2194560"/>
            <a:ext cx="31799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Phase 2: Campus Expansion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5858" y="2423160"/>
            <a:ext cx="317997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0C0C0"/>
                </a:solidFill>
                <a:latin typeface="Arial"/>
              </a:rPr>
              <a:t>Weeks 4-5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0138" y="2743200"/>
            <a:ext cx="327141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100">
                <a:solidFill>
                  <a:srgbClr val="C0C0C0"/>
                </a:solidFill>
                <a:latin typeface="Arial"/>
              </a:defRPr>
            </a:pPr>
            <a:r>
              <a:t>Harvard, BU, Northeastern</a:t>
            </a:r>
          </a:p>
          <a:p>
            <a:pPr>
              <a:spcBef>
                <a:spcPts val="600"/>
              </a:spcBef>
              <a:defRPr sz="1100">
                <a:solidFill>
                  <a:srgbClr val="C0C0C0"/>
                </a:solidFill>
                <a:latin typeface="Arial"/>
              </a:defRPr>
            </a:pPr>
            <a:r>
              <a:t>Student ambassador program</a:t>
            </a:r>
          </a:p>
          <a:p>
            <a:pPr>
              <a:spcBef>
                <a:spcPts val="600"/>
              </a:spcBef>
              <a:defRPr sz="1100">
                <a:solidFill>
                  <a:srgbClr val="C0C0C0"/>
                </a:solidFill>
                <a:latin typeface="Arial"/>
              </a:defRPr>
            </a:pPr>
            <a:r>
              <a:t>College subreddits</a:t>
            </a:r>
          </a:p>
          <a:p>
            <a:pPr>
              <a:spcBef>
                <a:spcPts val="600"/>
              </a:spcBef>
              <a:defRPr sz="1100">
                <a:solidFill>
                  <a:srgbClr val="C0C0C0"/>
                </a:solidFill>
                <a:latin typeface="Arial"/>
              </a:defRPr>
            </a:pPr>
            <a:r>
              <a:t>Uni Discord servers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05858" y="4389120"/>
            <a:ext cx="3179978" cy="1270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5858" y="4480560"/>
            <a:ext cx="31799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78BFA"/>
                </a:solidFill>
                <a:latin typeface="Arial"/>
              </a:rPr>
              <a:t>Target: 15-20 users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88756" y="2011680"/>
            <a:ext cx="3454298" cy="2926080"/>
          </a:xfrm>
          <a:prstGeom prst="rect">
            <a:avLst/>
          </a:prstGeom>
          <a:noFill/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5916" y="2194560"/>
            <a:ext cx="31799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Phase 3: Online Communities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5916" y="2423160"/>
            <a:ext cx="317997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0C0C0"/>
                </a:solidFill>
                <a:latin typeface="Arial"/>
              </a:rPr>
              <a:t>Weeks 6+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0196" y="2743200"/>
            <a:ext cx="327141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100">
                <a:solidFill>
                  <a:srgbClr val="C0C0C0"/>
                </a:solidFill>
                <a:latin typeface="Arial"/>
              </a:defRPr>
            </a:pPr>
            <a:r>
              <a:t>Reddit productivity subs</a:t>
            </a:r>
          </a:p>
          <a:p>
            <a:pPr>
              <a:spcBef>
                <a:spcPts val="600"/>
              </a:spcBef>
              <a:defRPr sz="1100">
                <a:solidFill>
                  <a:srgbClr val="C0C0C0"/>
                </a:solidFill>
                <a:latin typeface="Arial"/>
              </a:defRPr>
            </a:pPr>
            <a:r>
              <a:t>ProductHunt launch</a:t>
            </a:r>
          </a:p>
          <a:p>
            <a:pPr>
              <a:spcBef>
                <a:spcPts val="600"/>
              </a:spcBef>
              <a:defRPr sz="1100">
                <a:solidFill>
                  <a:srgbClr val="C0C0C0"/>
                </a:solidFill>
                <a:latin typeface="Arial"/>
              </a:defRPr>
            </a:pPr>
            <a:r>
              <a:t>Indie Hackers</a:t>
            </a:r>
          </a:p>
          <a:p>
            <a:pPr>
              <a:spcBef>
                <a:spcPts val="600"/>
              </a:spcBef>
              <a:defRPr sz="1100">
                <a:solidFill>
                  <a:srgbClr val="C0C0C0"/>
                </a:solidFill>
                <a:latin typeface="Arial"/>
              </a:defRPr>
            </a:pPr>
            <a:r>
              <a:t>Content marketing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25916" y="4389120"/>
            <a:ext cx="3179978" cy="1270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5916" y="4480560"/>
            <a:ext cx="31799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Target: 10-15 users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303520"/>
            <a:ext cx="11094415" cy="731520"/>
          </a:xfrm>
          <a:prstGeom prst="rect">
            <a:avLst/>
          </a:prstGeom>
          <a:solidFill>
            <a:srgbClr val="141900"/>
          </a:solidFill>
          <a:ln w="25400">
            <a:solidFill>
              <a:srgbClr val="CC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394960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Why Start with MIT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623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C0C0"/>
                </a:solidFill>
                <a:latin typeface="Arial"/>
              </a:rPr>
              <a:t>Credibility boost, easy access for interviews, homogeneous cohort for better insights.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185855" y="365760"/>
            <a:ext cx="457200" cy="45720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254435" y="649224"/>
            <a:ext cx="320040" cy="731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13871" y="557784"/>
            <a:ext cx="205740" cy="731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373307" y="466344"/>
            <a:ext cx="82296" cy="731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78BFA"/>
                </a:solidFill>
                <a:latin typeface="Courier New"/>
              </a:rPr>
              <a:t>//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315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 Black"/>
              </a:rPr>
              <a:t>Which Strategy Fits Best?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0C0C0"/>
                </a:solidFill>
                <a:latin typeface="Arial"/>
              </a:rPr>
              <a:t>Option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828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0C0C0"/>
                </a:solidFill>
                <a:latin typeface="Arial"/>
              </a:rPr>
              <a:t>Best For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828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0C0C0"/>
                </a:solidFill>
                <a:latin typeface="Arial"/>
              </a:rPr>
              <a:t>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1828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0C0C0"/>
                </a:solidFill>
                <a:latin typeface="Arial"/>
              </a:rPr>
              <a:t>Budget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1828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0C0C0"/>
                </a:solidFill>
                <a:latin typeface="Arial"/>
              </a:rPr>
              <a:t>Risk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194560"/>
            <a:ext cx="11094415" cy="548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3317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4-Channel Funnel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23317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Maximum reach &amp; speed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23317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High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23317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$400-600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3317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Low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743200"/>
            <a:ext cx="11094415" cy="1270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2743200"/>
            <a:ext cx="11094415" cy="548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8803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3-Phase Launch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28803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Controlled growth &amp; learning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28803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Medium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28803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$200-400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28803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Low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291840"/>
            <a:ext cx="11094415" cy="1270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291840"/>
            <a:ext cx="11094415" cy="548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4290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Problem-First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34290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Organic engagement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342900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Medium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34290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$0-200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342900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Medium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3840480"/>
            <a:ext cx="11094415" cy="1270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3840480"/>
            <a:ext cx="11094415" cy="548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39776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Micro-Influencers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34640" y="39776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Fast user acquisition via trust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35040" y="39776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Low-Medium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06640" y="39776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$0 (equity)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5440" y="39776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Med-High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4389120"/>
            <a:ext cx="11094415" cy="1270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8640" y="4389120"/>
            <a:ext cx="11094415" cy="548640"/>
          </a:xfrm>
          <a:prstGeom prst="rect">
            <a:avLst/>
          </a:prstGeom>
          <a:solidFill>
            <a:srgbClr val="141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45262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FF00"/>
                </a:solidFill>
                <a:latin typeface="Arial"/>
              </a:rPr>
              <a:t>MIT-to-Market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34640" y="45262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Credibility + Access (Recommended)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35040" y="45262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Medium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06640" y="45262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$300-500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35440" y="45262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Low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4937760"/>
            <a:ext cx="11094415" cy="1270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48640" y="5303520"/>
            <a:ext cx="11094415" cy="1097280"/>
          </a:xfrm>
          <a:prstGeom prst="rect">
            <a:avLst/>
          </a:prstGeom>
          <a:solidFill>
            <a:srgbClr val="141900"/>
          </a:solidFill>
          <a:ln w="25400">
            <a:solidFill>
              <a:srgbClr val="CC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5486400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FF00"/>
                </a:solidFill>
                <a:latin typeface="Courier New"/>
              </a:rPr>
              <a:t>// RECOMMENDATION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57607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Option 5 (MIT-to-Market) offers the best balance of credibility, access, and controlled expansion - while keeping costs within your budget.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