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92927" y="914400"/>
            <a:ext cx="1005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43803" y="1538020"/>
            <a:ext cx="704088" cy="1609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74562" y="1336852"/>
            <a:ext cx="452628" cy="1609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5321" y="1135684"/>
            <a:ext cx="181051" cy="1609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rial Black"/>
              </a:rPr>
              <a:t>Axiom 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534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0C0C0"/>
                </a:solidFill>
                <a:latin typeface="Arial"/>
              </a:rPr>
              <a:t>PRINCIPLES TURNED INTO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154680"/>
            <a:ext cx="8168335" cy="41148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154680"/>
            <a:ext cx="81683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ROUTINES THAT TURN INTENT INTO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886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MIT Sandbox Pitch Deck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5760720"/>
            <a:ext cx="301752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0C0C0"/>
                </a:solidFill>
                <a:latin typeface="Arial"/>
              </a:defRPr>
            </a:pPr>
            <a:r>
              <a:t>Pitch Deck for Working Prototype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5760720"/>
            <a:ext cx="301752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0C0C0"/>
                </a:solidFill>
                <a:latin typeface="Arial"/>
              </a:defRPr>
            </a:pPr>
            <a:r>
              <a:t>January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760720"/>
            <a:ext cx="301752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0C0C0"/>
                </a:solidFill>
                <a:latin typeface="Arial"/>
              </a:defRPr>
            </a:pPr>
            <a:r>
              <a:t>Javier Serrano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Routines are the new obsession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272887" cy="1097280"/>
          </a:xfrm>
          <a:prstGeom prst="rect">
            <a:avLst/>
          </a:prstGeom>
          <a:solidFill>
            <a:srgbClr val="0A0A0A"/>
          </a:solidFill>
          <a:ln w="3175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CCFF00"/>
                </a:solidFill>
                <a:latin typeface="Arial Black"/>
              </a:rPr>
              <a:t>+50B</a:t>
            </a:r>
          </a:p>
          <a:p>
            <a:pPr algn="ctr">
              <a:defRPr sz="1400">
                <a:solidFill>
                  <a:srgbClr val="C0C0C0"/>
                </a:solidFill>
                <a:latin typeface="Arial"/>
              </a:defRPr>
            </a:pPr>
            <a:r>
              <a:t>morning routine videos on TikTok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24688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CFF00"/>
                </a:solidFill>
                <a:latin typeface="Arial"/>
              </a:rPr>
              <a:t>#ThatGirl</a:t>
            </a:r>
          </a:p>
          <a:p>
            <a:pPr>
              <a:defRPr sz="1100">
                <a:solidFill>
                  <a:srgbClr val="C0C0C0"/>
                </a:solidFill>
                <a:latin typeface="Arial"/>
              </a:defRPr>
            </a:pPr>
            <a:r>
              <a:t>17.4B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063240"/>
            <a:ext cx="24688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CFF00"/>
                </a:solidFill>
                <a:latin typeface="Arial"/>
              </a:rPr>
              <a:t>#nightroutine</a:t>
            </a:r>
          </a:p>
          <a:p>
            <a:pPr>
              <a:defRPr sz="1100">
                <a:solidFill>
                  <a:srgbClr val="C0C0C0"/>
                </a:solidFill>
                <a:latin typeface="Arial"/>
              </a:defRPr>
            </a:pPr>
            <a:r>
              <a:t>11.4B 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24688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CFF00"/>
                </a:solidFill>
                <a:latin typeface="Arial"/>
              </a:rPr>
              <a:t>#dailyroutine</a:t>
            </a:r>
          </a:p>
          <a:p>
            <a:pPr>
              <a:defRPr sz="1100">
                <a:solidFill>
                  <a:srgbClr val="C0C0C0"/>
                </a:solidFill>
                <a:latin typeface="Arial"/>
              </a:defRPr>
            </a:pPr>
            <a:r>
              <a:t>8B+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51960"/>
            <a:ext cx="5272887" cy="14630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CCFF00"/>
                </a:solidFill>
                <a:latin typeface="Arial Black"/>
              </a:rPr>
              <a:t>Engagement vs. Other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Routine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4754880"/>
            <a:ext cx="2560320" cy="2286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0" y="4754880"/>
            <a:ext cx="2560320" cy="2286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CCFF00"/>
                </a:solidFill>
                <a:latin typeface="Arial"/>
              </a:rPr>
              <a:t>6-10x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General Wellness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5212080"/>
            <a:ext cx="2560320" cy="2286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0" y="5212080"/>
            <a:ext cx="457200" cy="228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5212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182880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CCFF00"/>
                </a:solidFill>
                <a:latin typeface="Arial Black"/>
              </a:rPr>
              <a:t>Influencers Proving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2331720"/>
            <a:ext cx="5272887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Andrew Huberman</a:t>
            </a:r>
          </a:p>
          <a:p>
            <a:pPr>
              <a:defRPr sz="1200">
                <a:solidFill>
                  <a:srgbClr val="C0C0C0"/>
                </a:solidFill>
                <a:latin typeface="Arial"/>
              </a:defRPr>
            </a:pPr>
            <a:r>
              <a:t>7.3M subs - Neuroscience-backed routines dominate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3108960"/>
            <a:ext cx="5272887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Ashton Hall</a:t>
            </a:r>
          </a:p>
          <a:p>
            <a:pPr>
              <a:defRPr sz="1200">
                <a:solidFill>
                  <a:srgbClr val="CCFF00"/>
                </a:solidFill>
                <a:latin typeface="Arial"/>
              </a:defRPr>
            </a:pPr>
            <a:r>
              <a:t>3M+ followers - Routine videos avg 1M+ views</a:t>
            </a:r>
          </a:p>
          <a:p>
            <a:pPr>
              <a:defRPr sz="1200">
                <a:solidFill>
                  <a:srgbClr val="CCFF00"/>
                </a:solidFill>
                <a:latin typeface="Arial"/>
              </a:defRPr>
            </a:pPr>
            <a:r>
              <a:t>+750 Million views on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3886200"/>
            <a:ext cx="5272887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Ali Abdaal</a:t>
            </a:r>
          </a:p>
          <a:p>
            <a:pPr>
              <a:defRPr sz="1200">
                <a:solidFill>
                  <a:srgbClr val="C0C0C0"/>
                </a:solidFill>
                <a:latin typeface="Arial"/>
              </a:defRPr>
            </a:pPr>
            <a:r>
              <a:t>6.5M subs - Productivity systems &amp; habit stacking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4663440"/>
            <a:ext cx="5272887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James Clear</a:t>
            </a:r>
          </a:p>
          <a:p>
            <a:pPr>
              <a:defRPr sz="1200">
                <a:solidFill>
                  <a:srgbClr val="C0C0C0"/>
                </a:solidFill>
                <a:latin typeface="Arial"/>
              </a:defRPr>
            </a:pPr>
            <a:r>
              <a:t>25M+ Atomic Habits sold - Created demand for systems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94415" cy="59436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Massive audience wants to DO routines, not just WATCH them.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Sources: Broadcasting your breakfast: why TikTokers obsess over morning routines - The Guardian; Why We're Obsessed with Other People's Morning Routines -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But few people can execute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272887" cy="100584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CCFF00"/>
                </a:solidFill>
                <a:latin typeface="Arial Black"/>
              </a:defRPr>
            </a:pPr>
            <a:r>
              <a:t>66%</a:t>
            </a:r>
          </a:p>
          <a:p>
            <a:pPr algn="ctr">
              <a:defRPr sz="1400">
                <a:solidFill>
                  <a:srgbClr val="C0C0C0"/>
                </a:solidFill>
                <a:latin typeface="Arial"/>
              </a:defRPr>
            </a:pPr>
            <a:r>
              <a:t>of Gen Z use digital wellness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5272887" cy="100584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CCFF00"/>
                </a:solidFill>
                <a:latin typeface="Arial Black"/>
              </a:defRPr>
            </a:pPr>
            <a:r>
              <a:t>~4%</a:t>
            </a:r>
          </a:p>
          <a:p>
            <a:pPr algn="ctr">
              <a:defRPr sz="1400">
                <a:solidFill>
                  <a:srgbClr val="C0C0C0"/>
                </a:solidFill>
                <a:latin typeface="Arial"/>
              </a:defRPr>
            </a:pPr>
            <a:r>
              <a:t>Day 30 retention rate in health &amp; fitness apps (lowest category)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5272887" cy="100584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CCFF00"/>
                </a:solidFill>
                <a:latin typeface="Arial Black"/>
              </a:defRPr>
            </a:pPr>
            <a:r>
              <a:t>~90%</a:t>
            </a:r>
          </a:p>
          <a:p>
            <a:pPr algn="ctr">
              <a:defRPr sz="1400">
                <a:solidFill>
                  <a:srgbClr val="C0C0C0"/>
                </a:solidFill>
                <a:latin typeface="Arial"/>
              </a:defRPr>
            </a:pPr>
            <a:r>
              <a:t>of people quit or fail when trying to form new habits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82880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Arial Black"/>
              </a:rPr>
              <a:t>Why People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286000"/>
            <a:ext cx="5272887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No Bridge from Content to Action</a:t>
            </a:r>
          </a:p>
          <a:p>
            <a:pPr>
              <a:defRPr sz="1200">
                <a:solidFill>
                  <a:srgbClr val="C0C0C0"/>
                </a:solidFill>
                <a:latin typeface="Arial"/>
              </a:defRPr>
            </a:pPr>
            <a:r>
              <a:t>Videos inspire but offer no execution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971800"/>
            <a:ext cx="5272887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Blank Slate Apps</a:t>
            </a:r>
          </a:p>
          <a:p>
            <a:pPr>
              <a:defRPr sz="1200">
                <a:solidFill>
                  <a:srgbClr val="C0C0C0"/>
                </a:solidFill>
                <a:latin typeface="Arial"/>
              </a:defRPr>
            </a:pPr>
            <a:r>
              <a:t>"What do you want to track?" - Users don't know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657600"/>
            <a:ext cx="5272887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No Science, No System</a:t>
            </a:r>
          </a:p>
          <a:p>
            <a:pPr>
              <a:defRPr sz="1200">
                <a:solidFill>
                  <a:srgbClr val="C0C0C0"/>
                </a:solidFill>
                <a:latin typeface="Arial"/>
              </a:defRPr>
            </a:pPr>
            <a:r>
              <a:t>Self-designed habits lack proven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4343400"/>
            <a:ext cx="5272887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Streak Anxiety</a:t>
            </a:r>
          </a:p>
          <a:p>
            <a:pPr>
              <a:defRPr sz="1200">
                <a:solidFill>
                  <a:srgbClr val="C0C0C0"/>
                </a:solidFill>
                <a:latin typeface="Arial"/>
              </a:defRPr>
            </a:pPr>
            <a:r>
              <a:t>One miss = total abandonment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The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7900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Users are truly struggling bridging from "routine inspiration" to "routine execution".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Sources: The $2 trillion global wellness market gets a millennial and Gen Z glow-up - McKinsey &amp; Company; Retention Rates for Mobile Apps by Industry - Plotline; Only 10% of people who try to create a habit achieve their goal - Summa Magazine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Axiom Forge: A Habit System Built on Evidence, Reinforced by Mindset and 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332378" cy="40233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96661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Smart Routines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96661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Science-backed templates remove the blank slate.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96661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Morning + evening routines ready from day one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Evidence-based structure for sleep, fitness, focus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Designed for real schedules, not perfection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9658" y="1828800"/>
            <a:ext cx="3332378" cy="40233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2538" y="2011680"/>
            <a:ext cx="296661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Behavioral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468880"/>
            <a:ext cx="296661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Patterns that explain success or failure, generated from real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Correlation, weekday patterns, and trend signals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Sequence analysis for "what works together"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Anomalies detection, strength scores and 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0676" y="1828800"/>
            <a:ext cx="3332378" cy="4023360"/>
          </a:xfrm>
          <a:prstGeom prst="rect">
            <a:avLst/>
          </a:prstGeom>
          <a:solidFill>
            <a:srgbClr val="00000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3556" y="2011680"/>
            <a:ext cx="296661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Mindset Pills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3556" y="2468880"/>
            <a:ext cx="296661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Daily wisdom that reinforces identity.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3556" y="2926080"/>
            <a:ext cx="296661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Daily quote prompts from thought leaders and top performers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Reflection journaling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- Rating &amp; archive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Axiom Forge taps into the rapidly growing Habit Tracking App Market, which is projected to triple within the next 10 years.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656649" cy="38404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629088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CFF00"/>
                </a:solidFill>
                <a:latin typeface="Arial"/>
              </a:rPr>
              <a:t>Global Habit Tracking App Market (USD Bn)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526280"/>
            <a:ext cx="261011" cy="6858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CFF00"/>
                </a:solidFill>
                <a:latin typeface="Arial"/>
              </a:rPr>
              <a:t>13.1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7862" y="4334256"/>
            <a:ext cx="261011" cy="877824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2142" y="4105656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CFF00"/>
                </a:solidFill>
                <a:latin typeface="Arial"/>
              </a:rPr>
              <a:t>14.9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2142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49885" y="4169664"/>
            <a:ext cx="261011" cy="104241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4165" y="3941064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CFF00"/>
                </a:solidFill>
                <a:latin typeface="Arial"/>
              </a:rPr>
              <a:t>17.1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4165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71907" y="4005072"/>
            <a:ext cx="261011" cy="1207008"/>
          </a:xfrm>
          <a:prstGeom prst="rect">
            <a:avLst/>
          </a:prstGeom>
          <a:solidFill>
            <a:srgbClr val="6478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6187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93930" y="3813048"/>
            <a:ext cx="261011" cy="1399032"/>
          </a:xfrm>
          <a:prstGeom prst="rect">
            <a:avLst/>
          </a:prstGeom>
          <a:solidFill>
            <a:srgbClr val="6478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8210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5953" y="3648456"/>
            <a:ext cx="261011" cy="1563623"/>
          </a:xfrm>
          <a:prstGeom prst="rect">
            <a:avLst/>
          </a:prstGeom>
          <a:solidFill>
            <a:srgbClr val="6478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0233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7975" y="3429000"/>
            <a:ext cx="261011" cy="1783080"/>
          </a:xfrm>
          <a:prstGeom prst="rect">
            <a:avLst/>
          </a:prstGeom>
          <a:solidFill>
            <a:srgbClr val="6478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92255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59998" y="3182112"/>
            <a:ext cx="261011" cy="2029968"/>
          </a:xfrm>
          <a:prstGeom prst="rect">
            <a:avLst/>
          </a:prstGeom>
          <a:solidFill>
            <a:srgbClr val="6478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4278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2032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82021" y="2907792"/>
            <a:ext cx="261011" cy="2304288"/>
          </a:xfrm>
          <a:prstGeom prst="rect">
            <a:avLst/>
          </a:prstGeom>
          <a:solidFill>
            <a:srgbClr val="6478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6301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04043" y="2633472"/>
            <a:ext cx="261011" cy="2578608"/>
          </a:xfrm>
          <a:prstGeom prst="rect">
            <a:avLst/>
          </a:prstGeom>
          <a:solidFill>
            <a:srgbClr val="6478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8323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2034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6066" y="2249424"/>
            <a:ext cx="261011" cy="2962656"/>
          </a:xfrm>
          <a:prstGeom prst="rect">
            <a:avLst/>
          </a:prstGeom>
          <a:solidFill>
            <a:srgbClr val="6478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0346" y="2020824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CFF00"/>
                </a:solidFill>
                <a:latin typeface="Arial"/>
              </a:rPr>
              <a:t>50.2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0346" y="5303520"/>
            <a:ext cx="5220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C0C0"/>
                </a:solidFill>
                <a:latin typeface="Arial"/>
              </a:rPr>
              <a:t>2035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463040" y="2240280"/>
            <a:ext cx="1463040" cy="18288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1600" y="2103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Arial"/>
              </a:rPr>
              <a:t>CAGR 14.3%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2926080" y="2103120"/>
            <a:ext cx="2743200" cy="32004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017520" y="1965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Arial"/>
              </a:rPr>
              <a:t>CAGR 14.4%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62489" y="1920240"/>
            <a:ext cx="3980566" cy="38404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5369" y="2103120"/>
            <a:ext cx="361480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CCFF00"/>
                </a:solidFill>
                <a:latin typeface="Arial Black"/>
              </a:rPr>
              <a:t>Market Growth Drivers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6809" y="2651760"/>
            <a:ext cx="343192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Rising consumer emphasis on self-improvement, mental well-being, and productivity enhancement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36809" y="3063240"/>
            <a:ext cx="343192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CFF00"/>
                </a:solidFill>
                <a:latin typeface="Arial"/>
              </a:rPr>
              <a:t>68% of smartphone users engage with at least one productivity or wellness 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809" y="3749040"/>
            <a:ext cx="343192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Higher willingness to pay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36809" y="4160520"/>
            <a:ext cx="343192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CFF00"/>
                </a:solidFill>
                <a:latin typeface="Arial"/>
              </a:rPr>
              <a:t>Premium subscriptions account for 36% of overall habit tracking app downloads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809" y="4846320"/>
            <a:ext cx="343192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Complementary to surge of wearables through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809" y="5257800"/>
            <a:ext cx="343192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CFF00"/>
                </a:solidFill>
                <a:latin typeface="Arial"/>
              </a:rPr>
              <a:t>Wearable integration improved user retention by 39%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Source: Global Habit Tracking App Market Size - Global Growth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Axiom Forge Is the Only App Combining Science + Mindset + Insights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Science-Backed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Behavioral Insights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Flexible Streaks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Cross-Platform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Streaks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iOS Only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Habitica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Generic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Basic Stats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Rest Inn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Loop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Android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Habitify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Mood Only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Axiom Forge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Evidence-Based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Full Analysis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Flexible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PWA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The only habit tracker that pairs science-backed routines with automated behavioral insight.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A Working Product Validated by Early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Current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27288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- PWA live with Firebase auth + sync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- Morning &amp; evening routines with daily check-ins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- Dashboard with streaks, heatmap, and completion rates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- Smart Insights engine (correlation, trends, anomalies)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- Mindset journal with quotes + reflections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82880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2286000"/>
            <a:ext cx="5272887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42316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Validated with several early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78892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Qualitative feedback confirms clarity, motivation, and desire for deeper insights.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3657600"/>
            <a:ext cx="5272887" cy="10058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379476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Next Validation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416052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Run 40-60 user interviews + beta cohort to confirm retention and pricing.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Multiple Revenue Streams from Freemium to Enterprise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272887" cy="9144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FREEMIUM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Tracking, streaks, routines, basic analytics.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272887" cy="914400"/>
          </a:xfrm>
          <a:prstGeom prst="rect">
            <a:avLst/>
          </a:prstGeom>
          <a:solidFill>
            <a:srgbClr val="00000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INSIGHTS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Correlations, trends, sequences, advanced dashboards.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5272887" cy="91440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COACH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AI summaries + habit recommendations.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0167" y="1920240"/>
            <a:ext cx="5272887" cy="9144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01168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CONTENT PACKS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237744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Premium routine templates and expert programs.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167" y="3017520"/>
            <a:ext cx="5272887" cy="9144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310896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TEAMS / CAMPUS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47472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Group dashboards for student cohorts or clubs.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0167" y="4114800"/>
            <a:ext cx="5272887" cy="9144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420624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LIFETIME LICENSE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4572000"/>
            <a:ext cx="49071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One-time fee for pro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Funding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$4,500 to Validate, Polish, and Launch to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94415" cy="32918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CCFF00"/>
                </a:solidFill>
                <a:latin typeface="Arial Black"/>
              </a:rPr>
              <a:t>$4,500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031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Aligned with MIT Sandbox reimbursable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USER RESEARCH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743200"/>
            <a:ext cx="5943600" cy="2286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2743200"/>
            <a:ext cx="1584960" cy="2286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7432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$1200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CONTRACTORS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200400"/>
            <a:ext cx="5943600" cy="2286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3200400"/>
            <a:ext cx="1320800" cy="228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200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$1000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SOFTWARE &amp;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657600"/>
            <a:ext cx="5943600" cy="2286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0" y="3657600"/>
            <a:ext cx="1188720" cy="228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$900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MARKETING &amp; 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4114800"/>
            <a:ext cx="5943600" cy="2286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0" y="4114800"/>
            <a:ext cx="1056640" cy="228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114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$800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 &amp; COMPLIANCE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572000"/>
            <a:ext cx="5943600" cy="2286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0" y="4572000"/>
            <a:ext cx="792480" cy="228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4572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$600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406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Contractor spend is within the 25% cap. Research incentives and software licenses follow Sandbox reimbursement guidelines.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90-Day Sprint from Validation to App Store Launch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98138" cy="274320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CCFF00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33237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33323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- 40-60 user interviews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Beta cohort with retention tracking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Pricing tests for Insights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778" y="1920240"/>
            <a:ext cx="3698138" cy="27432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9658" y="2011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66666"/>
                </a:solidFill>
                <a:latin typeface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658" y="2560320"/>
            <a:ext cx="333237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9658" y="2926080"/>
            <a:ext cx="33323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Refine insights UI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Performance + onboarding improvements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Brand + marketing 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44916" y="1920240"/>
            <a:ext cx="3698138" cy="27432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2011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66666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6" y="2560320"/>
            <a:ext cx="333237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2926080"/>
            <a:ext cx="33323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App Store packaging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Public release + press outreach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200">
                <a:solidFill>
                  <a:srgbClr val="C0C0C0"/>
                </a:solidFill>
                <a:latin typeface="Arial"/>
              </a:defRPr>
            </a:pPr>
            <a:r>
              <a:t>- Post-launch analytics + iteration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29200"/>
            <a:ext cx="3200400" cy="82296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CCFF00"/>
                </a:solidFill>
                <a:latin typeface="Arial Black"/>
              </a:rPr>
              <a:t>Q1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App Store Launch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The Team Behind Axiom Forge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1094415" cy="32004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Arial"/>
              </a:rPr>
              <a:t>Team information coming soon...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